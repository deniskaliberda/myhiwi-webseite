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395f66630469c" /><Relationship Type="http://schemas.openxmlformats.org/officeDocument/2006/relationships/extended-properties" Target="/docProps/app.xml" Id="R1f38c0e9ee014a1e" /><Relationship Type="http://schemas.openxmlformats.org/officeDocument/2006/relationships/officeDocument" Target="/ppt/presentation.xml" Id="R8f401cdf2451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aad4dd86a4c8f"/>
  </p:sldMasterIdLst>
  <p:notesMasterIdLst>
    <p:notesMasterId xmlns:r="http://schemas.openxmlformats.org/officeDocument/2006/relationships" r:id="R1282fd808b804274"/>
  </p:notesMasterIdLst>
  <p:sldIdLst>
    <p:sldId xmlns:r="http://schemas.openxmlformats.org/officeDocument/2006/relationships" id="256" r:id="R3e33458ebee24f52"/>
    <p:sldId xmlns:r="http://schemas.openxmlformats.org/officeDocument/2006/relationships" id="257" r:id="Rfce4595ac8414d37"/>
    <p:sldId xmlns:r="http://schemas.openxmlformats.org/officeDocument/2006/relationships" id="258" r:id="R49f9948e63274bde"/>
    <p:sldId xmlns:r="http://schemas.openxmlformats.org/officeDocument/2006/relationships" id="259" r:id="Rbf90a442711b4b10"/>
    <p:sldId xmlns:r="http://schemas.openxmlformats.org/officeDocument/2006/relationships" id="260" r:id="R8037e0d347214d9b"/>
    <p:sldId xmlns:r="http://schemas.openxmlformats.org/officeDocument/2006/relationships" id="261" r:id="R0f4c76ce51fc4d2e"/>
    <p:sldId xmlns:r="http://schemas.openxmlformats.org/officeDocument/2006/relationships" id="262" r:id="Rfdf421823f67485a"/>
    <p:sldId xmlns:r="http://schemas.openxmlformats.org/officeDocument/2006/relationships" id="263" r:id="R7e440cced3764ff6"/>
    <p:sldId xmlns:r="http://schemas.openxmlformats.org/officeDocument/2006/relationships" id="264" r:id="R97139654f60647e9"/>
    <p:sldId xmlns:r="http://schemas.openxmlformats.org/officeDocument/2006/relationships" id="265" r:id="Rdec03b93b079427d"/>
    <p:sldId xmlns:r="http://schemas.openxmlformats.org/officeDocument/2006/relationships" id="266" r:id="R5d7990e3646f491a"/>
    <p:sldId xmlns:r="http://schemas.openxmlformats.org/officeDocument/2006/relationships" id="267" r:id="R9df3ec959ae8411c"/>
    <p:sldId xmlns:r="http://schemas.openxmlformats.org/officeDocument/2006/relationships" id="268" r:id="R414f64200b874bf3"/>
    <p:sldId xmlns:r="http://schemas.openxmlformats.org/officeDocument/2006/relationships" id="269" r:id="R3cf8c344e6894241"/>
    <p:sldId xmlns:r="http://schemas.openxmlformats.org/officeDocument/2006/relationships" id="270" r:id="R37fab2b5f5014856"/>
    <p:sldId xmlns:r="http://schemas.openxmlformats.org/officeDocument/2006/relationships" id="271" r:id="R27c522987f0e4589"/>
    <p:sldId xmlns:r="http://schemas.openxmlformats.org/officeDocument/2006/relationships" id="272" r:id="R4eb3131ab3c0459b"/>
    <p:sldId xmlns:r="http://schemas.openxmlformats.org/officeDocument/2006/relationships" id="273" r:id="R77d93b5453a44d5e"/>
    <p:sldId xmlns:r="http://schemas.openxmlformats.org/officeDocument/2006/relationships" id="274" r:id="Rfbba88a354e642c7"/>
    <p:sldId xmlns:r="http://schemas.openxmlformats.org/officeDocument/2006/relationships" id="275" r:id="R464a24b5bff4413e"/>
    <p:sldId xmlns:r="http://schemas.openxmlformats.org/officeDocument/2006/relationships" id="276" r:id="Rc21a8d4bca9945bc"/>
    <p:sldId xmlns:r="http://schemas.openxmlformats.org/officeDocument/2006/relationships" id="277" r:id="R17b56da990954c85"/>
    <p:sldId xmlns:r="http://schemas.openxmlformats.org/officeDocument/2006/relationships" id="278" r:id="Rfbab58b9015c46f6"/>
    <p:sldId xmlns:r="http://schemas.openxmlformats.org/officeDocument/2006/relationships" id="279" r:id="Rd80336f0152b41b6"/>
    <p:sldId xmlns:r="http://schemas.openxmlformats.org/officeDocument/2006/relationships" id="280" r:id="R71928714cedc464d"/>
    <p:sldId xmlns:r="http://schemas.openxmlformats.org/officeDocument/2006/relationships" id="281" r:id="Rded75d053d024973"/>
    <p:sldId xmlns:r="http://schemas.openxmlformats.org/officeDocument/2006/relationships" id="282" r:id="R7d459da06b034bde"/>
    <p:sldId xmlns:r="http://schemas.openxmlformats.org/officeDocument/2006/relationships" id="283" r:id="R50badb23b9a94447"/>
    <p:sldId xmlns:r="http://schemas.openxmlformats.org/officeDocument/2006/relationships" id="284" r:id="Rca603d89d2254cc5"/>
    <p:sldId xmlns:r="http://schemas.openxmlformats.org/officeDocument/2006/relationships" id="285" r:id="Rd38f8c37e31d4b90"/>
    <p:sldId xmlns:r="http://schemas.openxmlformats.org/officeDocument/2006/relationships" id="286" r:id="R827f487937874ffb"/>
    <p:sldId xmlns:r="http://schemas.openxmlformats.org/officeDocument/2006/relationships" id="287" r:id="R259a5813116146e7"/>
    <p:sldId xmlns:r="http://schemas.openxmlformats.org/officeDocument/2006/relationships" id="288" r:id="R5734d0a3fd8f4858"/>
    <p:sldId xmlns:r="http://schemas.openxmlformats.org/officeDocument/2006/relationships" id="289" r:id="Re174c81ecb754fbf"/>
    <p:sldId xmlns:r="http://schemas.openxmlformats.org/officeDocument/2006/relationships" id="290" r:id="Rf0faf2c29cd249f9"/>
    <p:sldId xmlns:r="http://schemas.openxmlformats.org/officeDocument/2006/relationships" id="291" r:id="R009cf35e8ec54df4"/>
    <p:sldId xmlns:r="http://schemas.openxmlformats.org/officeDocument/2006/relationships" id="292" r:id="R7279b7f1a22143c1"/>
    <p:sldId xmlns:r="http://schemas.openxmlformats.org/officeDocument/2006/relationships" id="293" r:id="R78e330797fd44795"/>
    <p:sldId xmlns:r="http://schemas.openxmlformats.org/officeDocument/2006/relationships" id="294" r:id="R1322006d2c324a2a"/>
    <p:sldId xmlns:r="http://schemas.openxmlformats.org/officeDocument/2006/relationships" id="295" r:id="R9b25912dbcde47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4babdddc8f4ccd" /><Relationship Type="http://schemas.openxmlformats.org/officeDocument/2006/relationships/slideMaster" Target="/ppt/slideMasters/slideMaster1.xml" Id="Rc36aad4dd86a4c8f" /><Relationship Type="http://schemas.openxmlformats.org/officeDocument/2006/relationships/notesMaster" Target="/ppt/notesMasters/notesMaster1.xml" Id="R1282fd808b804274" /><Relationship Type="http://schemas.openxmlformats.org/officeDocument/2006/relationships/presProps" Target="/ppt/presProps.xml" Id="Reb1cf81e323644e0" /><Relationship Type="http://schemas.openxmlformats.org/officeDocument/2006/relationships/tableStyles" Target="/ppt/tableStyles.xml" Id="R5b7c2aa3ba484a7e" /><Relationship Type="http://schemas.openxmlformats.org/officeDocument/2006/relationships/slide" Target="/ppt/slides/slide1.xml" Id="R3e33458ebee24f52" /><Relationship Type="http://schemas.openxmlformats.org/officeDocument/2006/relationships/slide" Target="/ppt/slides/slide2.xml" Id="Rfce4595ac8414d37" /><Relationship Type="http://schemas.openxmlformats.org/officeDocument/2006/relationships/slide" Target="/ppt/slides/slide3.xml" Id="R49f9948e63274bde" /><Relationship Type="http://schemas.openxmlformats.org/officeDocument/2006/relationships/slide" Target="/ppt/slides/slide4.xml" Id="Rbf90a442711b4b10" /><Relationship Type="http://schemas.openxmlformats.org/officeDocument/2006/relationships/slide" Target="/ppt/slides/slide5.xml" Id="R8037e0d347214d9b" /><Relationship Type="http://schemas.openxmlformats.org/officeDocument/2006/relationships/slide" Target="/ppt/slides/slide6.xml" Id="R0f4c76ce51fc4d2e" /><Relationship Type="http://schemas.openxmlformats.org/officeDocument/2006/relationships/slide" Target="/ppt/slides/slide7.xml" Id="Rfdf421823f67485a" /><Relationship Type="http://schemas.openxmlformats.org/officeDocument/2006/relationships/slide" Target="/ppt/slides/slide8.xml" Id="R7e440cced3764ff6" /><Relationship Type="http://schemas.openxmlformats.org/officeDocument/2006/relationships/slide" Target="/ppt/slides/slide9.xml" Id="R97139654f60647e9" /><Relationship Type="http://schemas.openxmlformats.org/officeDocument/2006/relationships/slide" Target="/ppt/slides/slide10.xml" Id="Rdec03b93b079427d" /><Relationship Type="http://schemas.openxmlformats.org/officeDocument/2006/relationships/slide" Target="/ppt/slides/slide11.xml" Id="R5d7990e3646f491a" /><Relationship Type="http://schemas.openxmlformats.org/officeDocument/2006/relationships/slide" Target="/ppt/slides/slide12.xml" Id="R9df3ec959ae8411c" /><Relationship Type="http://schemas.openxmlformats.org/officeDocument/2006/relationships/slide" Target="/ppt/slides/slide13.xml" Id="R414f64200b874bf3" /><Relationship Type="http://schemas.openxmlformats.org/officeDocument/2006/relationships/slide" Target="/ppt/slides/slide14.xml" Id="R3cf8c344e6894241" /><Relationship Type="http://schemas.openxmlformats.org/officeDocument/2006/relationships/slide" Target="/ppt/slides/slide15.xml" Id="R37fab2b5f5014856" /><Relationship Type="http://schemas.openxmlformats.org/officeDocument/2006/relationships/slide" Target="/ppt/slides/slide16.xml" Id="R27c522987f0e4589" /><Relationship Type="http://schemas.openxmlformats.org/officeDocument/2006/relationships/slide" Target="/ppt/slides/slide17.xml" Id="R4eb3131ab3c0459b" /><Relationship Type="http://schemas.openxmlformats.org/officeDocument/2006/relationships/slide" Target="/ppt/slides/slide18.xml" Id="R77d93b5453a44d5e" /><Relationship Type="http://schemas.openxmlformats.org/officeDocument/2006/relationships/slide" Target="/ppt/slides/slide19.xml" Id="Rfbba88a354e642c7" /><Relationship Type="http://schemas.openxmlformats.org/officeDocument/2006/relationships/slide" Target="/ppt/slides/slide20.xml" Id="R464a24b5bff4413e" /><Relationship Type="http://schemas.openxmlformats.org/officeDocument/2006/relationships/slide" Target="/ppt/slides/slide21.xml" Id="Rc21a8d4bca9945bc" /><Relationship Type="http://schemas.openxmlformats.org/officeDocument/2006/relationships/slide" Target="/ppt/slides/slide22.xml" Id="R17b56da990954c85" /><Relationship Type="http://schemas.openxmlformats.org/officeDocument/2006/relationships/slide" Target="/ppt/slides/slide23.xml" Id="Rfbab58b9015c46f6" /><Relationship Type="http://schemas.openxmlformats.org/officeDocument/2006/relationships/slide" Target="/ppt/slides/slide24.xml" Id="Rd80336f0152b41b6" /><Relationship Type="http://schemas.openxmlformats.org/officeDocument/2006/relationships/slide" Target="/ppt/slides/slide25.xml" Id="R71928714cedc464d" /><Relationship Type="http://schemas.openxmlformats.org/officeDocument/2006/relationships/slide" Target="/ppt/slides/slide26.xml" Id="Rded75d053d024973" /><Relationship Type="http://schemas.openxmlformats.org/officeDocument/2006/relationships/slide" Target="/ppt/slides/slide27.xml" Id="R7d459da06b034bde" /><Relationship Type="http://schemas.openxmlformats.org/officeDocument/2006/relationships/slide" Target="/ppt/slides/slide28.xml" Id="R50badb23b9a94447" /><Relationship Type="http://schemas.openxmlformats.org/officeDocument/2006/relationships/slide" Target="/ppt/slides/slide29.xml" Id="Rca603d89d2254cc5" /><Relationship Type="http://schemas.openxmlformats.org/officeDocument/2006/relationships/slide" Target="/ppt/slides/slide30.xml" Id="Rd38f8c37e31d4b90" /><Relationship Type="http://schemas.openxmlformats.org/officeDocument/2006/relationships/slide" Target="/ppt/slides/slide31.xml" Id="R827f487937874ffb" /><Relationship Type="http://schemas.openxmlformats.org/officeDocument/2006/relationships/slide" Target="/ppt/slides/slide32.xml" Id="R259a5813116146e7" /><Relationship Type="http://schemas.openxmlformats.org/officeDocument/2006/relationships/slide" Target="/ppt/slides/slide33.xml" Id="R5734d0a3fd8f4858" /><Relationship Type="http://schemas.openxmlformats.org/officeDocument/2006/relationships/slide" Target="/ppt/slides/slide34.xml" Id="Re174c81ecb754fbf" /><Relationship Type="http://schemas.openxmlformats.org/officeDocument/2006/relationships/slide" Target="/ppt/slides/slide35.xml" Id="Rf0faf2c29cd249f9" /><Relationship Type="http://schemas.openxmlformats.org/officeDocument/2006/relationships/slide" Target="/ppt/slides/slide36.xml" Id="R009cf35e8ec54df4" /><Relationship Type="http://schemas.openxmlformats.org/officeDocument/2006/relationships/slide" Target="/ppt/slides/slide37.xml" Id="R7279b7f1a22143c1" /><Relationship Type="http://schemas.openxmlformats.org/officeDocument/2006/relationships/slide" Target="/ppt/slides/slide38.xml" Id="R78e330797fd44795" /><Relationship Type="http://schemas.openxmlformats.org/officeDocument/2006/relationships/slide" Target="/ppt/slides/slide39.xml" Id="R1322006d2c324a2a" /><Relationship Type="http://schemas.openxmlformats.org/officeDocument/2006/relationships/slide" Target="/ppt/slides/slide40.xml" Id="R9b25912dbcde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6a2b43747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cc687f156b44f8" /><Relationship Type="http://schemas.openxmlformats.org/officeDocument/2006/relationships/notesMaster" Target="/ppt/notesMasters/notesMaster1.xml" Id="R70ad54d443ba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957c5daa1425e" /><Relationship Type="http://schemas.openxmlformats.org/officeDocument/2006/relationships/notesMaster" Target="/ppt/notesMasters/notesMaster1.xml" Id="Rd2ef394320e14e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91c2fb83a340aa" /><Relationship Type="http://schemas.openxmlformats.org/officeDocument/2006/relationships/notesMaster" Target="/ppt/notesMasters/notesMaster1.xml" Id="R8b0d2710c2cb49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62116b5534433" /><Relationship Type="http://schemas.openxmlformats.org/officeDocument/2006/relationships/notesMaster" Target="/ppt/notesMasters/notesMaster1.xml" Id="R69a0dd81e1ef41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56d90e6c64d93" /><Relationship Type="http://schemas.openxmlformats.org/officeDocument/2006/relationships/notesMaster" Target="/ppt/notesMasters/notesMaster1.xml" Id="Rec1dc91ccc9f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7d6ac8ad442a0" /><Relationship Type="http://schemas.openxmlformats.org/officeDocument/2006/relationships/notesMaster" Target="/ppt/notesMasters/notesMaster1.xml" Id="R7f5a2ad7827e46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8828e730394f5b" /><Relationship Type="http://schemas.openxmlformats.org/officeDocument/2006/relationships/notesMaster" Target="/ppt/notesMasters/notesMaster1.xml" Id="Ra7c51b9c80ef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a17cbe90344f34" /><Relationship Type="http://schemas.openxmlformats.org/officeDocument/2006/relationships/notesMaster" Target="/ppt/notesMasters/notesMaster1.xml" Id="R8f1214201b6442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68e6bca6cb41d4" /><Relationship Type="http://schemas.openxmlformats.org/officeDocument/2006/relationships/notesMaster" Target="/ppt/notesMasters/notesMaster1.xml" Id="Rde6b9340364a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76263c0a1b4a32" /><Relationship Type="http://schemas.openxmlformats.org/officeDocument/2006/relationships/notesMaster" Target="/ppt/notesMasters/notesMaster1.xml" Id="R003b46be8fbd42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9c030e6984849" /><Relationship Type="http://schemas.openxmlformats.org/officeDocument/2006/relationships/notesMaster" Target="/ppt/notesMasters/notesMaster1.xml" Id="Re05b09d1ed9b4b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65275e52334271" /><Relationship Type="http://schemas.openxmlformats.org/officeDocument/2006/relationships/notesMaster" Target="/ppt/notesMasters/notesMaster1.xml" Id="Rd0ff9b47c36a4e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b346c01a164127" /><Relationship Type="http://schemas.openxmlformats.org/officeDocument/2006/relationships/notesMaster" Target="/ppt/notesMasters/notesMaster1.xml" Id="R9196d25205d04c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2b0b1668074205" /><Relationship Type="http://schemas.openxmlformats.org/officeDocument/2006/relationships/notesMaster" Target="/ppt/notesMasters/notesMaster1.xml" Id="R58850c00d96e41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65b12733e24bc4" /><Relationship Type="http://schemas.openxmlformats.org/officeDocument/2006/relationships/notesMaster" Target="/ppt/notesMasters/notesMaster1.xml" Id="R5ac9c92ff8974f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98d9b2f66046bb" /><Relationship Type="http://schemas.openxmlformats.org/officeDocument/2006/relationships/notesMaster" Target="/ppt/notesMasters/notesMaster1.xml" Id="Rc0e0897b7d104d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e3d07c0315465c" /><Relationship Type="http://schemas.openxmlformats.org/officeDocument/2006/relationships/notesMaster" Target="/ppt/notesMasters/notesMaster1.xml" Id="Rc8a7947cad824c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6acc50256543be" /><Relationship Type="http://schemas.openxmlformats.org/officeDocument/2006/relationships/notesMaster" Target="/ppt/notesMasters/notesMaster1.xml" Id="Rd3d1d6fc8a4b4d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7cf885c9114664" /><Relationship Type="http://schemas.openxmlformats.org/officeDocument/2006/relationships/notesMaster" Target="/ppt/notesMasters/notesMaster1.xml" Id="Rdbdb31d4adc04f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0f7f735b60415a" /><Relationship Type="http://schemas.openxmlformats.org/officeDocument/2006/relationships/notesMaster" Target="/ppt/notesMasters/notesMaster1.xml" Id="R3e040cfcc8504a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cb54843fdb4b4c" /><Relationship Type="http://schemas.openxmlformats.org/officeDocument/2006/relationships/notesMaster" Target="/ppt/notesMasters/notesMaster1.xml" Id="Rb0738c5996bf4d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f4468f89d4486b" /><Relationship Type="http://schemas.openxmlformats.org/officeDocument/2006/relationships/notesMaster" Target="/ppt/notesMasters/notesMaster1.xml" Id="R3a3d9404285446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807eb54b974b38" /><Relationship Type="http://schemas.openxmlformats.org/officeDocument/2006/relationships/notesMaster" Target="/ppt/notesMasters/notesMaster1.xml" Id="R7692c2276a7241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6b98eeed0f41d8" /><Relationship Type="http://schemas.openxmlformats.org/officeDocument/2006/relationships/notesMaster" Target="/ppt/notesMasters/notesMaster1.xml" Id="R9374118e29c441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7a43f8b52a42d5" /><Relationship Type="http://schemas.openxmlformats.org/officeDocument/2006/relationships/notesMaster" Target="/ppt/notesMasters/notesMaster1.xml" Id="R7c0f606c1fb64a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6f22af24db439f" /><Relationship Type="http://schemas.openxmlformats.org/officeDocument/2006/relationships/notesMaster" Target="/ppt/notesMasters/notesMaster1.xml" Id="Rfabca687691540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7bf8ac84814fa9" /><Relationship Type="http://schemas.openxmlformats.org/officeDocument/2006/relationships/notesMaster" Target="/ppt/notesMasters/notesMaster1.xml" Id="R4d7aad11bb19404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81507be1d94d20" /><Relationship Type="http://schemas.openxmlformats.org/officeDocument/2006/relationships/notesMaster" Target="/ppt/notesMasters/notesMaster1.xml" Id="Re8b18870fe1740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5a6e25aa7640ed" /><Relationship Type="http://schemas.openxmlformats.org/officeDocument/2006/relationships/notesMaster" Target="/ppt/notesMasters/notesMaster1.xml" Id="Rcf5ebcc4178f43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74b8b5fc68c4ac3" /><Relationship Type="http://schemas.openxmlformats.org/officeDocument/2006/relationships/notesMaster" Target="/ppt/notesMasters/notesMaster1.xml" Id="R902e65f86d8c423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4713307fd8448c" /><Relationship Type="http://schemas.openxmlformats.org/officeDocument/2006/relationships/notesMaster" Target="/ppt/notesMasters/notesMaster1.xml" Id="R8a7f31d5d49648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9e72690d734946" /><Relationship Type="http://schemas.openxmlformats.org/officeDocument/2006/relationships/notesMaster" Target="/ppt/notesMasters/notesMaster1.xml" Id="R6fde6374799348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20f853660cc4b85" /><Relationship Type="http://schemas.openxmlformats.org/officeDocument/2006/relationships/notesMaster" Target="/ppt/notesMasters/notesMaster1.xml" Id="R527a786876e047c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0bc2f77d4d4cbc" /><Relationship Type="http://schemas.openxmlformats.org/officeDocument/2006/relationships/notesMaster" Target="/ppt/notesMasters/notesMaster1.xml" Id="Rfd69bd21275c4d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787f2a3e4e4e8e" /><Relationship Type="http://schemas.openxmlformats.org/officeDocument/2006/relationships/notesMaster" Target="/ppt/notesMasters/notesMaster1.xml" Id="Rce77c67d63b745e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9f5314ddf4c40c6" /><Relationship Type="http://schemas.openxmlformats.org/officeDocument/2006/relationships/notesMaster" Target="/ppt/notesMasters/notesMaster1.xml" Id="Rb5c9788b54ec46c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8621abe4ea944ac" /><Relationship Type="http://schemas.openxmlformats.org/officeDocument/2006/relationships/notesMaster" Target="/ppt/notesMasters/notesMaster1.xml" Id="R67f98799d58449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6e4ef566054ee7" /><Relationship Type="http://schemas.openxmlformats.org/officeDocument/2006/relationships/notesMaster" Target="/ppt/notesMasters/notesMaster1.xml" Id="R62410c7aa308496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2f033e5a1e04108" /><Relationship Type="http://schemas.openxmlformats.org/officeDocument/2006/relationships/notesMaster" Target="/ppt/notesMasters/notesMaster1.xml" Id="Ra577acf5f25f4e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99b4f32c8024576" /><Relationship Type="http://schemas.openxmlformats.org/officeDocument/2006/relationships/notesMaster" Target="/ppt/notesMasters/notesMaster1.xml" Id="R28b549238b0f40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Titel, Kunde, Datum und Trainer</a:t>
            </a:r>
          </a:p>
          <a:p xmlns:a="http://schemas.openxmlformats.org/drawingml/2006/main">
            <a:r>
              <a:t>Ziel: Veranstaltung und Verantwortliche eindeutig einordnen.</a:t>
            </a:r>
          </a:p>
          <a:p xmlns:a="http://schemas.openxmlformats.org/drawingml/2006/main">
            <a:r>
              <a:t>Kernaussage: Heute beginnt ein gemeinsamer, verantwortungsvoller Einstieg in generative 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Begrüßen Sie die Gruppe, nennen Sie Ihre Rolle und erklären Sie, dass das Training anwendbare Grundlagen vermittelt, aber keine Rechts-, Datenschutz-, Sicherheits- oder Toolfreigabe ersetzt.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Ruhige Titelfläche mit MyHiwi-Wortmarke und drei verbundenen Symbolen für Nutzen, Prüfung und Verantwortung.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Ergebnisversprechen der drei Stunden</a:t>
            </a:r>
          </a:p>
          <a:p xmlns:a="http://schemas.openxmlformats.org/drawingml/2006/main">
            <a:r>
              <a:t>Ziel: Ein klares und realistisches Lernziel setzen.</a:t>
            </a:r>
          </a:p>
          <a:p xmlns:a="http://schemas.openxmlformats.org/drawingml/2006/main">
            <a:r>
              <a:t>Kernaussage: Die Teilnehmenden lernen entscheiden, formulieren, einordnen, prüfen und eskalieren.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Sagen Sie ausdrücklich, dass Teilnahme kein bestimmtes individuelles Kompetenzniveau garantiert und kein Compliance-Nachweis 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Fünf Stationen eines übersichtlichen Wegs.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Agenda und Pausenzeit</a:t>
            </a:r>
          </a:p>
          <a:p xmlns:a="http://schemas.openxmlformats.org/drawingml/2006/main">
            <a:r>
              <a:t>Ziel: Orientierung über Lernphasen und Praxisanteile geben.</a:t>
            </a:r>
          </a:p>
          <a:p xmlns:a="http://schemas.openxmlformats.org/drawingml/2006/main">
            <a:r>
              <a:t>Kernaussage: Erklärung, Anwendung und Reflexion greifen ineinander.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Nennen Sie die vereinbarte Pausen- und Endzeit mündlich und erklären Sie, dass Fragen gesammelt oder direkt eingebunden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Horizontale Lernreise mit acht Stationen und einer hervorgehobenen Pause.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Sicherer Arbeitsrahmen: keine sensiblen Live-Daten</a:t>
            </a:r>
          </a:p>
          <a:p xmlns:a="http://schemas.openxmlformats.org/drawingml/2006/main">
            <a:r>
              <a:t>Ziel: Vor der ersten Interaktion eine klare Datengrenze setzen.</a:t>
            </a:r>
          </a:p>
          <a:p xmlns:a="http://schemas.openxmlformats.org/drawingml/2006/main">
            <a:r>
              <a:t>Kernaussage: Geübt wird nur mit synthetischen oder robust anonymisierten Inhalten.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Rote Daten werden niemals live eingegeben. Gelbe Daten werden standardmäßig durch synthetische Inhalte ersetzt. Bei Unsicherheit wird gestoppt und die intern zuständige Stelle gefragt.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Geschützter Übungsraum mit Beispielkarten statt realer Dokumente.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Kurze Handzeichen-Abfrage zur bisherigen Nutzung</a:t>
            </a:r>
          </a:p>
          <a:p xmlns:a="http://schemas.openxmlformats.org/drawingml/2006/main">
            <a:r>
              <a:t>Ziel: Vorwissen sichtbar machen, ohne einzelne Personen zu bewerten.</a:t>
            </a:r>
          </a:p>
          <a:p xmlns:a="http://schemas.openxmlformats.org/drawingml/2006/main">
            <a:r>
              <a:t>Kernaussage: Unterschiedliche Erfahrung ist normal und wird im Training aufgefangen.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Fragen Sie nach Aufgabenarten, nicht nach vertraulichen Inhalten oder privaten Kontodetails. Betonen Sie, dass die Abfrage keine Leistungsbewertung 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einfache Handzeichen-Symbole für nie, gelegentlich und regelmäßig.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Was mit „KI“ in dieser Schulung gemeint ist</a:t>
            </a:r>
          </a:p>
          <a:p xmlns:a="http://schemas.openxmlformats.org/drawingml/2006/main">
            <a:r>
              <a:t>Ziel: Den Gegenstand auf generative KI im Arbeitsalltag eingrenzen.</a:t>
            </a:r>
          </a:p>
          <a:p xmlns:a="http://schemas.openxmlformats.org/drawingml/2006/main">
            <a:r>
              <a:t>Kernaussage: Im Fokus stehen Werkzeuge, die aus Eingaben neue Texte, Bilder oder Strukturen erzeugen.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Grenzen Sie das Training von Entwicklung eigener KI-Systeme und automatisierten Hochrisikoentscheidungen 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Eingabe-Pfeil zu drei Ausgabekarten: Text, Bild, Struktur.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Generative KI, Suchmaschine und klassische Software</a:t>
            </a:r>
          </a:p>
          <a:p xmlns:a="http://schemas.openxmlformats.org/drawingml/2006/main">
            <a:r>
              <a:t>Ziel: Drei Werkzeugarten anhand ihres Verhaltens unterscheiden.</a:t>
            </a:r>
          </a:p>
          <a:p xmlns:a="http://schemas.openxmlformats.org/drawingml/2006/main">
            <a:r>
              <a:t>Kernaussage: Suchen, nach festen Regeln berechnen und neue Inhalte erzeugen sind verschiedene Funktionen.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Weisen Sie darauf hin, dass Anwendungen Funktionen kombinieren können; entscheidend ist, was im konkreten Nutzungsschritt passiert.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Spalten mit Lupe, Zahnrad und Funken-Symbol.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Vereinfachtes Funktionsmodell eines Sprachmodells</a:t>
            </a:r>
          </a:p>
          <a:p xmlns:a="http://schemas.openxmlformats.org/drawingml/2006/main">
            <a:r>
              <a:t>Ziel: Plausible Ausgabe statt automatisch wahrer Antwort verständlich machen.</a:t>
            </a:r>
          </a:p>
          <a:p xmlns:a="http://schemas.openxmlformats.org/drawingml/2006/main">
            <a:r>
              <a:t>Kernaussage: Ein Sprachmodell erzeugt wahrscheinliche Fortsetzungen aus Eingabe und Kontext.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Verwenden Sie das Bild des leistungsfähigen Formulierungs- und Strukturierungsassistenten, nicht das einer automatisch aktuellen Faktendatenbank oder eines verantwortlichen Entscheiders.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Eingabe und Kontext fließen in ein Modell, daraus entsteht eine Ausgabe mit Prüfsymbol.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Modell, Anwendung, Kontotyp und Einstellungen unterscheiden</a:t>
            </a:r>
          </a:p>
          <a:p xmlns:a="http://schemas.openxmlformats.org/drawingml/2006/main">
            <a:r>
              <a:t>Ziel: Verwechslungen zwischen Technik und betrieblichem Zugang vermeiden.</a:t>
            </a:r>
          </a:p>
          <a:p xmlns:a="http://schemas.openxmlformats.org/drawingml/2006/main">
            <a:r>
              <a:t>Kernaussage: Dasselbe Modell kann je nach Anwendung, Konto und Einstellung anders eingebunden sein.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Ein bekannter Modellname sagt allein nichts über Unternehmensfreigabe, Vertrag, Datenverwendung, Speicherort oder Zugriffe aus.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Vier aufeinanderliegende Karten: Modell, Anwendung, Konto, Einstellungen.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Sechs typische Aufgabenarten im Arbeitsalltag</a:t>
            </a:r>
          </a:p>
          <a:p xmlns:a="http://schemas.openxmlformats.org/drawingml/2006/main">
            <a:r>
              <a:t>Ziel: Realistische Einstiegsanwendungen identifizieren.</a:t>
            </a:r>
          </a:p>
          <a:p xmlns:a="http://schemas.openxmlformats.org/drawingml/2006/main">
            <a:r>
              <a:t>Kernaussage: Generative KI unterstützt besonders beim Variieren, Strukturieren, Zusammenfassen, Entwerfen, Extrahieren und Vorbereiten.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Jede Aufgabe benötigt einen zulässigen Datenrahmen und eine fachliche Prüfung des Ergebnisses.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Sechs gleichwertige Aufgabenkarten.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Geeignete, kontrollbedürftige und ungeeignete Aufgaben</a:t>
            </a:r>
          </a:p>
          <a:p xmlns:a="http://schemas.openxmlformats.org/drawingml/2006/main">
            <a:r>
              <a:t>Ziel: Aufgaben anhand von Daten, Wirkung und Fehlerfolgen unterscheiden.</a:t>
            </a:r>
          </a:p>
          <a:p xmlns:a="http://schemas.openxmlformats.org/drawingml/2006/main">
            <a:r>
              <a:t>Kernaussage: Je sensibler die Daten und je größer die Wirkung, desto weniger eignet sich ein Fall für den Basisgebrauch.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Die Einstufung ist eine Lernhilfe. Konkrete interne Freigaben kommen von den zuständigen Personen des Unternehmens.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Bahnen: geeignet, nur mit Kontrolle, nicht im Basistraining.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Überblick über typische Grenzen und Risiken</a:t>
            </a:r>
          </a:p>
          <a:p xmlns:a="http://schemas.openxmlformats.org/drawingml/2006/main">
            <a:r>
              <a:t>Ziel: Ein gemeinsames Risikovokabular schaffen.</a:t>
            </a:r>
          </a:p>
          <a:p xmlns:a="http://schemas.openxmlformats.org/drawingml/2006/main">
            <a:r>
              <a:t>Kernaussage: Gute Sprache kann Fakten-, Kontext-, Rechte- und Datenprobleme verdecken.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Ergänzen Sie bei vernetzten Systemen Prompt Injection und schädliche Inhalte als zusätzliche Risiken, ohne technische Spezialprüfung zu versprechen.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Warnrad mit vier Segmenten: Inhalt, Aktualität, Fairness, Daten &amp; Rechte.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Demonstration einer überzeugenden falschen Antwort</a:t>
            </a:r>
          </a:p>
          <a:p xmlns:a="http://schemas.openxmlformats.org/drawingml/2006/main">
            <a:r>
              <a:t>Ziel: Sprachliche Sicherheit von inhaltlicher Richtigkeit trennen.</a:t>
            </a:r>
          </a:p>
          <a:p xmlns:a="http://schemas.openxmlformats.org/drawingml/2006/main">
            <a:r>
              <a:t>Kernaussage: Eine flüssige Antwort kann erfundene Details enthalten.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Nutzen Sie ausschließlich ein vorbereitetes synthetisches Beispiel. Zeigen Sie zuerst die plausible Antwort und danach die überprüfbaren Fehler.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Glaubwürdig gestaltete Antwortkarte mit markierten erfundenen Stellen.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Aktualität, Quellen und erfundene Belege</a:t>
            </a:r>
          </a:p>
          <a:p xmlns:a="http://schemas.openxmlformats.org/drawingml/2006/main">
            <a:r>
              <a:t>Ziel: Quellenangaben als Prüfauftrag verstehen.</a:t>
            </a:r>
          </a:p>
          <a:p xmlns:a="http://schemas.openxmlformats.org/drawingml/2006/main">
            <a:r>
              <a:t>Kernaussage: Eine genannte Quelle ist noch kein belastbarer Beleg.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Lassen Sie Zahlen, Termine und Zitate stets mit belastbaren Originalquellen abgleichen; die KI-Ausgabe selbst ist kein Nachweis.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Quellenkarte mit Prüfschritten Existenz, Aussage, Datum und Kontext.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Verzerrungen, Stereotype und fehlender Kontext</a:t>
            </a:r>
          </a:p>
          <a:p xmlns:a="http://schemas.openxmlformats.org/drawingml/2006/main">
            <a:r>
              <a:t>Ziel: Einseitige oder diskriminierende Muster erkennen.</a:t>
            </a:r>
          </a:p>
          <a:p xmlns:a="http://schemas.openxmlformats.org/drawingml/2006/main">
            <a:r>
              <a:t>Kernaussage: Daten und Formulierung können Perspektiven ausblenden oder Stereotype verstärken.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Verwenden Sie ein neutrales synthetisches Beispiel. Betonen Sie, dass personenbezogene oder folgenreiche Bewertungen nicht als Praxisfall trainiert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Zwei unvollständige Perspektiven, die erst gemeinsam ein vollständigeres Bild ergeben.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Rechte an Eingaben und Ausgaben</a:t>
            </a:r>
          </a:p>
          <a:p xmlns:a="http://schemas.openxmlformats.org/drawingml/2006/main">
            <a:r>
              <a:t>Ziel: Rechte und Nutzungsbefugnisse vor Eingabe und Weitergabe mitdenken.</a:t>
            </a:r>
          </a:p>
          <a:p xmlns:a="http://schemas.openxmlformats.org/drawingml/2006/main">
            <a:r>
              <a:t>Kernaussage: Verfügbar bedeutet nicht automatisch frei nutzbar.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Nennen Sie eigene, lizenzierte und fremde Inhalte als unterschiedliche Fälle. Verweisen Sie bei Unsicherheit an die zuständige interne Stelle; geben Sie keine rechtliche Einzelfallbewertung.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Zwei Prüftore vor Eingabe und Veröffentlichung.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Miniübung zur Einordnung von drei Aufgaben</a:t>
            </a:r>
          </a:p>
          <a:p xmlns:a="http://schemas.openxmlformats.org/drawingml/2006/main">
            <a:r>
              <a:t>Ziel: Geeignetheit anhand konkreter Merkmale entscheiden.</a:t>
            </a:r>
          </a:p>
          <a:p xmlns:a="http://schemas.openxmlformats.org/drawingml/2006/main">
            <a:r>
              <a:t>Kernaussage: Aufgabe, Daten, Wirkung und Freigabeweg bestimmen die Einordnung.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Nutzen Sie eine erfundene Agenda, einen externen Textentwurf und eine Beschäftigtenbewertung. Fragen Sie jeweils nach Daten, Fehlerwirkung und verantwortlicher Freigabe.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synthetische Fallkarten mit drei Ablagefeldern.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Warum klare Prompts bessere Arbeitsgrundlagen schaffen</a:t>
            </a:r>
          </a:p>
          <a:p xmlns:a="http://schemas.openxmlformats.org/drawingml/2006/main">
            <a:r>
              <a:t>Ziel: Prompting als präzise Arbeitsauftragsklärung verstehen.</a:t>
            </a:r>
          </a:p>
          <a:p xmlns:a="http://schemas.openxmlformats.org/drawingml/2006/main">
            <a:r>
              <a:t>Kernaussage: Klare Ziele, Materialgrenzen und Prüfkriterien reduzieren Missverständnisse.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Gute Prompts garantieren keine richtige Ausgabe. Sie verbessern die Arbeitsgrundlage, ersetzen aber keine Prüfung.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Unscharfer Auftrag wird zu einer geordneten Aufgabenkarte.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Vorher-Nachher-Beispiel eines Prompts</a:t>
            </a:r>
          </a:p>
          <a:p xmlns:a="http://schemas.openxmlformats.org/drawingml/2006/main">
            <a:r>
              <a:t>Ziel: Die Wirkung präziser Anforderungen sichtbar machen.</a:t>
            </a:r>
          </a:p>
          <a:p xmlns:a="http://schemas.openxmlformats.org/drawingml/2006/main">
            <a:r>
              <a:t>Kernaussage: Ein vollständiger Arbeitsauftrag macht Ausgabe und Prüfung nachvollziehbarer.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Vergleichen Sie die synthetischen Ausgaben nicht nur stilistisch, sondern auch auf unbelegte Ergänzungen und offene Prüfpunkte.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Zwei Karten: „Mach eine E-Mail“ und strukturierter Auftrag.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Die sechs Bausteine der MyHiwi-Promptvorlage</a:t>
            </a:r>
          </a:p>
          <a:p xmlns:a="http://schemas.openxmlformats.org/drawingml/2006/main">
            <a:r>
              <a:t>Ziel: Das verbindliche Promptgerüst verankern.</a:t>
            </a:r>
          </a:p>
          <a:p xmlns:a="http://schemas.openxmlformats.org/drawingml/2006/main">
            <a:r>
              <a:t>Kernaussage: Ein prüfbarer Prompt verbindet Aufgabe, Kontext, Material, Anforderungen, Format und Prüfkriterien.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Betonen Sie bei „Material“ ausdrücklich: ausschließlich freigegebene Informationen. Unsicherheiten sollen markiert und Prüfpunkte genannt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Sechs nummerierte Bausteine in einem stabilen Rahmen.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Basisübung: schlechten Prompt verbessern</a:t>
            </a:r>
          </a:p>
          <a:p xmlns:a="http://schemas.openxmlformats.org/drawingml/2006/main">
            <a:r>
              <a:t>Ziel: Die sechs Bausteine praktisch anwenden.</a:t>
            </a:r>
          </a:p>
          <a:p xmlns:a="http://schemas.openxmlformats.org/drawingml/2006/main">
            <a:r>
              <a:t>Kernaussage: Fehlende Angaben werden sichtbar gemacht und gezielt ergänzt.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Geben Sie nur den synthetischen Kundenfall aus dem Material frei. Lassen Sie Paare fehlende Informationen benennen, bevor sie formulieren.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Arbeitsblatt mit sechs leeren Feldern neben einem schwachen Beispielprompt.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Fortgeschritten: Ausgabe kritisieren und überarbeiten</a:t>
            </a:r>
          </a:p>
          <a:p xmlns:a="http://schemas.openxmlformats.org/drawingml/2006/main">
            <a:r>
              <a:t>Ziel: Iteration mit eigenständiger menschlicher Bewertung verbinden.</a:t>
            </a:r>
          </a:p>
          <a:p xmlns:a="http://schemas.openxmlformats.org/drawingml/2006/main">
            <a:r>
              <a:t>Kernaussage: Eine KI-Kritik ist ein zusätzlicher Hinweis, nicht die Freigabe.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Lassen Sie das Modell Unsicherheiten und fehlende Belege markieren. Die Teilnehmenden entscheiden selbst, welche Kritik zutrifft.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Kreislauf aus Entwurf, eigener Prüfung, Kritikauftrag und Überarbeitung.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Pause und Wiedereinstiegszeit</a:t>
            </a:r>
          </a:p>
          <a:p xmlns:a="http://schemas.openxmlformats.org/drawingml/2006/main">
            <a:r>
              <a:t>Ziel: Einen klaren Übergang zum Sicherheits- und Praxisblock schaffen.</a:t>
            </a:r>
          </a:p>
          <a:p xmlns:a="http://schemas.openxmlformats.org/drawingml/2006/main">
            <a:r>
              <a:t>Kernaussage: Nach der Pause folgen Datenampel, Verantwortung und Praxis.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Nennen Sie die konkrete Wiedereinstiegszeit mündlich und lassen Sie die Folie während der Pause sichtbar.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Ruhige Pausenkarte mit drei Symbolen für Ampel, Mensch und Werkstatt.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Verantwortung bleibt beim Menschen</a:t>
            </a:r>
          </a:p>
          <a:p xmlns:a="http://schemas.openxmlformats.org/drawingml/2006/main">
            <a:r>
              <a:t>Ziel: KI als Unterstützung statt verantwortlichen Entscheider einordnen.</a:t>
            </a:r>
          </a:p>
          <a:p xmlns:a="http://schemas.openxmlformats.org/drawingml/2006/main">
            <a:r>
              <a:t>Kernaussage: Menschen prüfen, entscheiden und geben frei.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Je größer die mögliche Wirkung eines Fehlers, desto stärker muss die menschliche Prüfung sein – bis hin zum vollständigen Verzicht auf KI.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Mensch am Freigabepunkt zwischen KI-Entwurf und Nutzung.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 zur Orientierung (Stand 22.07.2026):</a:t>
            </a:r>
          </a:p>
          <a:p xmlns:a="http://schemas.openxmlformats.org/drawingml/2006/main">
            <a:r>
              <a:t>- https://eur-lex.europa.eu/eli/reg/2024/1689/</a:t>
            </a:r>
          </a:p>
          <a:p xmlns:a="http://schemas.openxmlformats.org/drawingml/2006/main">
            <a:r>
              <a:t>- https://digital-strategy.ec.europa.eu/en/faqs/ai-literacy-questions-answers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Nur freigegebene Werkzeuge und Konten</a:t>
            </a:r>
          </a:p>
          <a:p xmlns:a="http://schemas.openxmlformats.org/drawingml/2006/main">
            <a:r>
              <a:t>Ziel: Betriebliche Freigabe von persönlicher Verfügbarkeit trennen.</a:t>
            </a:r>
          </a:p>
          <a:p xmlns:a="http://schemas.openxmlformats.org/drawingml/2006/main">
            <a:r>
              <a:t>Kernaussage: Ein privater oder kostenloser Zugang ist nicht automatisch für Unternehmensdaten geeignet.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MyHiwi prüft oder genehmigt keinen konkreten Anbieter. Die benannte interne Stelle entscheidet über Werkzeug, Konto und zulässige Nutzung.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Persönliches Konto und freigegebenes Unternehmenskonto mit unterschiedlichem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 zur Orientierung (Stand 22.07.2026):</a:t>
            </a:r>
          </a:p>
          <a:p xmlns:a="http://schemas.openxmlformats.org/drawingml/2006/main">
            <a:r>
              <a:t>- https://eur-lex.europa.eu/eli/reg/2024/1689/</a:t>
            </a:r>
          </a:p>
          <a:p xmlns:a="http://schemas.openxmlformats.org/drawingml/2006/main">
            <a:r>
              <a:t>- https://digital-strategy.ec.europa.eu/en/faqs/ai-literacy-questions-answers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Die Datenampel im Überblick</a:t>
            </a:r>
          </a:p>
          <a:p xmlns:a="http://schemas.openxmlformats.org/drawingml/2006/main">
            <a:r>
              <a:t>Ziel: Vor jeder Eingabe eine einfache Stop-and-check-Routine etablieren.</a:t>
            </a:r>
          </a:p>
          <a:p xmlns:a="http://schemas.openxmlformats.org/drawingml/2006/main">
            <a:r>
              <a:t>Kernaussage: Grün nutzen, Gelb vorher klären, Rot im Basistraining niemals eingeben.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Die Datenampel ist eine Lern- und Entscheidungshilfe und ersetzt keine Tool-, Vertrags- oder Datenschutzprüfung.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große Ampelfelder mit klaren Verben.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Grün: geeignete Beispieldaten</a:t>
            </a:r>
          </a:p>
          <a:p xmlns:a="http://schemas.openxmlformats.org/drawingml/2006/main">
            <a:r>
              <a:t>Ziel: Sichere Übungs- und Einstiegsmaterialien erkennen.</a:t>
            </a:r>
          </a:p>
          <a:p xmlns:a="http://schemas.openxmlformats.org/drawingml/2006/main">
            <a:r>
              <a:t>Kernaussage: Synthetische, veröffentlichte, ausdrücklich freigegebene oder robust anonymisierte Inhalte können grün sein.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Auch grüne Inhalte dürfen nur in genehmigten Werkzeugen und für legitime Zwecke genutzt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Grüne Karten mit erfundener Notiz, öffentlicher Seite und anonymisiertem Beispiel.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Gelb: erst intern prüfen und freigeben</a:t>
            </a:r>
          </a:p>
          <a:p xmlns:a="http://schemas.openxmlformats.org/drawingml/2006/main">
            <a:r>
              <a:t>Ziel: „Vorsichtig eingeben“ durch einen echten Klärungsschritt ersetzen.</a:t>
            </a:r>
          </a:p>
          <a:p xmlns:a="http://schemas.openxmlformats.org/drawingml/2006/main">
            <a:r>
              <a:t>Kernaussage: Gelb bedeutet stoppen, Zuständigkeit und zulässige Umgebung klären.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Im Training werden gelbe Daten standardmäßig synthetisch ersetzt. Es reicht nicht, sie nur zu kürzen oder „vorsichtig“ einzugeben.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Gelbe Schranke vor einem internen Freigabepunkt.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Rot: im Basistraining niemals eingeben</a:t>
            </a:r>
          </a:p>
          <a:p xmlns:a="http://schemas.openxmlformats.org/drawingml/2006/main">
            <a:r>
              <a:t>Ziel: Harte Stoppsignale erkennen.</a:t>
            </a:r>
          </a:p>
          <a:p xmlns:a="http://schemas.openxmlformats.org/drawingml/2006/main">
            <a:r>
              <a:t>Kernaussage: Sicherheitsdaten, Geheimnisse und sensible Personeninformationen bleiben aus Live-Übungen heraus.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Ein spezialisiertes, geprüftes System kann andere Bedingungen haben; diese Prüfung und Freigabe ist nicht Teil des Basistrainings.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Rotes Stoppschild vor kategorisierten Datenkarten.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Besonders folgenreiche Anwendungsfälle erkennen</a:t>
            </a:r>
          </a:p>
          <a:p xmlns:a="http://schemas.openxmlformats.org/drawingml/2006/main">
            <a:r>
              <a:t>Ziel: Fälle mit erheblichen Auswirkungen früh stoppen.</a:t>
            </a:r>
          </a:p>
          <a:p xmlns:a="http://schemas.openxmlformats.org/drawingml/2006/main">
            <a:r>
              <a:t>Kernaussage: Entscheidungen über Menschen und sicherheitskritische Freigaben gehören nicht in die Basisübung.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Solche Fälle dürfen als Risikobeispiele vorkommen, werden aber nicht praktisch freigegeben. Fach-, Rechts-, Datenschutz- oder Sicherheitsstellen müssen übernehmen.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Stopppunkt vor Personal, Gesundheit, Finanzen und Sicherheit.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 zur Orientierung (Stand 22.07.2026):</a:t>
            </a:r>
          </a:p>
          <a:p xmlns:a="http://schemas.openxmlformats.org/drawingml/2006/main">
            <a:r>
              <a:t>- https://eur-lex.europa.eu/eli/reg/2024/1689/</a:t>
            </a:r>
          </a:p>
          <a:p xmlns:a="http://schemas.openxmlformats.org/drawingml/2006/main">
            <a:r>
              <a:t>- https://digital-strategy.ec.europa.eu/en/faqs/ai-literacy-questions-answers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Menschliche Kontrolle und Freigabewege</a:t>
            </a:r>
          </a:p>
          <a:p xmlns:a="http://schemas.openxmlformats.org/drawingml/2006/main">
            <a:r>
              <a:t>Ziel: Zuständigkeit vom Entwurf bis zur Verwendung festlegen.</a:t>
            </a:r>
          </a:p>
          <a:p xmlns:a="http://schemas.openxmlformats.org/drawingml/2006/main">
            <a:r>
              <a:t>Kernaussage: Jede relevante Ausgabe braucht eine benannte prüfende und freigebende Rolle.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Verwenden Sie die tatsächlichen Rollen des Kunden nur, wenn sie im Vorgespräch bestätigt wurden; sonst bleiben Platzhalter stehen.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Rollenfluss von Ersteller über Fachprüfung zur Freigabe und Eskalation.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Fünf betriebliche Grundregeln</a:t>
            </a:r>
          </a:p>
          <a:p xmlns:a="http://schemas.openxmlformats.org/drawingml/2006/main">
            <a:r>
              <a:t>Ziel: Gemeinsame Mindestregeln handlungsnah zusammenfassen.</a:t>
            </a:r>
          </a:p>
          <a:p xmlns:a="http://schemas.openxmlformats.org/drawingml/2006/main">
            <a:r>
              <a:t>Kernaussage: Werkzeugfreigabe, Datenampel, Prüfung, menschliche Verantwortung und Eskalation gehören zusammen.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Kundenspezifische Werkzeuge und Ansprechpartner werden vom Unternehmen ergänzt, nicht von MyHiwi eigenständig festgelegt.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Fünf nummerierte Regelkarten.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 zur Orientierung (Stand 22.07.2026):</a:t>
            </a:r>
          </a:p>
          <a:p xmlns:a="http://schemas.openxmlformats.org/drawingml/2006/main">
            <a:r>
              <a:t>- https://eur-lex.europa.eu/eli/reg/2024/1689/</a:t>
            </a:r>
          </a:p>
          <a:p xmlns:a="http://schemas.openxmlformats.org/drawingml/2006/main">
            <a:r>
              <a:t>- https://digital-strategy.ec.europa.eu/en/faqs/ai-literacy-questions-answers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Unternehmensbezogener Praxisfall und Ziel</a:t>
            </a:r>
          </a:p>
          <a:p xmlns:a="http://schemas.openxmlformats.org/drawingml/2006/main">
            <a:r>
              <a:t>Ziel: Einen vorbereiteten, sicheren Alltagsfall gemeinsam bearbeiten.</a:t>
            </a:r>
          </a:p>
          <a:p xmlns:a="http://schemas.openxmlformats.org/drawingml/2006/main">
            <a:r>
              <a:t>Kernaussage: Die Übung beginnt mit Ziel, Datenrahmen und gewünschtem Arbeitsergebnis.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Nutzen Sie einen vorab freigegebenen synthetischen Fall. Prüfen Sie vor Beginn erneut, dass keine realen roten oder gelben Kundendaten eingefügt wurden.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Synthetische Fallkarte mit Branche, Rolle, Ausgangslage und Ziel.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Schritt 1: Aufgabe und gewünschtes Ergebnis</a:t>
            </a:r>
          </a:p>
          <a:p xmlns:a="http://schemas.openxmlformats.org/drawingml/2006/main">
            <a:r>
              <a:t>Ziel: Problem, Zielgruppe und Nutzungszweck präzisieren.</a:t>
            </a:r>
          </a:p>
          <a:p xmlns:a="http://schemas.openxmlformats.org/drawingml/2006/main">
            <a:r>
              <a:t>Kernaussage: Erst das benötigte Ergebnis klären, dann das Werkzeug beauftragen.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Lassen Sie die Gruppe messbare Qualitätsmerkmale formulieren, ohne ein perfektes KI-Ergebnis vorauszusetzen.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Aufgabenkarte mit Feldern für Ergebnis, Zielgruppe und Zweck.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Schritt 2: Daten einordnen</a:t>
            </a:r>
          </a:p>
          <a:p xmlns:a="http://schemas.openxmlformats.org/drawingml/2006/main">
            <a:r>
              <a:t>Ziel: Material vor jeder Eingabe mit der Ampel bewerten.</a:t>
            </a:r>
          </a:p>
          <a:p xmlns:a="http://schemas.openxmlformats.org/drawingml/2006/main">
            <a:r>
              <a:t>Kernaussage: Nur freigegebenes grünes oder synthetisch ersetztes Material wird verwendet.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Fragen Sie nach Rückführbarkeit, Vertraulichkeit, Rechten und Werkzeugfreigabe. Im Zweifel wird nicht eingegeben.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Fallmaterial wird sichtbar durch die Ampel sortiert.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Schritt 3: Prompt formulieren</a:t>
            </a:r>
          </a:p>
          <a:p xmlns:a="http://schemas.openxmlformats.org/drawingml/2006/main">
            <a:r>
              <a:t>Ziel: Den Praxisauftrag mit allen sechs Bausteinen formulieren.</a:t>
            </a:r>
          </a:p>
          <a:p xmlns:a="http://schemas.openxmlformats.org/drawingml/2006/main">
            <a:r>
              <a:t>Kernaussage: Materialgrenze und Prüfkriterien gehören ausdrücklich in den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Nutzen Sie die MyHiwi-Vorlage und lassen Sie Unsicherheiten sowie vor Verwendung zu prüfende Punkte ausdrücklich kennzeichnen.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Ausgefüllte sechs Bausteine fließen in einen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Schritt 4: Beispielausgabe analysieren</a:t>
            </a:r>
          </a:p>
          <a:p xmlns:a="http://schemas.openxmlformats.org/drawingml/2006/main">
            <a:r>
              <a:t>Ziel: Ausgabe gemeinsam lesen, bevor sie verbessert oder genutzt wird.</a:t>
            </a:r>
          </a:p>
          <a:p xmlns:a="http://schemas.openxmlformats.org/drawingml/2006/main">
            <a:r>
              <a:t>Kernaussage: Zuerst Beobachtungen und Risiken markieren, dann überarbeiten.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Bei fehlendem Tool zeigen Sie die vorbereitete Offline-Ausgabe. Lassen Sie nie reale Kundendaten nachtragen, um das Beispiel „realistischer“ zu machen.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Synthetische Ausgabe mit Markierungen für gut, unklar und falsch.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Siebenstufige Prüfroutine und Verbesserung</a:t>
            </a:r>
          </a:p>
          <a:p xmlns:a="http://schemas.openxmlformats.org/drawingml/2006/main">
            <a:r>
              <a:t>Ziel: Eine reproduzierbare Prüfung vor Verwendung anwenden.</a:t>
            </a:r>
          </a:p>
          <a:p xmlns:a="http://schemas.openxmlformats.org/drawingml/2006/main">
            <a:r>
              <a:t>Kernaussage: Fakten, Quellen, Vollständigkeit, Verzerrung, Rechte und Daten, Ton und Wirkung sowie Verantwortung werden einzeln geprüft.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Die Routine endet mit einer menschlichen Entscheidung: verwenden, verbessern, verwerfen oder eskalieren.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Sieben Prüfschritte als vertikale Checkliste mit Freigabepunkt.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Zehnteiliger Lern- und Transfercheck</a:t>
            </a:r>
          </a:p>
          <a:p xmlns:a="http://schemas.openxmlformats.org/drawingml/2006/main">
            <a:r>
              <a:t>Ziel: Verständnis prüfen und offene Punkte unmittelbar klären.</a:t>
            </a:r>
          </a:p>
          <a:p xmlns:a="http://schemas.openxmlformats.org/drawingml/2006/main">
            <a:r>
              <a:t>Kernaussage: Der Check unterstützt Lernen und Transfer, nicht die Bewertung einzelner Beschäftigter.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Besprechen Sie falsche Antworten direkt. Sieben richtige Antworten sind intern ein Hinweis auf Basisverständnis, aber kein formaler Kompetenznachweis.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Zehn nummerierte Fragekarten mit Reflexionssymbol.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Thema: Ansprechpartner, nächste Schritte und Abschluss</a:t>
            </a:r>
          </a:p>
          <a:p xmlns:a="http://schemas.openxmlformats.org/drawingml/2006/main">
            <a:r>
              <a:t>Ziel: Verantwortliche und einen sicheren nächsten Anwendungsschritt festhalten.</a:t>
            </a:r>
          </a:p>
          <a:p xmlns:a="http://schemas.openxmlformats.org/drawingml/2006/main">
            <a:r>
              <a:t>Kernaussage: Der Transfer beginnt mit einem kleinen freigegebenen Fall und einem klaren Prüfweg.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Sprechhinweis: Schließen Sie mit einem persönlichen nächsten Fall pro Person, den fünf Regeln, dem Hinweis auf Unterlagen und der Management-Nachbesprechung. Die Teilnahmebestätigung dokumentiert Teilnahme, nicht Zertifizierung oder Compliance.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Moderation: Nutzen Sie die vorgesehene Bildidee als Gesprächsführung: Drei Felder zum Ausfüllen: nächster Fall, Prüfer, Eskalationsstelle.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42cc1d92f4f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c6579f521480a" /><Relationship Type="http://schemas.openxmlformats.org/officeDocument/2006/relationships/slideLayout" Target="/ppt/slideLayouts/slideLayout1.xml" Id="Raf97c611bfe6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97c611bfe6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a0567e2a94585" /><Relationship Type="http://schemas.openxmlformats.org/officeDocument/2006/relationships/notesSlide" Target="/ppt/notesSlides/notesSlide1.xml" Id="R7503bce6dd64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3e5dba964f34" /><Relationship Type="http://schemas.openxmlformats.org/officeDocument/2006/relationships/image" Target="/ppt/media/image.png" Id="R41b04d27818c4c7f" /><Relationship Type="http://schemas.openxmlformats.org/officeDocument/2006/relationships/image" Target="/ppt/media/image2.png" Id="R1db88c456e404da6" /><Relationship Type="http://schemas.openxmlformats.org/officeDocument/2006/relationships/notesSlide" Target="/ppt/notesSlides/notesSlide2.xml" Id="Rc363997b36a949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fe7909e94fa7" /><Relationship Type="http://schemas.openxmlformats.org/officeDocument/2006/relationships/image" Target="/ppt/media/image3.png" Id="R2ddf7c1477e245c7" /><Relationship Type="http://schemas.openxmlformats.org/officeDocument/2006/relationships/image" Target="/ppt/media/image4.png" Id="R8f42cd3b7d874be7" /><Relationship Type="http://schemas.openxmlformats.org/officeDocument/2006/relationships/notesSlide" Target="/ppt/notesSlides/notesSlide3.xml" Id="R8b4d6a1d8c284b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2770a374e471d" /><Relationship Type="http://schemas.openxmlformats.org/officeDocument/2006/relationships/image" Target="/ppt/media/image5.png" Id="R3edd1542ef054474" /><Relationship Type="http://schemas.openxmlformats.org/officeDocument/2006/relationships/image" Target="/ppt/media/image6.png" Id="R08aef1d2743344a1" /><Relationship Type="http://schemas.openxmlformats.org/officeDocument/2006/relationships/notesSlide" Target="/ppt/notesSlides/notesSlide4.xml" Id="Rca8815bb695c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ee6884170453f" /><Relationship Type="http://schemas.openxmlformats.org/officeDocument/2006/relationships/image" Target="/ppt/media/image7.png" Id="R2f0aa8e39126404c" /><Relationship Type="http://schemas.openxmlformats.org/officeDocument/2006/relationships/image" Target="/ppt/media/image8.png" Id="Rdff598ee077845fa" /><Relationship Type="http://schemas.openxmlformats.org/officeDocument/2006/relationships/notesSlide" Target="/ppt/notesSlides/notesSlide5.xml" Id="Ra4542058d36c42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9a2f4c5a462f" /><Relationship Type="http://schemas.openxmlformats.org/officeDocument/2006/relationships/image" Target="/ppt/media/image9.png" Id="Rad6a59ae16c54997" /><Relationship Type="http://schemas.openxmlformats.org/officeDocument/2006/relationships/image" Target="/ppt/media/image10.png" Id="R20d33bcafa574fea" /><Relationship Type="http://schemas.openxmlformats.org/officeDocument/2006/relationships/notesSlide" Target="/ppt/notesSlides/notesSlide6.xml" Id="R4f9eecb8da0a46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2b3a5d994c6f" /><Relationship Type="http://schemas.openxmlformats.org/officeDocument/2006/relationships/image" Target="/ppt/media/image11.png" Id="R613b655e366d4fb8" /><Relationship Type="http://schemas.openxmlformats.org/officeDocument/2006/relationships/image" Target="/ppt/media/image12.png" Id="Rbf995e79ce824b85" /><Relationship Type="http://schemas.openxmlformats.org/officeDocument/2006/relationships/notesSlide" Target="/ppt/notesSlides/notesSlide7.xml" Id="R3e7753a147a2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7feb9c304862" /><Relationship Type="http://schemas.openxmlformats.org/officeDocument/2006/relationships/image" Target="/ppt/media/image13.png" Id="R59bd3ff4693447f0" /><Relationship Type="http://schemas.openxmlformats.org/officeDocument/2006/relationships/image" Target="/ppt/media/image14.png" Id="Re7af129c9ce1423e" /><Relationship Type="http://schemas.openxmlformats.org/officeDocument/2006/relationships/notesSlide" Target="/ppt/notesSlides/notesSlide8.xml" Id="R7257b821fc1a47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2d32a5c514057" /><Relationship Type="http://schemas.openxmlformats.org/officeDocument/2006/relationships/image" Target="/ppt/media/image15.png" Id="R444e9a1960014ec1" /><Relationship Type="http://schemas.openxmlformats.org/officeDocument/2006/relationships/image" Target="/ppt/media/image16.png" Id="R0e49eb58f234406f" /><Relationship Type="http://schemas.openxmlformats.org/officeDocument/2006/relationships/notesSlide" Target="/ppt/notesSlides/notesSlide9.xml" Id="R77b1de678db240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df0fc0b00451c" /><Relationship Type="http://schemas.openxmlformats.org/officeDocument/2006/relationships/image" Target="/ppt/media/image17.png" Id="R7699bc2307b34251" /><Relationship Type="http://schemas.openxmlformats.org/officeDocument/2006/relationships/image" Target="/ppt/media/image18.png" Id="Re331466c89a04c40" /><Relationship Type="http://schemas.openxmlformats.org/officeDocument/2006/relationships/notesSlide" Target="/ppt/notesSlides/notesSlide10.xml" Id="Rceec8a2e7cae49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9e8597b894864" /><Relationship Type="http://schemas.openxmlformats.org/officeDocument/2006/relationships/image" Target="/ppt/media/image19.png" Id="R5d28182d213a4d88" /><Relationship Type="http://schemas.openxmlformats.org/officeDocument/2006/relationships/image" Target="/ppt/media/image20.png" Id="R94014b3fc68847fe" /><Relationship Type="http://schemas.openxmlformats.org/officeDocument/2006/relationships/notesSlide" Target="/ppt/notesSlides/notesSlide11.xml" Id="Rf524697588e7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b53ed9e854455" /><Relationship Type="http://schemas.openxmlformats.org/officeDocument/2006/relationships/image" Target="/ppt/media/image21.png" Id="R6571963bceae4de9" /><Relationship Type="http://schemas.openxmlformats.org/officeDocument/2006/relationships/image" Target="/ppt/media/image22.png" Id="R1405ce2a075e4b06" /><Relationship Type="http://schemas.openxmlformats.org/officeDocument/2006/relationships/notesSlide" Target="/ppt/notesSlides/notesSlide12.xml" Id="Rd9c10db9ca914a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5fcd604784413" /><Relationship Type="http://schemas.openxmlformats.org/officeDocument/2006/relationships/image" Target="/ppt/media/image23.png" Id="Rdb6d98cf3c7d4df7" /><Relationship Type="http://schemas.openxmlformats.org/officeDocument/2006/relationships/image" Target="/ppt/media/image24.png" Id="R2d2a3cbb24a8429c" /><Relationship Type="http://schemas.openxmlformats.org/officeDocument/2006/relationships/notesSlide" Target="/ppt/notesSlides/notesSlide13.xml" Id="R6cdc8047af2f48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2797c36b9480f" /><Relationship Type="http://schemas.openxmlformats.org/officeDocument/2006/relationships/image" Target="/ppt/media/image25.png" Id="R158a2c8eecdc40c6" /><Relationship Type="http://schemas.openxmlformats.org/officeDocument/2006/relationships/image" Target="/ppt/media/image26.png" Id="Rb15d06b5078d4905" /><Relationship Type="http://schemas.openxmlformats.org/officeDocument/2006/relationships/notesSlide" Target="/ppt/notesSlides/notesSlide14.xml" Id="R2d6be729d36941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f144aa423487e" /><Relationship Type="http://schemas.openxmlformats.org/officeDocument/2006/relationships/image" Target="/ppt/media/image27.png" Id="R619020d3e6de4c25" /><Relationship Type="http://schemas.openxmlformats.org/officeDocument/2006/relationships/image" Target="/ppt/media/image28.png" Id="Rc7c90036e97b438a" /><Relationship Type="http://schemas.openxmlformats.org/officeDocument/2006/relationships/notesSlide" Target="/ppt/notesSlides/notesSlide15.xml" Id="Rd847a501184f42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c63746c64c8c" /><Relationship Type="http://schemas.openxmlformats.org/officeDocument/2006/relationships/image" Target="/ppt/media/image29.png" Id="R2c77ad9db6a54a3a" /><Relationship Type="http://schemas.openxmlformats.org/officeDocument/2006/relationships/image" Target="/ppt/media/image30.png" Id="R5b608ec260df41b5" /><Relationship Type="http://schemas.openxmlformats.org/officeDocument/2006/relationships/notesSlide" Target="/ppt/notesSlides/notesSlide16.xml" Id="R208488610c304a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64ccd49b4933" /><Relationship Type="http://schemas.openxmlformats.org/officeDocument/2006/relationships/image" Target="/ppt/media/image31.png" Id="R87510fde589748df" /><Relationship Type="http://schemas.openxmlformats.org/officeDocument/2006/relationships/image" Target="/ppt/media/image32.png" Id="R63c90408d3d04ba5" /><Relationship Type="http://schemas.openxmlformats.org/officeDocument/2006/relationships/notesSlide" Target="/ppt/notesSlides/notesSlide17.xml" Id="Rb115a3fb77724d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a162a206e465d" /><Relationship Type="http://schemas.openxmlformats.org/officeDocument/2006/relationships/image" Target="/ppt/media/image33.png" Id="Rb2ce76c09b234699" /><Relationship Type="http://schemas.openxmlformats.org/officeDocument/2006/relationships/image" Target="/ppt/media/image34.png" Id="Rc39328418c34411f" /><Relationship Type="http://schemas.openxmlformats.org/officeDocument/2006/relationships/notesSlide" Target="/ppt/notesSlides/notesSlide18.xml" Id="R5e2a11d76e5546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3fff0abdf4b71" /><Relationship Type="http://schemas.openxmlformats.org/officeDocument/2006/relationships/image" Target="/ppt/media/image35.png" Id="R1d6cfeaeebbb4eb6" /><Relationship Type="http://schemas.openxmlformats.org/officeDocument/2006/relationships/image" Target="/ppt/media/image36.png" Id="R62d81b8025be4970" /><Relationship Type="http://schemas.openxmlformats.org/officeDocument/2006/relationships/notesSlide" Target="/ppt/notesSlides/notesSlide19.xml" Id="R3c3d738986bc4d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7cb58bc14a94" /><Relationship Type="http://schemas.openxmlformats.org/officeDocument/2006/relationships/image" Target="/ppt/media/image37.png" Id="R0e71ba301fa34e94" /><Relationship Type="http://schemas.openxmlformats.org/officeDocument/2006/relationships/image" Target="/ppt/media/image38.png" Id="R188b8eca4ba1473d" /><Relationship Type="http://schemas.openxmlformats.org/officeDocument/2006/relationships/notesSlide" Target="/ppt/notesSlides/notesSlide20.xml" Id="R0a533100e7d142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55471fe524e89" /><Relationship Type="http://schemas.openxmlformats.org/officeDocument/2006/relationships/image" Target="/ppt/media/image39.png" Id="Rf5b825814fb745bb" /><Relationship Type="http://schemas.openxmlformats.org/officeDocument/2006/relationships/image" Target="/ppt/media/image40.png" Id="Re48a5eca360c40e2" /><Relationship Type="http://schemas.openxmlformats.org/officeDocument/2006/relationships/notesSlide" Target="/ppt/notesSlides/notesSlide21.xml" Id="Rccd239d6f62045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6fec0f6814f92" /><Relationship Type="http://schemas.openxmlformats.org/officeDocument/2006/relationships/image" Target="/ppt/media/image41.png" Id="Rdc632cdbdeb34500" /><Relationship Type="http://schemas.openxmlformats.org/officeDocument/2006/relationships/image" Target="/ppt/media/image42.png" Id="R77c59082dbf34ac7" /><Relationship Type="http://schemas.openxmlformats.org/officeDocument/2006/relationships/notesSlide" Target="/ppt/notesSlides/notesSlide22.xml" Id="Rbe170f63a9354b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09cada524cfe" /><Relationship Type="http://schemas.openxmlformats.org/officeDocument/2006/relationships/notesSlide" Target="/ppt/notesSlides/notesSlide23.xml" Id="Ra1018400fd0345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5c56099004a05" /><Relationship Type="http://schemas.openxmlformats.org/officeDocument/2006/relationships/image" Target="/ppt/media/image43.png" Id="R6e166425cb274e65" /><Relationship Type="http://schemas.openxmlformats.org/officeDocument/2006/relationships/image" Target="/ppt/media/image44.png" Id="R8c90a57095454b0f" /><Relationship Type="http://schemas.openxmlformats.org/officeDocument/2006/relationships/notesSlide" Target="/ppt/notesSlides/notesSlide24.xml" Id="R619e76c5e78243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1b91fb90749ed" /><Relationship Type="http://schemas.openxmlformats.org/officeDocument/2006/relationships/image" Target="/ppt/media/image45.png" Id="R2c938ce4638d4583" /><Relationship Type="http://schemas.openxmlformats.org/officeDocument/2006/relationships/image" Target="/ppt/media/image46.png" Id="R5a838229e3ea4ca1" /><Relationship Type="http://schemas.openxmlformats.org/officeDocument/2006/relationships/notesSlide" Target="/ppt/notesSlides/notesSlide25.xml" Id="R2c5fba6e0f2642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0509d69624f17" /><Relationship Type="http://schemas.openxmlformats.org/officeDocument/2006/relationships/image" Target="/ppt/media/image47.png" Id="Raa9550e4c7cd418c" /><Relationship Type="http://schemas.openxmlformats.org/officeDocument/2006/relationships/image" Target="/ppt/media/image48.png" Id="R66e1f7d398334723" /><Relationship Type="http://schemas.openxmlformats.org/officeDocument/2006/relationships/notesSlide" Target="/ppt/notesSlides/notesSlide26.xml" Id="R3c71a05510fe45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c7a2342ef4afd" /><Relationship Type="http://schemas.openxmlformats.org/officeDocument/2006/relationships/image" Target="/ppt/media/image49.png" Id="Rf017de1eb1b14cab" /><Relationship Type="http://schemas.openxmlformats.org/officeDocument/2006/relationships/image" Target="/ppt/media/image50.png" Id="Rbcaea500182d441c" /><Relationship Type="http://schemas.openxmlformats.org/officeDocument/2006/relationships/notesSlide" Target="/ppt/notesSlides/notesSlide27.xml" Id="Re490f8c2b309426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1c40888dc40c0" /><Relationship Type="http://schemas.openxmlformats.org/officeDocument/2006/relationships/image" Target="/ppt/media/image51.png" Id="Rb12bef2422f2455f" /><Relationship Type="http://schemas.openxmlformats.org/officeDocument/2006/relationships/image" Target="/ppt/media/image52.png" Id="Rd3ace96eecc94fb9" /><Relationship Type="http://schemas.openxmlformats.org/officeDocument/2006/relationships/notesSlide" Target="/ppt/notesSlides/notesSlide28.xml" Id="Rb417c10efeb141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d81cc1d14de1" /><Relationship Type="http://schemas.openxmlformats.org/officeDocument/2006/relationships/image" Target="/ppt/media/image53.png" Id="R7eb8654aadb046ae" /><Relationship Type="http://schemas.openxmlformats.org/officeDocument/2006/relationships/image" Target="/ppt/media/image54.png" Id="R205b7a6f8047499d" /><Relationship Type="http://schemas.openxmlformats.org/officeDocument/2006/relationships/notesSlide" Target="/ppt/notesSlides/notesSlide29.xml" Id="R62979926f7af429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4af3f52024f8d" /><Relationship Type="http://schemas.openxmlformats.org/officeDocument/2006/relationships/image" Target="/ppt/media/image55.png" Id="R5f8adde17de54370" /><Relationship Type="http://schemas.openxmlformats.org/officeDocument/2006/relationships/image" Target="/ppt/media/image56.png" Id="R4e2753e0448041e6" /><Relationship Type="http://schemas.openxmlformats.org/officeDocument/2006/relationships/notesSlide" Target="/ppt/notesSlides/notesSlide30.xml" Id="R1bb0db144507403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0448c45b04176" /><Relationship Type="http://schemas.openxmlformats.org/officeDocument/2006/relationships/image" Target="/ppt/media/image57.png" Id="R0c630884bbe04219" /><Relationship Type="http://schemas.openxmlformats.org/officeDocument/2006/relationships/image" Target="/ppt/media/image58.png" Id="R7c14eebbfef343d4" /><Relationship Type="http://schemas.openxmlformats.org/officeDocument/2006/relationships/notesSlide" Target="/ppt/notesSlides/notesSlide31.xml" Id="R3466336cf1594c5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a8776a0714fcc" /><Relationship Type="http://schemas.openxmlformats.org/officeDocument/2006/relationships/image" Target="/ppt/media/image59.png" Id="R11330bd87b2043ce" /><Relationship Type="http://schemas.openxmlformats.org/officeDocument/2006/relationships/image" Target="/ppt/media/image60.png" Id="R054ab9ff5093485b" /><Relationship Type="http://schemas.openxmlformats.org/officeDocument/2006/relationships/notesSlide" Target="/ppt/notesSlides/notesSlide32.xml" Id="R0f5ac530a3b5437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6c7ba76147e2" /><Relationship Type="http://schemas.openxmlformats.org/officeDocument/2006/relationships/image" Target="/ppt/media/image61.png" Id="R3369322367cf4afa" /><Relationship Type="http://schemas.openxmlformats.org/officeDocument/2006/relationships/image" Target="/ppt/media/image62.png" Id="R2cf4546477f543fb" /><Relationship Type="http://schemas.openxmlformats.org/officeDocument/2006/relationships/notesSlide" Target="/ppt/notesSlides/notesSlide33.xml" Id="R9157c1e0184a47f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ef9303477407f" /><Relationship Type="http://schemas.openxmlformats.org/officeDocument/2006/relationships/image" Target="/ppt/media/image63.png" Id="R1ba2b08880cc42f4" /><Relationship Type="http://schemas.openxmlformats.org/officeDocument/2006/relationships/image" Target="/ppt/media/image64.png" Id="R210f2b0e24eb471f" /><Relationship Type="http://schemas.openxmlformats.org/officeDocument/2006/relationships/notesSlide" Target="/ppt/notesSlides/notesSlide34.xml" Id="R81c618d32d0f48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1744a87643a9" /><Relationship Type="http://schemas.openxmlformats.org/officeDocument/2006/relationships/image" Target="/ppt/media/image65.png" Id="Rc8bc7be7ab7c4510" /><Relationship Type="http://schemas.openxmlformats.org/officeDocument/2006/relationships/image" Target="/ppt/media/image66.png" Id="Rd3268c2a410f43c2" /><Relationship Type="http://schemas.openxmlformats.org/officeDocument/2006/relationships/notesSlide" Target="/ppt/notesSlides/notesSlide35.xml" Id="R1b5dbd12e81745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8d6e2269450c" /><Relationship Type="http://schemas.openxmlformats.org/officeDocument/2006/relationships/image" Target="/ppt/media/image67.png" Id="Re5301947fa2646c9" /><Relationship Type="http://schemas.openxmlformats.org/officeDocument/2006/relationships/image" Target="/ppt/media/image68.png" Id="R90b32fe42a9e4e70" /><Relationship Type="http://schemas.openxmlformats.org/officeDocument/2006/relationships/notesSlide" Target="/ppt/notesSlides/notesSlide36.xml" Id="Ra3571d2d7ee14f8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bc0b0aa9d4d09" /><Relationship Type="http://schemas.openxmlformats.org/officeDocument/2006/relationships/image" Target="/ppt/media/image69.png" Id="Rea36a8b70e534448" /><Relationship Type="http://schemas.openxmlformats.org/officeDocument/2006/relationships/image" Target="/ppt/media/image70.png" Id="R9ee9de6e3ff2483b" /><Relationship Type="http://schemas.openxmlformats.org/officeDocument/2006/relationships/notesSlide" Target="/ppt/notesSlides/notesSlide37.xml" Id="R982bced57cd5444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1644dad4841c6" /><Relationship Type="http://schemas.openxmlformats.org/officeDocument/2006/relationships/image" Target="/ppt/media/image71.png" Id="R5a8dd95f06364f7b" /><Relationship Type="http://schemas.openxmlformats.org/officeDocument/2006/relationships/image" Target="/ppt/media/image72.png" Id="R65a19da756af4466" /><Relationship Type="http://schemas.openxmlformats.org/officeDocument/2006/relationships/notesSlide" Target="/ppt/notesSlides/notesSlide38.xml" Id="Rc9a5950477364d1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e44c27e584b0f" /><Relationship Type="http://schemas.openxmlformats.org/officeDocument/2006/relationships/image" Target="/ppt/media/image73.png" Id="R0ceab68d2ac84232" /><Relationship Type="http://schemas.openxmlformats.org/officeDocument/2006/relationships/image" Target="/ppt/media/image74.png" Id="R0f178eba76fe47cf" /><Relationship Type="http://schemas.openxmlformats.org/officeDocument/2006/relationships/notesSlide" Target="/ppt/notesSlides/notesSlide39.xml" Id="Rafab139d72ad4b7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4f5a268ee49fa" /><Relationship Type="http://schemas.openxmlformats.org/officeDocument/2006/relationships/image" Target="/ppt/media/image75.png" Id="R1dc2181b541b43db" /><Relationship Type="http://schemas.openxmlformats.org/officeDocument/2006/relationships/image" Target="/ppt/media/image76.png" Id="R5fb59ececdc84880" /><Relationship Type="http://schemas.openxmlformats.org/officeDocument/2006/relationships/notesSlide" Target="/ppt/notesSlides/notesSlide40.xml" Id="R36c6ddd58c0c4a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BCDF3-F174-4917-B46C-76750EC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DBF28-D725-4EEA-B692-7D13CE76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MYHIWI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A0899-B0BA-42CB-A277-25CF00AD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76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51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AI-Startklar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A0B62-D392-441E-820E-73AF786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Die praxisnahe KI-Grundlagenschulung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774F5-A57C-403F-B708-FB7BE15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7140B-71C6-4D25-9440-E06A051E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Kunde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8DE67-BA98-4851-9FEB-BED6D1A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[Kunde]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2526A-2F71-45A4-B549-15BBB6E9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Datum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665AF-2336-4F4E-A054-8966BCAB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[Datum]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77A16-82BD-49C2-8BEA-B2C00200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Trainer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E0C3F-E337-492A-9FE7-A83CD59E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[Trainer]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94C62-6A96-428E-815E-012145D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v1.0 · Stand 22.07.2026</a:t>
            </a:r>
          </a:p>
        </p:txBody>
      </p:sp>
    </p:spTree>
    <p:extLst>
      <p:ext uri="{BB962C8B-B14F-4D97-AF65-F5344CB8AC3E}">
        <p14:creationId xmlns:p14="http://schemas.microsoft.com/office/powerpoint/2010/main" val="347156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04d27818c4c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88c456e404da6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FC4F078-C148-4F72-B221-218D512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Ergebnisversprechen der drei Stunden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088B5-EA1F-4501-A2D1-800B5D5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Die Teilnehmenden lernen entscheiden, formulieren, einordnen, prüfen und eskalieren.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13F43-F4C2-41C0-9507-8965DFC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Nach heute können Sie: passende Aufgaben erkennen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klare Prompts bauen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Daten einordnen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Ausgaben prüfen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Unsicherheit eskalieren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4AADD-30A3-4BD8-9513-A8C657D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90D88-2398-44DC-A950-13FB6DB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Ein klares und realistisches Lernziel setzen.</a:t>
            </a:r>
          </a:p>
        </p:txBody>
      </p:sp>
    </p:spTree>
    <p:extLst>
      <p:ext uri="{BB962C8B-B14F-4D97-AF65-F5344CB8AC3E}">
        <p14:creationId xmlns:p14="http://schemas.microsoft.com/office/powerpoint/2010/main" val="1397773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f7c1477e245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2cd3b7d874be7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EB1F350-A325-4819-9DA1-6E06B57A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Agenda und Pausenzeit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EFD8B-1A83-4ACC-9102-65EDC44F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Erklärung, Anwendung und Reflexion greifen ineinander.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F47FE-0A62-4482-B8CB-0B29C30B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427B7-2AA0-40F7-B6CC-C3EF5885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B617C-AE4D-42F4-A7CF-651C2141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Einstieg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D444D-B4A4-4ADB-B3E7-036B45A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C0876-3EBA-4E07-8AB9-286DC08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EE729-95C9-4D10-91D0-0482F143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Grundlagen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E5F7B-0B69-42DF-A28D-47301AF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2363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3F760-599C-4C64-B0A9-216075D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4313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0163F-3754-4744-AA81-A2749918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8613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Chancen &amp; Grenzen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1F153-9CB3-4413-8E09-AC80707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62363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ACAC1-3257-4582-80A2-4FC36BFE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24313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FF461-1C2D-4358-BB59-926B0FC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38613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Prompts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0F288-CDFE-4676-AB3D-054E867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F0B0F-F9C7-4F0C-971E-C0786BB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B8674-E97D-49BF-8C00-E3A97026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C12DB-7104-4E25-B9ED-01DC3C8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00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9E5CF-B693-46C1-A660-1E41338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962525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39D26-3130-4FEF-9F71-6402E38A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76825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sicherer Einsatz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D4DC6-675F-40DE-9844-28996FB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8788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06848-6DE2-42D0-86A1-6C3BBA0A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0738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6E2B7-F73E-4020-9DA7-A7CE5B1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5038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Praxis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80F30-F44B-4016-AABE-DABE1B8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38788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ADE12-C66C-4001-BCD7-ADD69440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00738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8809D-8808-4F11-9D43-AF0CF0C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015038"/>
            <a:ext cx="5324475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Prüfung &amp; Transfer</a:t>
            </a:r>
          </a:p>
        </p:txBody>
      </p:sp>
    </p:spTree>
    <p:extLst>
      <p:ext uri="{BB962C8B-B14F-4D97-AF65-F5344CB8AC3E}">
        <p14:creationId xmlns:p14="http://schemas.microsoft.com/office/powerpoint/2010/main" val="491239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d1542ef0544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ef1d2743344a1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45CA3B8A-5CB0-4940-BFCA-9685E6C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Sicher arbeiten: keine sensiblen Live-Daten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5857-59AA-4400-8C2F-28472E3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Geübt wird nur mit synthetischen oder robust anonymisierten Inhalten.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82518-1B8A-4419-AF07-8DEFE01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Keine realen sensiblen Daten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keine Geheimnisse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keine Zugangsdaten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nur freigegebene Beispiele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B46F5-14A2-4DE7-B7C2-F3CF6CD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E4A5-27AA-42B9-A2D5-CA9C609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Vor der ersten Interaktion eine klare Datengrenze setzen.</a:t>
            </a:r>
          </a:p>
        </p:txBody>
      </p:sp>
    </p:spTree>
    <p:extLst>
      <p:ext uri="{BB962C8B-B14F-4D97-AF65-F5344CB8AC3E}">
        <p14:creationId xmlns:p14="http://schemas.microsoft.com/office/powerpoint/2010/main" val="96640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aa8e3912640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598ee077845fa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ADAB49F1-2B44-4B91-A9CD-8E40FFF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Wie oft nutzen Sie generative KI?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0EAC8-DFEF-441E-B5A5-FCC45C5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80D94-77BE-41AE-A6ED-ED173F58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BE099-C204-4E10-8E6C-1EE97B9C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Unterschiedliche Erfahrung ist normal und wird im Training aufgefangen.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9A1A7-AAF7-486F-A3B7-5DF19D3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Wer nutzt generative KI nie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gelegentlich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mindestens wöchentlich? Wofür?</a:t>
            </a:r>
          </a:p>
        </p:txBody>
      </p:sp>
    </p:spTree>
    <p:extLst>
      <p:ext uri="{BB962C8B-B14F-4D97-AF65-F5344CB8AC3E}">
        <p14:creationId xmlns:p14="http://schemas.microsoft.com/office/powerpoint/2010/main" val="633372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a59ae16c549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33bcafa574fea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33022A09-7F7C-4CD4-B805-FE59460E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Was mit „KI“ in dieser Schulung gemeint 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AB239-CC59-497A-90F5-E56AAED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Im Fokus stehen Werkzeuge, die aus Eingaben neue Texte, Bilder oder Strukturen erzeugen.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4C8A2-8429-4BAE-A576-92580584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Fokus: generative KI für Entwürfe, Strukturierung und Unterstützung im Arbeitsalltag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7F101-FB84-4950-A7EC-6F030EE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9714-F106-40CA-822D-FFD55EE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Den Gegenstand auf generative KI im Arbeitsalltag eingrenzen.</a:t>
            </a:r>
          </a:p>
        </p:txBody>
      </p:sp>
    </p:spTree>
    <p:extLst>
      <p:ext uri="{BB962C8B-B14F-4D97-AF65-F5344CB8AC3E}">
        <p14:creationId xmlns:p14="http://schemas.microsoft.com/office/powerpoint/2010/main" val="549890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b655e366d4fb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95e79ce824b85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D1CB4C7D-D010-492A-BBDF-E202406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Drei Werkzeugarten unterscheiden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83D18-B90E-468C-ADFC-A5E93A9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Suchen, nach festen Regeln berechnen und neue Inhalte erzeugen sind verschiedene Funktionen.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FEF94-C3B7-4628-B446-973BC951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22C8-629F-4C0D-BE21-6855825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FA42C-C8ED-4EB6-86EF-E07C158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Suchmaschine: findet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51669-E672-4CF6-9C72-4FC53766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BE73E-2345-4215-B6A2-2D1673B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37CCB-1DA9-4256-9C0D-EB28CA1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klassische Software: folgt Regeln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FD11B-F568-488F-9057-D5D3D1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BE6A0-C39B-4C92-A82B-369D11A6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907FD-2CAA-452C-AE02-E5C3087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generative KI: erzeugt plausible Inhalte</a:t>
            </a:r>
          </a:p>
        </p:txBody>
      </p:sp>
    </p:spTree>
    <p:extLst>
      <p:ext uri="{BB962C8B-B14F-4D97-AF65-F5344CB8AC3E}">
        <p14:creationId xmlns:p14="http://schemas.microsoft.com/office/powerpoint/2010/main" val="289798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d3ff4693447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f129c9ce1423e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38097DA9-E305-4DD0-8B02-519D42D2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So erzeugt ein Sprachmodell Antworten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59C06-A9E4-4AD9-86E8-B7A9844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Ein Sprachmodell erzeugt wahrscheinliche Fortsetzungen aus Eingabe und Kontext.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C6B1E-4176-4B82-9A8B-9ADFE557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433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F2AA-5040-42E3-BB3E-1071A662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33B6A-206B-4582-B2C6-84D8D162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3D276-9BB3-4E37-9234-2620C8C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38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05E13-13D6-4548-A0AB-B43E16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D83C2-B514-499C-94E6-2C00F3D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38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57105-B2BC-41A1-8AA0-751E244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95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E7DA"/>
          </a:solidFill>
          <a:ln xmlns:a="http://schemas.openxmlformats.org/drawingml/2006/main" w="9525">
            <a:solidFill>
              <a:srgbClr val="C9C3B7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Eingabe +</a:t>
            </a:r>
          </a:p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Kontext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FD929-3D92-4C03-B193-9192C1B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E7DA"/>
          </a:solidFill>
          <a:ln xmlns:a="http://schemas.openxmlformats.org/drawingml/2006/main" w="9525">
            <a:solidFill>
              <a:srgbClr val="C9C3B7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Wahrscheinliche</a:t>
            </a:r>
          </a:p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Fortsetzung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3FCBA-DB3F-4630-832E-C8C4D060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905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E7DA"/>
          </a:solidFill>
          <a:ln xmlns:a="http://schemas.openxmlformats.org/drawingml/2006/main" w="9525">
            <a:solidFill>
              <a:srgbClr val="C9C3B7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Ausgabe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6D589-E8D9-4DC2-855E-AD2CC3D8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2381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9525">
            <a:solidFill>
              <a:srgbClr val="1F4FC9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Menschliche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Prüfung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C5371-40E9-489A-B0B7-52AF063C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Plausibel ist nicht automatisch wahr.</a:t>
            </a:r>
          </a:p>
        </p:txBody>
      </p:sp>
    </p:spTree>
    <p:extLst>
      <p:ext uri="{BB962C8B-B14F-4D97-AF65-F5344CB8AC3E}">
        <p14:creationId xmlns:p14="http://schemas.microsoft.com/office/powerpoint/2010/main" val="111441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e9a1960014e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9eb58f234406f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7CA94D4C-4BAB-4E7A-B49D-EB5CABD2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Modell, Anwendung, Konto und Einstellungen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878B-C1CC-4D02-818B-E6DB12F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Dasselbe Modell kann je nach Anwendung, Konto und Einstellung anders eingebunden sein.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DFEB1-02EF-4B5D-A8A0-5678710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2E6D7-11CA-4F22-99B9-348843EE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F960A-4E68-4842-B7C9-D3C636BD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Vier Fragen: Welches Modell? Welche Anwendung? Welches Konto? Welche Einstellungen?</a:t>
            </a:r>
          </a:p>
        </p:txBody>
      </p:sp>
    </p:spTree>
    <p:extLst>
      <p:ext uri="{BB962C8B-B14F-4D97-AF65-F5344CB8AC3E}">
        <p14:creationId xmlns:p14="http://schemas.microsoft.com/office/powerpoint/2010/main" val="1390456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9bc2307b342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1466c89a04c40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3467C8C2-A9A2-441A-9C46-03FEF0E6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Sechs typische Aufgabenarten im Arbeitsalltag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0E43A-3051-486B-A195-CC6D939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Generative KI unterstützt besonders beim Variieren, Strukturieren, Zusammenfassen, Entwerfen, Extrahieren und Vorbereiten.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9AD5B-A4D8-4BC6-BA34-23F07B6B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18A3A-DCF5-47C9-9B33-67035F6B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BD94B-8436-4789-B356-D7EC296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Ideen entwickeln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9F615-5890-4DFB-B92D-02FEB31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D0614-71CD-4709-84CE-4E60F8E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4912D-1686-455E-A2BD-4A5B6564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Texte strukturieren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FBA9B-F578-40C4-AB29-E151D8A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7A73D-196B-4CCD-BE92-AFA00B4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70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4D47B-6925-4EA6-ABD6-6C3EFAC7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135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freigegebenes Material zusammenfassen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15F9F-1D85-4225-B822-A9982822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7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4E51B-7CCE-4575-B576-8C440742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370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618C3-324B-4DF4-92E4-B227EB9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5135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Entwürfe erstellen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03DB3-48F8-4700-89E2-D026342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97C88-F232-4586-A578-08BF088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221FB-9765-441B-831B-9394FF23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23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Informationen extrahieren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AA1AA-7FF3-44C9-A92E-097DE3B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2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F1F97-7D47-4220-9A55-68864DF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880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8E827-023A-4A95-B42F-AD5B1A4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7023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Gespräche vorbereiten</a:t>
            </a:r>
          </a:p>
        </p:txBody>
      </p:sp>
    </p:spTree>
    <p:extLst>
      <p:ext uri="{BB962C8B-B14F-4D97-AF65-F5344CB8AC3E}">
        <p14:creationId xmlns:p14="http://schemas.microsoft.com/office/powerpoint/2010/main" val="219142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8182d213a4d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14b3fc68847fe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A92B7090-F5C5-4DB0-8CC7-557D7B9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Aufgaben nach Risiko einordnen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31C4B-4943-42BC-9DCB-DD9A582B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Je sensibler die Daten und je größer die Wirkung, desto weniger eignet sich ein Fall für den Basisgebrauch.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9AA87-E4AB-4014-8A68-3EAE4273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2D56-885E-41E8-9386-B9CDA0B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7DCF0-0024-4BF1-9DBC-DB33D7F4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Geeignet: synthetischer Entwurf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5E777-493D-4EAF-992C-7DA12D6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4AC4A-7190-4F2A-A186-460F6A3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F88B4-C1D9-49AF-88C8-A4EE187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Kontrolle nötig: externe Kommunikation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67F6E-7B1F-4D86-ACD1-2CEB0152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AAD35-3646-4AFD-8843-384BF83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086100"/>
            <a:ext cx="344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4F95A-951A-4A9C-98A4-E4C27A8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00400"/>
            <a:ext cx="344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nicht im Basistraining: folgenreiche Personenentscheidung</a:t>
            </a:r>
          </a:p>
        </p:txBody>
      </p:sp>
    </p:spTree>
    <p:extLst>
      <p:ext uri="{BB962C8B-B14F-4D97-AF65-F5344CB8AC3E}">
        <p14:creationId xmlns:p14="http://schemas.microsoft.com/office/powerpoint/2010/main" val="1719710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1963bceae4d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5ce2a075e4b06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C8C72BCE-3A7B-4B65-97EA-9E5CB3D9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Überblick über typische Grenzen und Risiken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6C434-5C7B-4ABC-971D-9474196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Gute Sprache kann Fakten-, Kontext-, Rechte- und Datenprobleme verdecken.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B1170-7A6B-4E12-B768-1377FC0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Faktenfehler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veraltete Inhalte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falsche Quellen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fehlender Kontext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Verzerrungen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Daten- und Rechteprobleme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8676E-AB96-40EA-91CC-B0276D1B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F562A-ABC3-49F7-AB26-83093BF9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Ein gemeinsames Risikovokabular schaffen.</a:t>
            </a:r>
          </a:p>
        </p:txBody>
      </p:sp>
    </p:spTree>
    <p:extLst>
      <p:ext uri="{BB962C8B-B14F-4D97-AF65-F5344CB8AC3E}">
        <p14:creationId xmlns:p14="http://schemas.microsoft.com/office/powerpoint/2010/main" val="11819413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d98cf3c7d4df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a3cbb24a8429c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AE7A307-AFCF-4FEA-8EA5-82F6D46D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Eine überzeugende Antwort kann falsch sein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E44F-C014-4AD7-81D0-34C07F3B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Eine flüssige Antwort kann erfundene Details enthalten.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9533E-5F34-4770-8711-CD1D418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Klingt sicher. Ist es richtig? Markieren Sie Fakten, Annahmen und offene Punkte.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419BB-F9ED-4CF7-97CB-CEAEA50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D3746-518F-4AB1-8EEA-02F3497D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Sprachliche Sicherheit von inhaltlicher Richtigkeit trennen.</a:t>
            </a:r>
          </a:p>
        </p:txBody>
      </p:sp>
    </p:spTree>
    <p:extLst>
      <p:ext uri="{BB962C8B-B14F-4D97-AF65-F5344CB8AC3E}">
        <p14:creationId xmlns:p14="http://schemas.microsoft.com/office/powerpoint/2010/main" val="12843714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a2c8eecdc40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d06b5078d4905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8D900F37-1B83-4B2C-A7BC-F51DEE7D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Aktualität, Quellen und erfundene Belege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34411-CE98-4A37-B487-D8B7AA03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Eine genannte Quelle ist noch kein belastbarer Beleg.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9B78-C047-4CC8-AB57-7B003923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0635C-C763-4D59-8D0D-84D184A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F985E-1B72-4818-B9EC-3F1F3908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Quelle prüfen: Existiert sie? Belegt sie die Aussage? Ist sie aktuell? Passt der Kontext?</a:t>
            </a:r>
          </a:p>
        </p:txBody>
      </p:sp>
    </p:spTree>
    <p:extLst>
      <p:ext uri="{BB962C8B-B14F-4D97-AF65-F5344CB8AC3E}">
        <p14:creationId xmlns:p14="http://schemas.microsoft.com/office/powerpoint/2010/main" val="19594915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020d3e6de4c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90036e97b438a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250D9106-4421-4276-9589-DECC62D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Verzerrungen, Stereotype und fehlender Kontext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21252-62A7-4F0A-8342-90A988A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Daten und Formulierung können Perspektiven ausblenden oder Stereotype verstärken.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38B3F-91EC-416C-A870-8F85C83F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D7F00-E2D1-4C77-A32E-1ED188F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BFFD3-0F7C-4164-BEED-E29054A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Fragen Sie: Wer fehlt? Welche Annahme steckt darin? Wen könnte die Ausgabe benachteiligen?</a:t>
            </a:r>
          </a:p>
        </p:txBody>
      </p:sp>
    </p:spTree>
    <p:extLst>
      <p:ext uri="{BB962C8B-B14F-4D97-AF65-F5344CB8AC3E}">
        <p14:creationId xmlns:p14="http://schemas.microsoft.com/office/powerpoint/2010/main" val="1410030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7ad9db6a54a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08ec260df41b5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E0EC9C80-3F86-49B2-A20E-E5A8100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Rechte an Eingaben und Ausgaben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F9575-808A-4DA3-B501-E9B97D0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Verfügbar bedeutet nicht automatisch frei nutzbar.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37C63-0A23-4A5A-9BF8-DA39C55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Vorher prüfen: Darf ich es eingeben? Nachher prüfen: Darf und soll ich es verwenden?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1AF8C-47FB-43B7-877B-C6899C9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CC771-3E15-435E-BC31-00EFC85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Rechte vor Eingabe und Weitergabe mitdenken.</a:t>
            </a:r>
          </a:p>
        </p:txBody>
      </p:sp>
    </p:spTree>
    <p:extLst>
      <p:ext uri="{BB962C8B-B14F-4D97-AF65-F5344CB8AC3E}">
        <p14:creationId xmlns:p14="http://schemas.microsoft.com/office/powerpoint/2010/main" val="826022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10fde589748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90408d3d04ba5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08B933E4-8E1D-4519-826D-986181C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Miniübung zur Einordnung von drei Aufgaben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E8D3-35E9-4DDE-AFA4-4B33426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82F99-DEC8-4A04-A0EB-B8DE524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1483B-0C19-49FF-9338-2C45488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Aufgabe, Daten, Wirkung und Freigabeweg bestimmen die Einordnung.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8432D-F7E4-42C9-8C5C-C92D725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Einordnen: geeignet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nur mit Kontrolle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nicht im Basistraining — und Entscheidung begründen</a:t>
            </a:r>
          </a:p>
        </p:txBody>
      </p:sp>
    </p:spTree>
    <p:extLst>
      <p:ext uri="{BB962C8B-B14F-4D97-AF65-F5344CB8AC3E}">
        <p14:creationId xmlns:p14="http://schemas.microsoft.com/office/powerpoint/2010/main" val="9141821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e76c09b23469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328418c34411f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F2C1140D-B70F-4F82-B487-B64C6BC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Klare Prompts schaffen bessere Arbeitsgrundlagen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E5BCF-0447-46A6-B522-84047430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Klare Ziele, Materialgrenzen und Prüfkriterien reduzieren Missverständnisse.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18ED0-3C8D-4B11-82FF-C4BAFC6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36440-558B-45B1-A5C4-FBEBDEBD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376B9-BE3F-4A26-8A80-13D4AE61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Klarer Auftrag → passenderer Entwurf → leichter prüfbares Ergebnis</a:t>
            </a:r>
          </a:p>
        </p:txBody>
      </p:sp>
    </p:spTree>
    <p:extLst>
      <p:ext uri="{BB962C8B-B14F-4D97-AF65-F5344CB8AC3E}">
        <p14:creationId xmlns:p14="http://schemas.microsoft.com/office/powerpoint/2010/main" val="10815888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cfeaeebbb4e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81b8025be4970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480A3A65-EDE8-4A9A-ABDE-85AD7DB4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Vorher-Nachher-Beispiel eines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6D2E5-F966-478C-A664-B40DC90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Ein vollständiger Arbeitsauftrag macht Ausgabe und Prüfung nachvollziehbarer.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0252D-345E-455F-B006-CA581F91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12BF0-ABF7-4D9F-A5C8-FC9AAC0A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5FB98-BCF3-4FB3-92ED-66AA628D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24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Vorher: „Mach eine E-Mail.“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8EC1B-0203-41A5-A788-63BAF365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71164-50E4-4251-B3B6-B292EF8C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B6229-7282-441F-97F3-06E7D3C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5324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Nachher: Ziel, Zielgruppe, freigegebenes Material, Ton, Format und Prüfpunkte</a:t>
            </a:r>
          </a:p>
        </p:txBody>
      </p:sp>
    </p:spTree>
    <p:extLst>
      <p:ext uri="{BB962C8B-B14F-4D97-AF65-F5344CB8AC3E}">
        <p14:creationId xmlns:p14="http://schemas.microsoft.com/office/powerpoint/2010/main" val="20270561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1ba301fa34e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b8eca4ba1473d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10FD71E1-42FC-4C0D-8F9C-379D11F8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Die sechs Bausteine der MyHiwi-Promptvorlage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556EA-FCCB-4722-973D-BE1D6E58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Ein prüfbarer Prompt verbindet Aufgabe, Kontext, Material, Anforderungen, Format und Prüfkriterien.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2CD96-D139-4057-B547-BF3C199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C66FF-4709-4DCF-A410-89929D6C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E11FA-B217-4573-BA57-B4E1398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Aufgabe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17005-D0A1-4D06-8FD8-B03A240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3F411-9CCE-4371-8211-8921690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83E6F-39BD-408B-B22A-86C85C5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Kontext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9D5A1-6008-4DA8-848E-01A1E591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65C00-0AE5-4E5C-A37A-B7910841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015FE-AD50-4702-95C6-41A6631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8D72A-2912-428A-BEF2-F4BD239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5DE3B-1F1E-40FA-983F-51B4A2A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D2F2D-968D-4F8A-B0EA-447CB72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Anforderungen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97638-7B9E-4FCA-BB11-8966CAD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7670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B8E87-73F4-45F5-8BAD-882A4E85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5E43E-562B-4F52-A6A8-AD6DABFA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Ausgabeformat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B6BEB-AA5F-4005-92A6-64993FC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45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FA515-B623-4A0E-AE4D-52D309C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52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4F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AE9EE-FD56-43D9-9BCB-2AE859C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Prüfkriterien</a:t>
            </a:r>
          </a:p>
        </p:txBody>
      </p:sp>
    </p:spTree>
    <p:extLst>
      <p:ext uri="{BB962C8B-B14F-4D97-AF65-F5344CB8AC3E}">
        <p14:creationId xmlns:p14="http://schemas.microsoft.com/office/powerpoint/2010/main" val="9666782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25814fb745b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a5eca360c40e2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1">
            <a:extLst xmlns:a="http://schemas.openxmlformats.org/drawingml/2006/main">
              <a:ext uri="{FF2B5EF4-FFF2-40B4-BE49-F238E27FC236}">
                <a16:creationId xmlns:a16="http://schemas.microsoft.com/office/drawing/2014/main" id="{3DD29FE8-5E27-462A-8692-22FAE0E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Basisübung: schlechten Prompt verbessern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9FFCD-ACF6-4B3B-9BAB-B8C0D7E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B81F0-F2D1-453F-B778-4B25B49B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7C101-B8C2-4182-B028-3F650C2E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Fehlende Angaben werden sichtbar gemacht und gezielt ergänzt.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A3845-B2AE-40E8-AFBA-56FC9E20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Verbessern Sie: „Schreib eine Antwort an den Kunden.“ Nutzen Sie alle sechs Bausteine.</a:t>
            </a:r>
          </a:p>
        </p:txBody>
      </p:sp>
    </p:spTree>
    <p:extLst>
      <p:ext uri="{BB962C8B-B14F-4D97-AF65-F5344CB8AC3E}">
        <p14:creationId xmlns:p14="http://schemas.microsoft.com/office/powerpoint/2010/main" val="1094861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32cdbdeb345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59082dbf34ac7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2">
            <a:extLst xmlns:a="http://schemas.openxmlformats.org/drawingml/2006/main">
              <a:ext uri="{FF2B5EF4-FFF2-40B4-BE49-F238E27FC236}">
                <a16:creationId xmlns:a16="http://schemas.microsoft.com/office/drawing/2014/main" id="{4970FAC2-E5AE-45D6-9DFF-7430278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Ausgabe kritisieren und gezielt überarbeiten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EF5BA-7204-43DC-98BA-4DF1C21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2F02E-63FB-4DE7-9056-7912B5D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70740-755F-4025-9C97-C36DA3C3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Eine KI-Kritik ist ein zusätzlicher Hinweis, nicht die Freigabe.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04843-D994-4E7C-923B-0A15890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Entwurf erzeugen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selbst prüfen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Kritik anfordern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gezielt überarbeiten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erneut prüfen</a:t>
            </a:r>
          </a:p>
        </p:txBody>
      </p:sp>
    </p:spTree>
    <p:extLst>
      <p:ext uri="{BB962C8B-B14F-4D97-AF65-F5344CB8AC3E}">
        <p14:creationId xmlns:p14="http://schemas.microsoft.com/office/powerpoint/2010/main" val="25682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F4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0E403-3ECF-4621-8DC5-51AACD7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MYHIWI · AI-STARTKLAR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21582-66D9-4818-938D-689DD39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04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585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0417C-C1C2-4526-BDB6-08359548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2EA"/>
                </a:solidFill>
                <a:latin typeface="Arial"/>
                <a:ea typeface="Arial"/>
                <a:cs typeface="Arial"/>
              </a:rPr>
              <a:t>Danach: Daten einordnen, verantwortlich handeln, praktisch anwenden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60691-CD71-4668-906E-E104785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Wiedereinstieg: ____ Uhr</a:t>
            </a:r>
          </a:p>
        </p:txBody>
      </p:sp>
      <p:sp>
        <p:nvSpPr>
          <p:cNvPr id="5" name="footer-rule-23">
            <a:extLst xmlns:a="http://schemas.openxmlformats.org/drawingml/2006/main">
              <a:ext uri="{FF2B5EF4-FFF2-40B4-BE49-F238E27FC236}">
                <a16:creationId xmlns:a16="http://schemas.microsoft.com/office/drawing/2014/main" id="{FCBBF5AF-75D2-4233-8D6B-D18A8D83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0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60551-C944-4884-9457-E4B21A1B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MyHiwi AI-Startklar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337EB-300A-41BC-9073-081B3FA8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v1.0 · Stand 22.07.2026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EAF7-7C5D-401F-AB26-3141AAE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933509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66425cb274e6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0a57095454b0f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4">
            <a:extLst xmlns:a="http://schemas.openxmlformats.org/drawingml/2006/main">
              <a:ext uri="{FF2B5EF4-FFF2-40B4-BE49-F238E27FC236}">
                <a16:creationId xmlns:a16="http://schemas.microsoft.com/office/drawing/2014/main" id="{AFA47DF7-8564-400E-8A3E-637A92C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Verantwortung bleibt beim Menschen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00060-3A5B-422C-ABB1-0260235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Menschen prüfen, entscheiden und geben frei.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57701-BF70-4E73-A3E5-A1BAADE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KI unterstützt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Menschen prüfen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Verantwortliche entscheiden und geben frei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FA400-84E3-422A-B973-DC4852A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5A6A4-9ACB-4352-948C-DE51A09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 unterstützt – Menschen prüfen, entscheiden und geben frei.</a:t>
            </a:r>
          </a:p>
        </p:txBody>
      </p:sp>
    </p:spTree>
    <p:extLst>
      <p:ext uri="{BB962C8B-B14F-4D97-AF65-F5344CB8AC3E}">
        <p14:creationId xmlns:p14="http://schemas.microsoft.com/office/powerpoint/2010/main" val="3069496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38ce4638d458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38229e3ea4ca1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5">
            <a:extLst xmlns:a="http://schemas.openxmlformats.org/drawingml/2006/main">
              <a:ext uri="{FF2B5EF4-FFF2-40B4-BE49-F238E27FC236}">
                <a16:creationId xmlns:a16="http://schemas.microsoft.com/office/drawing/2014/main" id="{D24EDE47-7291-4868-B604-CEEA976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Nur freigegebene Werkzeuge und Konten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07DE8-0F22-4BDB-ACC3-22005551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Ein privater oder kostenloser Zugang ist nicht automatisch für Unternehmensdaten geeignet.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B2AEE-33EC-408D-814D-F1B2DE5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Vor Nutzung klären: Werkzeug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Unternehmenskonto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Zweck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Einstellungen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interne Freigabe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A16E8-81A1-491E-94E4-E78BC8AD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CCBCB-C3B8-47E9-AC01-8A3DBD83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Betriebliche Freigabe von persönlichem Zugang trennen.</a:t>
            </a:r>
          </a:p>
        </p:txBody>
      </p:sp>
    </p:spTree>
    <p:extLst>
      <p:ext uri="{BB962C8B-B14F-4D97-AF65-F5344CB8AC3E}">
        <p14:creationId xmlns:p14="http://schemas.microsoft.com/office/powerpoint/2010/main" val="10492663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550e4c7cd418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1f7d398334723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6">
            <a:extLst xmlns:a="http://schemas.openxmlformats.org/drawingml/2006/main">
              <a:ext uri="{FF2B5EF4-FFF2-40B4-BE49-F238E27FC236}">
                <a16:creationId xmlns:a16="http://schemas.microsoft.com/office/drawing/2014/main" id="{56F0146B-CF10-4903-AF9E-FC0903B9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Die Datenampel im Überblick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7AAA-382F-43D0-89A5-F0C6334B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Grün nutzen, Gelb vorher klären, Rot im Basistraining niemals eingeben.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BB324-3A58-46A2-8B21-520C1553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A"/>
          </a:solidFill>
          <a:ln xmlns:a="http://schemas.openxmlformats.org/drawingml/2006/main" w="9525">
            <a:solidFill>
              <a:srgbClr val="B8B0A2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GRÜN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01985-6661-4AC8-80D0-4D16FBE5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nutzen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81878-5E36-49D7-B285-763FAAC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im freigegebenen Werkzeug grundsätzlich nutzbar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5BDB3-63D2-494C-9827-74D670F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BF"/>
          </a:solidFill>
          <a:ln xmlns:a="http://schemas.openxmlformats.org/drawingml/2006/main" w="9525">
            <a:solidFill>
              <a:srgbClr val="B8B0A2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GELB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9BAA9-B5D9-45CD-9590-AE1A7E1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stoppen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B05AA-2365-4036-AFBB-03F38F91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vorher intern prüfen und freigeben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3F940-A3C6-4CFB-A0E9-72EFF91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1D1"/>
          </a:solidFill>
          <a:ln xmlns:a="http://schemas.openxmlformats.org/drawingml/2006/main" w="9525">
            <a:solidFill>
              <a:srgbClr val="B8B0A2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ROT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E61FE-2EFB-4CF6-A267-9CA6B7DD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nicht eingeben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CC054-48A5-4F88-808B-3186E100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im Basistraining niemals eingeben</a:t>
            </a:r>
          </a:p>
        </p:txBody>
      </p:sp>
    </p:spTree>
    <p:extLst>
      <p:ext uri="{BB962C8B-B14F-4D97-AF65-F5344CB8AC3E}">
        <p14:creationId xmlns:p14="http://schemas.microsoft.com/office/powerpoint/2010/main" val="16830119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7de1eb1b14c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ea500182d441c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7">
            <a:extLst xmlns:a="http://schemas.openxmlformats.org/drawingml/2006/main">
              <a:ext uri="{FF2B5EF4-FFF2-40B4-BE49-F238E27FC236}">
                <a16:creationId xmlns:a16="http://schemas.microsoft.com/office/drawing/2014/main" id="{1AD82B43-F259-4398-88A2-0FC0B138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Grün: geeignete Beispieldaten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D7266-A056-4E90-B54C-9280EAE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Synthetische, veröffentlichte, ausdrücklich freigegebene oder robust anonymisierte Inhalte können grün sein.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B351C-FEC3-4DF9-9795-196C100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032D3-BBB0-4CA4-9978-684A52A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8C548-3078-416C-B3C7-F4CA4B8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Grün: synthetisch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75EB3-7521-4AA2-9707-866B4CB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78B39-A714-4F3F-9B41-43EBF1A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861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358DB-39E1-4D23-BCF1-B757D3E6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rechtmäßig veröffentlicht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4C5AA-66F5-4794-8F15-FB72864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01944-6D38-4B66-9B32-69DB93C4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70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77F1-4879-482F-8B67-C932A6F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135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ausdrücklich freigegeben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059B1-2BEA-4E82-B02F-34103E1A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7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B3978-E78A-4808-887D-9C4ED10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3705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0BA5F-AF08-4E22-B37D-EB96EB79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5135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robust anonymisiert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C22D0-841D-41D1-8D23-EA017321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61120-81B6-49EC-8C8A-DC9C209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5324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7051F-65F0-42BB-AEF5-1AF7D389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2300"/>
            <a:ext cx="5324475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ohne Personen- oder Geheimnisbezug</a:t>
            </a:r>
          </a:p>
        </p:txBody>
      </p:sp>
    </p:spTree>
    <p:extLst>
      <p:ext uri="{BB962C8B-B14F-4D97-AF65-F5344CB8AC3E}">
        <p14:creationId xmlns:p14="http://schemas.microsoft.com/office/powerpoint/2010/main" val="19484649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bef2422f2455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ce96eecc94fb9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8">
            <a:extLst xmlns:a="http://schemas.openxmlformats.org/drawingml/2006/main">
              <a:ext uri="{FF2B5EF4-FFF2-40B4-BE49-F238E27FC236}">
                <a16:creationId xmlns:a16="http://schemas.microsoft.com/office/drawing/2014/main" id="{D64D4A09-DE62-48C1-A68B-D0457ED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Gelb: erst intern prüfen und freigeben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7C36-E6CC-4107-A4E5-B50A194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Gelb bedeutet stoppen, Zuständigkeit und zulässige Umgebung klären.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AA53-370E-4A3A-9F07-F35E863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50554-7572-4105-AB90-8DAFDC8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8138C-4BD2-4E9F-B8FE-5FF8C53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A2A"/>
                </a:solidFill>
                <a:latin typeface="Arial"/>
                <a:ea typeface="Arial"/>
                <a:cs typeface="Arial"/>
              </a:rPr>
              <a:t>Gelb: interne oder pseudonymisierte Inhalte, fremde Werke, unklare Vertraulichkeit → zuerst intern klären</a:t>
            </a:r>
          </a:p>
        </p:txBody>
      </p:sp>
    </p:spTree>
    <p:extLst>
      <p:ext uri="{BB962C8B-B14F-4D97-AF65-F5344CB8AC3E}">
        <p14:creationId xmlns:p14="http://schemas.microsoft.com/office/powerpoint/2010/main" val="13056044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8654aadb046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b7a6f8047499d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29">
            <a:extLst xmlns:a="http://schemas.openxmlformats.org/drawingml/2006/main">
              <a:ext uri="{FF2B5EF4-FFF2-40B4-BE49-F238E27FC236}">
                <a16:creationId xmlns:a16="http://schemas.microsoft.com/office/drawing/2014/main" id="{195F1587-CB57-4B33-9FB0-A647309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Rot: im Basistraining niemals eingeben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B51A0-FE70-4B0A-8A04-B1FC55A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Sicherheitsdaten, Geheimnisse und sensible Personeninformationen bleiben aus Live-Übungen heraus.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BFA6-6852-444F-AB97-ECAEA33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Rot: Passwörter &amp; Schlüssel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Geschäftsgeheimnisse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nicht öffentliche Finanzdaten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Beschäftigten-, Kunden-, Patienten- &amp; Gesundheitsdaten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sicherheitskritische Informationen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2B8A-1CD4-434A-8377-366C089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2BCE-D795-4135-B3D3-D3CCC79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Harte Stoppsignale erkennen.</a:t>
            </a:r>
          </a:p>
        </p:txBody>
      </p:sp>
    </p:spTree>
    <p:extLst>
      <p:ext uri="{BB962C8B-B14F-4D97-AF65-F5344CB8AC3E}">
        <p14:creationId xmlns:p14="http://schemas.microsoft.com/office/powerpoint/2010/main" val="19835018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adde17de5437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753e0448041e6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0">
            <a:extLst xmlns:a="http://schemas.openxmlformats.org/drawingml/2006/main">
              <a:ext uri="{FF2B5EF4-FFF2-40B4-BE49-F238E27FC236}">
                <a16:creationId xmlns:a16="http://schemas.microsoft.com/office/drawing/2014/main" id="{D13F4D42-0680-4B47-A1EE-EE6E7D99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Folgenreiche Anwendungsfälle früh stoppen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FCAB-E60D-4CE4-A022-71C9420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Entscheidungen über Menschen und sicherheitskritische Freigaben gehören nicht in die Basisübung.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96FC-55D3-4275-94F4-45D6EE3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Stoppen bei: Beschäftigtenbewertung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Gesundheit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Kredit &amp; Scoring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Zugang zu Leistungen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sicherheitskritischer Freigabe</a:t>
            </a:r>
          </a:p>
          <a:p xmlns:a="http://schemas.openxmlformats.org/drawingml/2006/main">
            <a:pPr algn="l">
              <a:defRPr sz="1650" b="0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DDD5"/>
                </a:solidFill>
                <a:latin typeface="Arial"/>
                <a:ea typeface="Arial"/>
                <a:cs typeface="Arial"/>
              </a:rPr>
              <a:t>erheblicher Personenwirkung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D2422-E249-4285-89EB-18F0C1B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ADAA2-0F0C-45BC-B4D7-6B9DF258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Fälle mit erheblichen Auswirkungen früh stoppen.</a:t>
            </a:r>
          </a:p>
        </p:txBody>
      </p:sp>
    </p:spTree>
    <p:extLst>
      <p:ext uri="{BB962C8B-B14F-4D97-AF65-F5344CB8AC3E}">
        <p14:creationId xmlns:p14="http://schemas.microsoft.com/office/powerpoint/2010/main" val="12950961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30884bbe042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4eebbfef343d4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1">
            <a:extLst xmlns:a="http://schemas.openxmlformats.org/drawingml/2006/main">
              <a:ext uri="{FF2B5EF4-FFF2-40B4-BE49-F238E27FC236}">
                <a16:creationId xmlns:a16="http://schemas.microsoft.com/office/drawing/2014/main" id="{CAE2C65E-A401-48AC-8325-DA5EFE61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Menschliche Kontrolle und Freigabewege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42E09-95A4-4A6A-930A-38CC2BF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85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Jede relevante Ausgabe braucht eine benannte prüfende und freigebende Rolle.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8FD46-C406-446F-8109-D3DE10F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010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1430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Wer erstellt? Wer prüft fachlich? Wer gibt frei? Wohin wird Unsicherheit eskaliert?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71EB3-5698-4316-A415-44FB3AC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42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7BB7C-7501-4577-8617-AA26CEF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Zuständigkeit vom Entwurf bis zur Verwendung festlegen.</a:t>
            </a:r>
          </a:p>
        </p:txBody>
      </p:sp>
    </p:spTree>
    <p:extLst>
      <p:ext uri="{BB962C8B-B14F-4D97-AF65-F5344CB8AC3E}">
        <p14:creationId xmlns:p14="http://schemas.microsoft.com/office/powerpoint/2010/main" val="659501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30bd87b2043c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ab9ff5093485b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2">
            <a:extLst xmlns:a="http://schemas.openxmlformats.org/drawingml/2006/main">
              <a:ext uri="{FF2B5EF4-FFF2-40B4-BE49-F238E27FC236}">
                <a16:creationId xmlns:a16="http://schemas.microsoft.com/office/drawing/2014/main" id="{E9DAEDDC-DDF6-4583-A7E5-2DB30953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Fünf betriebliche Grundregeln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1F965-AB86-498D-A2E5-2A0FCA34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Werkzeugfreigabe, Datenampel, Prüfung, menschliche Verantwortung und Eskalation gehören zusammen.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9A9F7-5A94-4B1C-AAEF-D5F7607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BDFFC-D912-4FBC-ACE1-7346649A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Nur freigegebene Werkzeuge und Unternehmenskonten nutzen.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21FC9-6DD5-4EB6-B9A4-3ACDC97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53E11-4292-4042-8E13-2A95EBA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4321-82D2-46CC-BCB2-B7B51B73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Vor jeder Eingabe die Datenampel anwenden; rote Daten im Basisgebrauch nicht eingeben.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0C9E0-EF8D-4A7D-BA09-D1A1DA03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250E3-0731-4B83-B377-09106CD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D5519-4262-4AC5-88A9-15F3CBAE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KI-Ausgaben vor Verwendung auf Fakten, Quellen, Rechte, Ton und Wirkung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D0128-142F-4ABA-A336-85507091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FDF8C-6817-4F8B-8DFB-388650F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4E1D8-99B2-4A44-A0C2-D048AF74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Verantwortung und folgenreiche Entscheidungen bleiben beim Menschen.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1C413-3F69-4083-8C65-990249A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3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F6D74-DA15-4B56-AC29-62239C3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91FDF-22D6-4AB0-9DB4-DD81781E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625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Unsichere, sensible oder ungewöhnliche Fälle stoppen und intern eskalieren.</a:t>
            </a:r>
          </a:p>
        </p:txBody>
      </p:sp>
    </p:spTree>
    <p:extLst>
      <p:ext uri="{BB962C8B-B14F-4D97-AF65-F5344CB8AC3E}">
        <p14:creationId xmlns:p14="http://schemas.microsoft.com/office/powerpoint/2010/main" val="13912712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9322367cf4a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4546477f543fb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3">
            <a:extLst xmlns:a="http://schemas.openxmlformats.org/drawingml/2006/main">
              <a:ext uri="{FF2B5EF4-FFF2-40B4-BE49-F238E27FC236}">
                <a16:creationId xmlns:a16="http://schemas.microsoft.com/office/drawing/2014/main" id="{6C4B1A82-3510-421A-8B9F-5A6B9FA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Unternehmensbezogener Praxisfall und Ziel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996C7-6029-48E5-BD54-31AF71F5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2B1D6-761A-4B98-9F99-508D7185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7775C-D6EE-44E6-9158-2AF93DB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Die Übung beginnt mit Ziel, Datenrahmen und gewünschtem Arbeitsergebnis.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76231-810B-45FA-AF2F-253E915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Praxisfall: [synthetischer Fall]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Ziel: [Arbeitsergebnis]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Freigabeweg: [Rolle]</a:t>
            </a:r>
          </a:p>
        </p:txBody>
      </p:sp>
    </p:spTree>
    <p:extLst>
      <p:ext uri="{BB962C8B-B14F-4D97-AF65-F5344CB8AC3E}">
        <p14:creationId xmlns:p14="http://schemas.microsoft.com/office/powerpoint/2010/main" val="17919679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2b08880cc42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2b0e24eb471f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4">
            <a:extLst xmlns:a="http://schemas.openxmlformats.org/drawingml/2006/main">
              <a:ext uri="{FF2B5EF4-FFF2-40B4-BE49-F238E27FC236}">
                <a16:creationId xmlns:a16="http://schemas.microsoft.com/office/drawing/2014/main" id="{DC1427EB-4E42-4806-B187-C679D0E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Schritt 1: Aufgabe und gewünschtes Ergebnis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82843-7310-4E27-AABB-66181BB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AC150-BA5E-4A15-9737-B06F80B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9E460-79E9-40B5-A1A5-7C8FF0F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Erst das benötigte Ergebnis klären, dann das Werkzeug beauftragen.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1CE98-27D4-4E31-AAFB-7D7B3CF8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Was soll entstehen? Für wen? Wofür? Was wäre ein brauchbares Ergebnis?</a:t>
            </a:r>
          </a:p>
        </p:txBody>
      </p:sp>
    </p:spTree>
    <p:extLst>
      <p:ext uri="{BB962C8B-B14F-4D97-AF65-F5344CB8AC3E}">
        <p14:creationId xmlns:p14="http://schemas.microsoft.com/office/powerpoint/2010/main" val="12719432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c7be7ab7c45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68c2a410f43c2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5">
            <a:extLst xmlns:a="http://schemas.openxmlformats.org/drawingml/2006/main">
              <a:ext uri="{FF2B5EF4-FFF2-40B4-BE49-F238E27FC236}">
                <a16:creationId xmlns:a16="http://schemas.microsoft.com/office/drawing/2014/main" id="{45968EA8-38DE-40D1-9345-D1CD947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Schritt 2: Daten einordnen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527CD-06F8-42B4-9E85-2E6CF755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C936-B74A-4A32-A056-40C5FF44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F296D-E9A5-4990-A906-7CAE45D9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Nur freigegebenes grünes oder synthetisch ersetztes Material wird verwendet.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456F7-A83A-4223-A1B7-D2A4EB22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Material prüfen: Grün nutzen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Gelb ersetzen und intern klären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Rot stoppen</a:t>
            </a:r>
          </a:p>
        </p:txBody>
      </p:sp>
    </p:spTree>
    <p:extLst>
      <p:ext uri="{BB962C8B-B14F-4D97-AF65-F5344CB8AC3E}">
        <p14:creationId xmlns:p14="http://schemas.microsoft.com/office/powerpoint/2010/main" val="19266063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01947fa2646c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32fe42a9e4e70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6">
            <a:extLst xmlns:a="http://schemas.openxmlformats.org/drawingml/2006/main">
              <a:ext uri="{FF2B5EF4-FFF2-40B4-BE49-F238E27FC236}">
                <a16:creationId xmlns:a16="http://schemas.microsoft.com/office/drawing/2014/main" id="{B3452180-90A7-4784-9EC3-CD533B05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Schritt 3: Prompt formulieren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7A64-D124-4F6D-B646-F9641A9A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5733-E30C-49B5-8CBA-BF7AB7C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76175-C2CA-401B-8E93-7870DD9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Materialgrenze und Prüfkriterien gehören ausdrücklich in den Prompt.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D1238-7F0B-462D-8F40-2B18E38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Aufgabe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Kontext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freigegebenes Material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Anforderungen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Ausgabeformat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Prüfkriterien</a:t>
            </a:r>
          </a:p>
        </p:txBody>
      </p:sp>
    </p:spTree>
    <p:extLst>
      <p:ext uri="{BB962C8B-B14F-4D97-AF65-F5344CB8AC3E}">
        <p14:creationId xmlns:p14="http://schemas.microsoft.com/office/powerpoint/2010/main" val="14718591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6a8b70e53444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9de6e3ff2483b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7">
            <a:extLst xmlns:a="http://schemas.openxmlformats.org/drawingml/2006/main">
              <a:ext uri="{FF2B5EF4-FFF2-40B4-BE49-F238E27FC236}">
                <a16:creationId xmlns:a16="http://schemas.microsoft.com/office/drawing/2014/main" id="{E5F00797-7F8E-4620-8A3C-2398AAB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Schritt 4: Beispielausgabe analysieren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B1B62-2BCD-43C3-B13E-EACD53EF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1EC66-121F-4F80-918B-23E71BC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07D7B-8B72-466F-A0EF-41EF7BB3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Zuerst Beobachtungen und Risiken markieren, dann überarbeiten.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A7E1A-F61A-4DC5-A422-BF54B9D6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Markieren: brauchbar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unklar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unbelegt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falsch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unpassend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fehlend</a:t>
            </a:r>
          </a:p>
        </p:txBody>
      </p:sp>
    </p:spTree>
    <p:extLst>
      <p:ext uri="{BB962C8B-B14F-4D97-AF65-F5344CB8AC3E}">
        <p14:creationId xmlns:p14="http://schemas.microsoft.com/office/powerpoint/2010/main" val="25826269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dd95f06364f7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19da756af4466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8">
            <a:extLst xmlns:a="http://schemas.openxmlformats.org/drawingml/2006/main">
              <a:ext uri="{FF2B5EF4-FFF2-40B4-BE49-F238E27FC236}">
                <a16:creationId xmlns:a16="http://schemas.microsoft.com/office/drawing/2014/main" id="{37E1D3A2-173A-4894-B2A7-10EBDC1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Siebenstufige Prüfroutine und Verbesserung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6923-9E5A-44DA-870E-46CB287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5E55"/>
                </a:solidFill>
                <a:latin typeface="Arial"/>
                <a:ea typeface="Arial"/>
                <a:cs typeface="Arial"/>
              </a:rPr>
              <a:t>Fakten, Quellen, Vollständigkeit, Verzerrung, Rechte und Daten, Ton und Wirkung sowie Verantwortung werden einzeln geprüft.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43A89-400C-40E1-B655-CBA0CF5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14625"/>
            <a:ext cx="0" cy="2914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4F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7FB8-FCDF-48EC-B1B1-DF6FAD9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283F8-58AA-4740-B30C-934CE55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Fakten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19CF2-E9E2-46BE-8FF1-7F13ED8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22EBD-1AF6-405E-9192-C66196ED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Quellen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5A479-CE3C-435D-87D0-7A3147D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BD851-1D39-425F-9BC5-CED623E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Vollständigkeit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4C92-65E6-40A9-916A-F0C7BB1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90A93-E18F-465E-A467-40919BBF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Verzerrung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D1E0A-7888-4BB5-9BC6-ECA8A20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4596D-A6EF-4437-B709-48AB225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Rechte &amp; Daten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75983-3314-495A-B9F9-ACF0D02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11991-434C-4BD1-B91C-DFE23F0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Ton &amp; Wirkung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A71B8-41D7-44B1-B03F-B2CD2D0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FCE8F-3ABB-4637-9568-DD3E4175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A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A"/>
                </a:solidFill>
                <a:latin typeface="Arial"/>
                <a:ea typeface="Arial"/>
                <a:cs typeface="Arial"/>
              </a:rPr>
              <a:t>Verantwortung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CB3BF-3CCE-40F1-8D4D-8203409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verwenden · verbessern · verwerfen · eskalieren</a:t>
            </a:r>
          </a:p>
        </p:txBody>
      </p:sp>
    </p:spTree>
    <p:extLst>
      <p:ext uri="{BB962C8B-B14F-4D97-AF65-F5344CB8AC3E}">
        <p14:creationId xmlns:p14="http://schemas.microsoft.com/office/powerpoint/2010/main" val="10849651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ab68d2ac8423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78eba76fe47cf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39">
            <a:extLst xmlns:a="http://schemas.openxmlformats.org/drawingml/2006/main">
              <a:ext uri="{FF2B5EF4-FFF2-40B4-BE49-F238E27FC236}">
                <a16:creationId xmlns:a16="http://schemas.microsoft.com/office/drawing/2014/main" id="{F3D10BF0-8E7B-4FC7-803F-9ED7CA3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Zehnteiliger Lern- und Transfercheck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A4E6F-BE65-421F-B36C-0A3BB30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CD8F-FF81-4A35-9D2B-B7968B8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F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FC9"/>
                </a:solidFill>
                <a:latin typeface="Arial"/>
                <a:ea typeface="Arial"/>
                <a:cs typeface="Arial"/>
              </a:rPr>
              <a:t>ANWENDEN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A5B6B-B04C-49AA-A300-B1CFA8F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1F2A2A"/>
                </a:solidFill>
                <a:latin typeface="Arial Narrow"/>
                <a:ea typeface="Arial Narrow"/>
                <a:cs typeface="Arial Narrow"/>
              </a:rPr>
              <a:t>Der Check unterstützt Lernen und Transfer, nicht die Bewertung einzelner Beschäftigter.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01BF4-DB9E-4018-98D8-31FC40B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33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Zehn Fragen: Funktionsweise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Prompt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Risiken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Datenampel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Verantwortung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Prüfung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Eskalation</a:t>
            </a:r>
          </a:p>
          <a:p xmlns:a="http://schemas.openxmlformats.org/drawingml/2006/main">
            <a:pPr algn="l">
              <a:defRPr sz="1650" b="0">
                <a:solidFill>
                  <a:srgbClr val="5A5E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E55"/>
                </a:solidFill>
                <a:latin typeface="Arial"/>
                <a:ea typeface="Arial"/>
                <a:cs typeface="Arial"/>
              </a:rPr>
              <a:t>Toolzugang</a:t>
            </a:r>
          </a:p>
        </p:txBody>
      </p:sp>
    </p:spTree>
    <p:extLst>
      <p:ext uri="{BB962C8B-B14F-4D97-AF65-F5344CB8AC3E}">
        <p14:creationId xmlns:p14="http://schemas.microsoft.com/office/powerpoint/2010/main" val="10534097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F2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2181b541b43d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59ececdc84880"/>
          <a:stretch xmlns:a="http://schemas.openxmlformats.org/drawingml/2006/main"/>
        </p:blipFill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title-40">
            <a:extLst xmlns:a="http://schemas.openxmlformats.org/drawingml/2006/main">
              <a:ext uri="{FF2B5EF4-FFF2-40B4-BE49-F238E27FC236}">
                <a16:creationId xmlns:a16="http://schemas.microsoft.com/office/drawing/2014/main" id="{2C0BC96C-C864-46B4-8D39-68BAA6A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Ansprechpartner und nächste Schritte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FEB2-1DB0-4E28-8B0F-FC0360C6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F6F2EA"/>
                </a:solidFill>
                <a:latin typeface="Arial Narrow"/>
                <a:ea typeface="Arial Narrow"/>
                <a:cs typeface="Arial Narrow"/>
              </a:rPr>
              <a:t>Der nächste Schritt ist klein, freigegeben und prüfbar.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55DB3-0C20-454E-B9A9-D919CB1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Nächster sicherer Anwendungsfall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255E9-823C-479F-BEFE-EE3F6152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8794-585B-4F04-BB93-923F344F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Fachliche Prüfung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CB3C5-7388-4824-B2A0-EBE3453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528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47063-F008-4C1E-90AD-43A6DF7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Toolfreigabe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4D43A-777F-44C4-B647-5C2A75A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58533-44BD-41C4-8895-A4EF04CA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148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Datenschutz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65E15-4727-4E2B-9E30-BF57ABE5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D818C-BC81-4EB3-BB6E-A22D08E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Informationssicherheit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63FA0-6784-41FF-B28E-05857438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B022B-EC90-4F0E-8B00-65BFF37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DDD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DDD5"/>
                </a:solidFill>
                <a:latin typeface="Arial"/>
                <a:ea typeface="Arial"/>
                <a:cs typeface="Arial"/>
              </a:rPr>
              <a:t>Eskalationsstelle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B762C-64A3-411E-A1DB-77F23D8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2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2EA"/>
                </a:solidFill>
                <a:latin typeface="Arial"/>
                <a:ea typeface="Arial"/>
                <a:cs typeface="Arial"/>
              </a:rPr>
              <a:t>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570487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2026-07-22T16:33:03.7410000Z</dcterms:created>
  <dcterms:modified xsi:type="dcterms:W3CDTF">2026-07-22T16:33:03.7410000Z</dcterms:modified>
</coreProperties>
</file>