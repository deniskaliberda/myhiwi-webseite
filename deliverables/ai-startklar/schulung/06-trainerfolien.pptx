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e34445e5b743a4" /><Relationship Type="http://schemas.openxmlformats.org/officeDocument/2006/relationships/extended-properties" Target="/docProps/app.xml" Id="R276012775212451f" /><Relationship Type="http://schemas.openxmlformats.org/officeDocument/2006/relationships/officeDocument" Target="/ppt/presentation.xml" Id="R0fe6701785324ba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102e2876be4afc"/>
  </p:sldMasterIdLst>
  <p:notesMasterIdLst>
    <p:notesMasterId xmlns:r="http://schemas.openxmlformats.org/officeDocument/2006/relationships" r:id="R86cc14b96a2447f6"/>
  </p:notesMasterIdLst>
  <p:sldIdLst>
    <p:sldId xmlns:r="http://schemas.openxmlformats.org/officeDocument/2006/relationships" id="256" r:id="R2000182621fe48e6"/>
    <p:sldId xmlns:r="http://schemas.openxmlformats.org/officeDocument/2006/relationships" id="257" r:id="Ra4a88413400944f8"/>
    <p:sldId xmlns:r="http://schemas.openxmlformats.org/officeDocument/2006/relationships" id="258" r:id="Rf57db6d8bef64ecd"/>
    <p:sldId xmlns:r="http://schemas.openxmlformats.org/officeDocument/2006/relationships" id="259" r:id="Rce089dd6f8ba4c6e"/>
    <p:sldId xmlns:r="http://schemas.openxmlformats.org/officeDocument/2006/relationships" id="260" r:id="R9525980c7c6446bc"/>
    <p:sldId xmlns:r="http://schemas.openxmlformats.org/officeDocument/2006/relationships" id="261" r:id="R82551f12d6c04802"/>
    <p:sldId xmlns:r="http://schemas.openxmlformats.org/officeDocument/2006/relationships" id="262" r:id="R1918da25e6474462"/>
    <p:sldId xmlns:r="http://schemas.openxmlformats.org/officeDocument/2006/relationships" id="263" r:id="R05716d5e09ee46b2"/>
    <p:sldId xmlns:r="http://schemas.openxmlformats.org/officeDocument/2006/relationships" id="264" r:id="Rbeaa3f56816c47c1"/>
    <p:sldId xmlns:r="http://schemas.openxmlformats.org/officeDocument/2006/relationships" id="265" r:id="Rf470cad2e71343df"/>
    <p:sldId xmlns:r="http://schemas.openxmlformats.org/officeDocument/2006/relationships" id="266" r:id="R672c0b4e178949cf"/>
    <p:sldId xmlns:r="http://schemas.openxmlformats.org/officeDocument/2006/relationships" id="267" r:id="R656e49b7047d42a4"/>
    <p:sldId xmlns:r="http://schemas.openxmlformats.org/officeDocument/2006/relationships" id="268" r:id="Rb9e9d57472814b42"/>
    <p:sldId xmlns:r="http://schemas.openxmlformats.org/officeDocument/2006/relationships" id="269" r:id="R7138fcd704b54638"/>
    <p:sldId xmlns:r="http://schemas.openxmlformats.org/officeDocument/2006/relationships" id="270" r:id="R9847a81c90d447e8"/>
    <p:sldId xmlns:r="http://schemas.openxmlformats.org/officeDocument/2006/relationships" id="271" r:id="Re5a98ea832d74c81"/>
    <p:sldId xmlns:r="http://schemas.openxmlformats.org/officeDocument/2006/relationships" id="272" r:id="Ra73e9b8d8a484f65"/>
    <p:sldId xmlns:r="http://schemas.openxmlformats.org/officeDocument/2006/relationships" id="273" r:id="R3cc2e875095e4bb6"/>
    <p:sldId xmlns:r="http://schemas.openxmlformats.org/officeDocument/2006/relationships" id="274" r:id="Rd86d988d18964a54"/>
    <p:sldId xmlns:r="http://schemas.openxmlformats.org/officeDocument/2006/relationships" id="275" r:id="Rf1f88acf6df04946"/>
    <p:sldId xmlns:r="http://schemas.openxmlformats.org/officeDocument/2006/relationships" id="276" r:id="Rde8a3c71f22a41f7"/>
    <p:sldId xmlns:r="http://schemas.openxmlformats.org/officeDocument/2006/relationships" id="277" r:id="R6b4c5cf5fbea4105"/>
    <p:sldId xmlns:r="http://schemas.openxmlformats.org/officeDocument/2006/relationships" id="278" r:id="R46b869af0ff640f1"/>
    <p:sldId xmlns:r="http://schemas.openxmlformats.org/officeDocument/2006/relationships" id="279" r:id="Rdcbeb51834334ff8"/>
    <p:sldId xmlns:r="http://schemas.openxmlformats.org/officeDocument/2006/relationships" id="280" r:id="R7100ffe412f24712"/>
    <p:sldId xmlns:r="http://schemas.openxmlformats.org/officeDocument/2006/relationships" id="281" r:id="R52adf0a18b8348f0"/>
    <p:sldId xmlns:r="http://schemas.openxmlformats.org/officeDocument/2006/relationships" id="282" r:id="R10e9f2ef289747b4"/>
    <p:sldId xmlns:r="http://schemas.openxmlformats.org/officeDocument/2006/relationships" id="283" r:id="R8a9a7a8e4f32475d"/>
    <p:sldId xmlns:r="http://schemas.openxmlformats.org/officeDocument/2006/relationships" id="284" r:id="R7419bfd2e08c4c75"/>
    <p:sldId xmlns:r="http://schemas.openxmlformats.org/officeDocument/2006/relationships" id="285" r:id="R4bfe8b870f19492e"/>
    <p:sldId xmlns:r="http://schemas.openxmlformats.org/officeDocument/2006/relationships" id="286" r:id="R76f59d758a914af0"/>
    <p:sldId xmlns:r="http://schemas.openxmlformats.org/officeDocument/2006/relationships" id="287" r:id="R929bc20864c84898"/>
    <p:sldId xmlns:r="http://schemas.openxmlformats.org/officeDocument/2006/relationships" id="288" r:id="Rb02f88a33a1d4f43"/>
    <p:sldId xmlns:r="http://schemas.openxmlformats.org/officeDocument/2006/relationships" id="289" r:id="R40e8fa728d3b4304"/>
    <p:sldId xmlns:r="http://schemas.openxmlformats.org/officeDocument/2006/relationships" id="290" r:id="R5416d7eb096e4da9"/>
    <p:sldId xmlns:r="http://schemas.openxmlformats.org/officeDocument/2006/relationships" id="291" r:id="R44771abeae104184"/>
    <p:sldId xmlns:r="http://schemas.openxmlformats.org/officeDocument/2006/relationships" id="292" r:id="Rbdc85aa8d4604c45"/>
    <p:sldId xmlns:r="http://schemas.openxmlformats.org/officeDocument/2006/relationships" id="293" r:id="R54061b71674842da"/>
    <p:sldId xmlns:r="http://schemas.openxmlformats.org/officeDocument/2006/relationships" id="294" r:id="R6d45d442d02047d7"/>
    <p:sldId xmlns:r="http://schemas.openxmlformats.org/officeDocument/2006/relationships" id="295" r:id="R6b25399e6bea443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6e6677428648de" /><Relationship Type="http://schemas.openxmlformats.org/officeDocument/2006/relationships/slideMaster" Target="/ppt/slideMasters/slideMaster1.xml" Id="Rdb102e2876be4afc" /><Relationship Type="http://schemas.openxmlformats.org/officeDocument/2006/relationships/notesMaster" Target="/ppt/notesMasters/notesMaster1.xml" Id="R86cc14b96a2447f6" /><Relationship Type="http://schemas.openxmlformats.org/officeDocument/2006/relationships/presProps" Target="/ppt/presProps.xml" Id="Rf6c797a0520d4d85" /><Relationship Type="http://schemas.openxmlformats.org/officeDocument/2006/relationships/tableStyles" Target="/ppt/tableStyles.xml" Id="R7018f5521747433a" /><Relationship Type="http://schemas.openxmlformats.org/officeDocument/2006/relationships/slide" Target="/ppt/slides/slide1.xml" Id="R2000182621fe48e6" /><Relationship Type="http://schemas.openxmlformats.org/officeDocument/2006/relationships/slide" Target="/ppt/slides/slide2.xml" Id="Ra4a88413400944f8" /><Relationship Type="http://schemas.openxmlformats.org/officeDocument/2006/relationships/slide" Target="/ppt/slides/slide3.xml" Id="Rf57db6d8bef64ecd" /><Relationship Type="http://schemas.openxmlformats.org/officeDocument/2006/relationships/slide" Target="/ppt/slides/slide4.xml" Id="Rce089dd6f8ba4c6e" /><Relationship Type="http://schemas.openxmlformats.org/officeDocument/2006/relationships/slide" Target="/ppt/slides/slide5.xml" Id="R9525980c7c6446bc" /><Relationship Type="http://schemas.openxmlformats.org/officeDocument/2006/relationships/slide" Target="/ppt/slides/slide6.xml" Id="R82551f12d6c04802" /><Relationship Type="http://schemas.openxmlformats.org/officeDocument/2006/relationships/slide" Target="/ppt/slides/slide7.xml" Id="R1918da25e6474462" /><Relationship Type="http://schemas.openxmlformats.org/officeDocument/2006/relationships/slide" Target="/ppt/slides/slide8.xml" Id="R05716d5e09ee46b2" /><Relationship Type="http://schemas.openxmlformats.org/officeDocument/2006/relationships/slide" Target="/ppt/slides/slide9.xml" Id="Rbeaa3f56816c47c1" /><Relationship Type="http://schemas.openxmlformats.org/officeDocument/2006/relationships/slide" Target="/ppt/slides/slide10.xml" Id="Rf470cad2e71343df" /><Relationship Type="http://schemas.openxmlformats.org/officeDocument/2006/relationships/slide" Target="/ppt/slides/slide11.xml" Id="R672c0b4e178949cf" /><Relationship Type="http://schemas.openxmlformats.org/officeDocument/2006/relationships/slide" Target="/ppt/slides/slide12.xml" Id="R656e49b7047d42a4" /><Relationship Type="http://schemas.openxmlformats.org/officeDocument/2006/relationships/slide" Target="/ppt/slides/slide13.xml" Id="Rb9e9d57472814b42" /><Relationship Type="http://schemas.openxmlformats.org/officeDocument/2006/relationships/slide" Target="/ppt/slides/slide14.xml" Id="R7138fcd704b54638" /><Relationship Type="http://schemas.openxmlformats.org/officeDocument/2006/relationships/slide" Target="/ppt/slides/slide15.xml" Id="R9847a81c90d447e8" /><Relationship Type="http://schemas.openxmlformats.org/officeDocument/2006/relationships/slide" Target="/ppt/slides/slide16.xml" Id="Re5a98ea832d74c81" /><Relationship Type="http://schemas.openxmlformats.org/officeDocument/2006/relationships/slide" Target="/ppt/slides/slide17.xml" Id="Ra73e9b8d8a484f65" /><Relationship Type="http://schemas.openxmlformats.org/officeDocument/2006/relationships/slide" Target="/ppt/slides/slide18.xml" Id="R3cc2e875095e4bb6" /><Relationship Type="http://schemas.openxmlformats.org/officeDocument/2006/relationships/slide" Target="/ppt/slides/slide19.xml" Id="Rd86d988d18964a54" /><Relationship Type="http://schemas.openxmlformats.org/officeDocument/2006/relationships/slide" Target="/ppt/slides/slide20.xml" Id="Rf1f88acf6df04946" /><Relationship Type="http://schemas.openxmlformats.org/officeDocument/2006/relationships/slide" Target="/ppt/slides/slide21.xml" Id="Rde8a3c71f22a41f7" /><Relationship Type="http://schemas.openxmlformats.org/officeDocument/2006/relationships/slide" Target="/ppt/slides/slide22.xml" Id="R6b4c5cf5fbea4105" /><Relationship Type="http://schemas.openxmlformats.org/officeDocument/2006/relationships/slide" Target="/ppt/slides/slide23.xml" Id="R46b869af0ff640f1" /><Relationship Type="http://schemas.openxmlformats.org/officeDocument/2006/relationships/slide" Target="/ppt/slides/slide24.xml" Id="Rdcbeb51834334ff8" /><Relationship Type="http://schemas.openxmlformats.org/officeDocument/2006/relationships/slide" Target="/ppt/slides/slide25.xml" Id="R7100ffe412f24712" /><Relationship Type="http://schemas.openxmlformats.org/officeDocument/2006/relationships/slide" Target="/ppt/slides/slide26.xml" Id="R52adf0a18b8348f0" /><Relationship Type="http://schemas.openxmlformats.org/officeDocument/2006/relationships/slide" Target="/ppt/slides/slide27.xml" Id="R10e9f2ef289747b4" /><Relationship Type="http://schemas.openxmlformats.org/officeDocument/2006/relationships/slide" Target="/ppt/slides/slide28.xml" Id="R8a9a7a8e4f32475d" /><Relationship Type="http://schemas.openxmlformats.org/officeDocument/2006/relationships/slide" Target="/ppt/slides/slide29.xml" Id="R7419bfd2e08c4c75" /><Relationship Type="http://schemas.openxmlformats.org/officeDocument/2006/relationships/slide" Target="/ppt/slides/slide30.xml" Id="R4bfe8b870f19492e" /><Relationship Type="http://schemas.openxmlformats.org/officeDocument/2006/relationships/slide" Target="/ppt/slides/slide31.xml" Id="R76f59d758a914af0" /><Relationship Type="http://schemas.openxmlformats.org/officeDocument/2006/relationships/slide" Target="/ppt/slides/slide32.xml" Id="R929bc20864c84898" /><Relationship Type="http://schemas.openxmlformats.org/officeDocument/2006/relationships/slide" Target="/ppt/slides/slide33.xml" Id="Rb02f88a33a1d4f43" /><Relationship Type="http://schemas.openxmlformats.org/officeDocument/2006/relationships/slide" Target="/ppt/slides/slide34.xml" Id="R40e8fa728d3b4304" /><Relationship Type="http://schemas.openxmlformats.org/officeDocument/2006/relationships/slide" Target="/ppt/slides/slide35.xml" Id="R5416d7eb096e4da9" /><Relationship Type="http://schemas.openxmlformats.org/officeDocument/2006/relationships/slide" Target="/ppt/slides/slide36.xml" Id="R44771abeae104184" /><Relationship Type="http://schemas.openxmlformats.org/officeDocument/2006/relationships/slide" Target="/ppt/slides/slide37.xml" Id="Rbdc85aa8d4604c45" /><Relationship Type="http://schemas.openxmlformats.org/officeDocument/2006/relationships/slide" Target="/ppt/slides/slide38.xml" Id="R54061b71674842da" /><Relationship Type="http://schemas.openxmlformats.org/officeDocument/2006/relationships/slide" Target="/ppt/slides/slide39.xml" Id="R6d45d442d02047d7" /><Relationship Type="http://schemas.openxmlformats.org/officeDocument/2006/relationships/slide" Target="/ppt/slides/slide40.xml" Id="R6b25399e6bea44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d0b56be188243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8b36c8ffea474b" /><Relationship Type="http://schemas.openxmlformats.org/officeDocument/2006/relationships/notesMaster" Target="/ppt/notesMasters/notesMaster1.xml" Id="R97aaf8ab97ee44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2fa80b3a6b44c8" /><Relationship Type="http://schemas.openxmlformats.org/officeDocument/2006/relationships/notesMaster" Target="/ppt/notesMasters/notesMaster1.xml" Id="Rcd037a74c1dc46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1bf48d3c2a04014" /><Relationship Type="http://schemas.openxmlformats.org/officeDocument/2006/relationships/notesMaster" Target="/ppt/notesMasters/notesMaster1.xml" Id="R72b794ace4914b9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3fbe17c591d49ec" /><Relationship Type="http://schemas.openxmlformats.org/officeDocument/2006/relationships/notesMaster" Target="/ppt/notesMasters/notesMaster1.xml" Id="R458dda20f0ba41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a154a2315014f59" /><Relationship Type="http://schemas.openxmlformats.org/officeDocument/2006/relationships/notesMaster" Target="/ppt/notesMasters/notesMaster1.xml" Id="Ra32fa9f48c0f49e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93a6763e5048aa" /><Relationship Type="http://schemas.openxmlformats.org/officeDocument/2006/relationships/notesMaster" Target="/ppt/notesMasters/notesMaster1.xml" Id="Rc52ab8e26b9f458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fb6261e26e4389" /><Relationship Type="http://schemas.openxmlformats.org/officeDocument/2006/relationships/notesMaster" Target="/ppt/notesMasters/notesMaster1.xml" Id="Rd888046c0182498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5dd7abab0e848f9" /><Relationship Type="http://schemas.openxmlformats.org/officeDocument/2006/relationships/notesMaster" Target="/ppt/notesMasters/notesMaster1.xml" Id="Ra01cd45cdb6b45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d0e84070bdf4daa" /><Relationship Type="http://schemas.openxmlformats.org/officeDocument/2006/relationships/notesMaster" Target="/ppt/notesMasters/notesMaster1.xml" Id="Re907df7b055244f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147a2abaddf45da" /><Relationship Type="http://schemas.openxmlformats.org/officeDocument/2006/relationships/notesMaster" Target="/ppt/notesMasters/notesMaster1.xml" Id="R64a12c25868049b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a8406fbcd14437c" /><Relationship Type="http://schemas.openxmlformats.org/officeDocument/2006/relationships/notesMaster" Target="/ppt/notesMasters/notesMaster1.xml" Id="R7549c95412754c4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c53bce656df4711" /><Relationship Type="http://schemas.openxmlformats.org/officeDocument/2006/relationships/notesMaster" Target="/ppt/notesMasters/notesMaster1.xml" Id="R530fe0500ab5460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a7eee257e814a00" /><Relationship Type="http://schemas.openxmlformats.org/officeDocument/2006/relationships/notesMaster" Target="/ppt/notesMasters/notesMaster1.xml" Id="R6740e90b7baf4d4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8235abff27541fb" /><Relationship Type="http://schemas.openxmlformats.org/officeDocument/2006/relationships/notesMaster" Target="/ppt/notesMasters/notesMaster1.xml" Id="R58fab4154ca448a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9c9273521874ce2" /><Relationship Type="http://schemas.openxmlformats.org/officeDocument/2006/relationships/notesMaster" Target="/ppt/notesMasters/notesMaster1.xml" Id="R0dc1f1087cec41c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ae2f984e92d46b2" /><Relationship Type="http://schemas.openxmlformats.org/officeDocument/2006/relationships/notesMaster" Target="/ppt/notesMasters/notesMaster1.xml" Id="R881e42e2e1cd480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4a5716a0bce4905" /><Relationship Type="http://schemas.openxmlformats.org/officeDocument/2006/relationships/notesMaster" Target="/ppt/notesMasters/notesMaster1.xml" Id="R652f65033736453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371c04b03654ba5" /><Relationship Type="http://schemas.openxmlformats.org/officeDocument/2006/relationships/notesMaster" Target="/ppt/notesMasters/notesMaster1.xml" Id="Ra73ead42fc99416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b4dee23adc143a9" /><Relationship Type="http://schemas.openxmlformats.org/officeDocument/2006/relationships/notesMaster" Target="/ppt/notesMasters/notesMaster1.xml" Id="Rc7f7ca28d0144eb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51c7f31cc9e4115" /><Relationship Type="http://schemas.openxmlformats.org/officeDocument/2006/relationships/notesMaster" Target="/ppt/notesMasters/notesMaster1.xml" Id="R1223c4cd0fcd494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73c52649a974f20" /><Relationship Type="http://schemas.openxmlformats.org/officeDocument/2006/relationships/notesMaster" Target="/ppt/notesMasters/notesMaster1.xml" Id="R95d36ca91f5d4b9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4b3d60f61ce42ff" /><Relationship Type="http://schemas.openxmlformats.org/officeDocument/2006/relationships/notesMaster" Target="/ppt/notesMasters/notesMaster1.xml" Id="Rd4218953704f436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8de82f5ad16459b" /><Relationship Type="http://schemas.openxmlformats.org/officeDocument/2006/relationships/notesMaster" Target="/ppt/notesMasters/notesMaster1.xml" Id="R78b5d4e352b444b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6caf21e56f54a43" /><Relationship Type="http://schemas.openxmlformats.org/officeDocument/2006/relationships/notesMaster" Target="/ppt/notesMasters/notesMaster1.xml" Id="R262cb247683941f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96f174ab6634028" /><Relationship Type="http://schemas.openxmlformats.org/officeDocument/2006/relationships/notesMaster" Target="/ppt/notesMasters/notesMaster1.xml" Id="Rb11f1d6f9af94e0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5834478f64449e1" /><Relationship Type="http://schemas.openxmlformats.org/officeDocument/2006/relationships/notesMaster" Target="/ppt/notesMasters/notesMaster1.xml" Id="Rdd63dd4c58ce414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fe4beffc6ea4a86" /><Relationship Type="http://schemas.openxmlformats.org/officeDocument/2006/relationships/notesMaster" Target="/ppt/notesMasters/notesMaster1.xml" Id="R08c1207e0201451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c66a453b6ba427f" /><Relationship Type="http://schemas.openxmlformats.org/officeDocument/2006/relationships/notesMaster" Target="/ppt/notesMasters/notesMaster1.xml" Id="Ra039e2b84f534c2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282ea9cf3804dfe" /><Relationship Type="http://schemas.openxmlformats.org/officeDocument/2006/relationships/notesMaster" Target="/ppt/notesMasters/notesMaster1.xml" Id="Rf2c6340d4755485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e90eac78d5e4fa5" /><Relationship Type="http://schemas.openxmlformats.org/officeDocument/2006/relationships/notesMaster" Target="/ppt/notesMasters/notesMaster1.xml" Id="R95c4dfe5ae1f447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e1a6407e68d4d7c" /><Relationship Type="http://schemas.openxmlformats.org/officeDocument/2006/relationships/notesMaster" Target="/ppt/notesMasters/notesMaster1.xml" Id="Raecc30ac47d34ef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59b748ad65f4791" /><Relationship Type="http://schemas.openxmlformats.org/officeDocument/2006/relationships/notesMaster" Target="/ppt/notesMasters/notesMaster1.xml" Id="R1c9f83372c8942e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796c7e3a7a84776" /><Relationship Type="http://schemas.openxmlformats.org/officeDocument/2006/relationships/notesMaster" Target="/ppt/notesMasters/notesMaster1.xml" Id="Rddc2ed2de25c45e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d3ef59dcdd94439" /><Relationship Type="http://schemas.openxmlformats.org/officeDocument/2006/relationships/notesMaster" Target="/ppt/notesMasters/notesMaster1.xml" Id="R35e4a539623d429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8c519f5118c4a20" /><Relationship Type="http://schemas.openxmlformats.org/officeDocument/2006/relationships/notesMaster" Target="/ppt/notesMasters/notesMaster1.xml" Id="Ra2b8b55efa7d471a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eeea97254884e76" /><Relationship Type="http://schemas.openxmlformats.org/officeDocument/2006/relationships/notesMaster" Target="/ppt/notesMasters/notesMaster1.xml" Id="Rdf6cd14372274d2f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bc952ca05d3408a" /><Relationship Type="http://schemas.openxmlformats.org/officeDocument/2006/relationships/notesMaster" Target="/ppt/notesMasters/notesMaster1.xml" Id="Ra7f0207ab877407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c0f85d8d01c4338" /><Relationship Type="http://schemas.openxmlformats.org/officeDocument/2006/relationships/notesMaster" Target="/ppt/notesMasters/notesMaster1.xml" Id="R144ee198dc08488e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ed0c35eb623f4fa2" /><Relationship Type="http://schemas.openxmlformats.org/officeDocument/2006/relationships/notesMaster" Target="/ppt/notesMasters/notesMaster1.xml" Id="R6e658e7c33be491f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b66aff3098c045f9" /><Relationship Type="http://schemas.openxmlformats.org/officeDocument/2006/relationships/notesMaster" Target="/ppt/notesMasters/notesMaster1.xml" Id="Racf920b7829f4d6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Veranstaltung und Verantwortliche eindeutig einordnen.</a:t>
            </a:r>
          </a:p>
          <a:p xmlns:a="http://schemas.openxmlformats.org/drawingml/2006/main">
            <a:r>
              <a:t>Kernaussage: Heute beginnt ein gemeinsamer, verantwortungsvoller Einstieg in generative KI.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Begrüßen Sie die Gruppe, nennen Sie Ihre Rolle und erklären Sie, dass das Training anwendbare Grundlagen vermittelt, aber keine Rechts-, Datenschutz-, Sicherheits- oder Toolfreigabe ersetzt.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Ruhige Titelfläche mit MyHiwi-Wortmarke und drei verbundenen Symbolen für Nutzen, Prüfung und Verantwortung.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Ein klares und realistisches Lernziel setzen.</a:t>
            </a:r>
          </a:p>
          <a:p xmlns:a="http://schemas.openxmlformats.org/drawingml/2006/main">
            <a:r>
              <a:t>Kernaussage: Die Teilnehmenden lernen entscheiden, formulieren, einordnen, prüfen und eskalieren.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Sagen Sie ausdrücklich, dass Teilnahme kein bestimmtes individuelles Kompetenzniveau garantiert und kein Compliance-Nachweis 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Fünf Stationen eines übersichtlichen Wegs.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Orientierung über Lernphasen und Praxisanteile geben.</a:t>
            </a:r>
          </a:p>
          <a:p xmlns:a="http://schemas.openxmlformats.org/drawingml/2006/main">
            <a:r>
              <a:t>Kernaussage: Erklärung, Anwendung und Reflexion greifen ineinander.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Nennen Sie die vereinbarte Pausen- und Endzeit mündlich und erklären Sie, dass Fragen gesammelt oder direkt eingebunden werden.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Horizontale Lernreise mit acht Stationen und einer hervorgehobenen Pause.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Vor der ersten Interaktion eine klare Datengrenze setzen.</a:t>
            </a:r>
          </a:p>
          <a:p xmlns:a="http://schemas.openxmlformats.org/drawingml/2006/main">
            <a:r>
              <a:t>Kernaussage: Geübt wird nur mit synthetischen oder robust anonymisierten Inhalten.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Rote Daten werden niemals live eingegeben. Gelbe Daten werden standardmäßig durch synthetische Inhalte ersetzt. Bei Unsicherheit wird gestoppt und die intern zuständige Stelle gefragt.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Geschützter Übungsraum mit Beispielkarten statt realer Dokumente.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Vorwissen sichtbar machen, ohne einzelne Personen zu bewerten.</a:t>
            </a:r>
          </a:p>
          <a:p xmlns:a="http://schemas.openxmlformats.org/drawingml/2006/main">
            <a:r>
              <a:t>Kernaussage: Unterschiedliche Erfahrung ist normal und wird im Training aufgefangen.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Fragen Sie nach Aufgabenarten, nicht nach vertraulichen Inhalten oder privaten Kontodetails. Betonen Sie, dass die Abfrage keine Leistungsbewertung 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einfache Handzeichen-Symbole für nie, gelegentlich und regelmäßig.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Den Gegenstand auf generative KI im Arbeitsalltag eingrenzen.</a:t>
            </a:r>
          </a:p>
          <a:p xmlns:a="http://schemas.openxmlformats.org/drawingml/2006/main">
            <a:r>
              <a:t>Kernaussage: Im Fokus stehen Werkzeuge, die aus Eingaben neue Texte, Bilder oder Strukturen erzeugen.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Grenzen Sie das Training von Entwicklung eigener KI-Systeme und automatisierten Hochrisikoentscheidungen ab.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Eingabe-Pfeil zu drei Ausgabekarten: Text, Bild, Struktur.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Drei Werkzeugarten anhand ihres Verhaltens unterscheiden.</a:t>
            </a:r>
          </a:p>
          <a:p xmlns:a="http://schemas.openxmlformats.org/drawingml/2006/main">
            <a:r>
              <a:t>Kernaussage: Suchen, nach festen Regeln berechnen und neue Inhalte erzeugen sind verschiedene Funktionen.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Weisen Sie darauf hin, dass Anwendungen Funktionen kombinieren können; entscheidend ist, was im konkreten Nutzungsschritt passiert.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Spalten mit Lupe, Zahnrad und Funken-Symbol.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Plausible Ausgabe statt automatisch wahrer Antwort verständlich machen.</a:t>
            </a:r>
          </a:p>
          <a:p xmlns:a="http://schemas.openxmlformats.org/drawingml/2006/main">
            <a:r>
              <a:t>Kernaussage: Ein Sprachmodell erzeugt wahrscheinliche Fortsetzungen aus Eingabe und Kontext.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Verwenden Sie das Bild des leistungsfähigen Formulierungs- und Strukturierungsassistenten, nicht das einer automatisch aktuellen Faktendatenbank oder eines verantwortlichen Entscheiders.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Eingabe und Kontext fließen in ein Modell, daraus entsteht eine Ausgabe mit Prüfsymbol.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Verwechslungen zwischen Technik und betrieblichem Zugang vermeiden.</a:t>
            </a:r>
          </a:p>
          <a:p xmlns:a="http://schemas.openxmlformats.org/drawingml/2006/main">
            <a:r>
              <a:t>Kernaussage: Dasselbe Modell kann je nach Anwendung, Konto und Einstellung anders eingebunden sein.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Ein bekannter Modellname sagt allein nichts über Unternehmensfreigabe, Vertrag, Datenverwendung, Speicherort oder Zugriffe aus.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Vier aufeinanderliegende Karten: Modell, Anwendung, Konto, Einstellungen.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Realistische Einstiegsanwendungen identifizieren.</a:t>
            </a:r>
          </a:p>
          <a:p xmlns:a="http://schemas.openxmlformats.org/drawingml/2006/main">
            <a:r>
              <a:t>Kernaussage: Generative KI unterstützt besonders beim Variieren, Strukturieren, Zusammenfassen, Entwerfen, Extrahieren und Vorbereiten.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Jede Aufgabe benötigt einen zulässigen Datenrahmen und eine fachliche Prüfung des Ergebnisses.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Sechs gleichwertige Aufgabenkarten.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Aufgaben anhand von Daten, Wirkung und Fehlerfolgen unterscheiden.</a:t>
            </a:r>
          </a:p>
          <a:p xmlns:a="http://schemas.openxmlformats.org/drawingml/2006/main">
            <a:r>
              <a:t>Kernaussage: Je sensibler die Daten und je größer die Wirkung, desto weniger eignet sich ein Fall für den Basisgebrauch.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Die Einstufung ist eine Lernhilfe. Konkrete interne Freigaben kommen von den zuständigen Personen des Unternehmens.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Bahnen: geeignet, nur mit Kontrolle, nicht im Basistraining.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Ein gemeinsames Risikovokabular schaffen.</a:t>
            </a:r>
          </a:p>
          <a:p xmlns:a="http://schemas.openxmlformats.org/drawingml/2006/main">
            <a:r>
              <a:t>Kernaussage: Gute Sprache kann Fakten-, Kontext-, Rechte- und Datenprobleme verdecken.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Ergänzen Sie bei vernetzten Systemen Prompt Injection und schädliche Inhalte als zusätzliche Risiken, ohne technische Spezialprüfung zu versprechen.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Warnrad mit vier Segmenten: Inhalt, Aktualität, Fairness, Daten &amp; Rechte.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Sprachliche Sicherheit von inhaltlicher Richtigkeit trennen.</a:t>
            </a:r>
          </a:p>
          <a:p xmlns:a="http://schemas.openxmlformats.org/drawingml/2006/main">
            <a:r>
              <a:t>Kernaussage: Eine flüssige Antwort kann erfundene Details enthalten.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Nutzen Sie ausschließlich ein vorbereitetes synthetisches Beispiel. Zeigen Sie zuerst die plausible Antwort und danach die überprüfbaren Fehler.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Glaubwürdig gestaltete Antwortkarte mit markierten erfundenen Stellen.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Quellenangaben als Prüfauftrag verstehen.</a:t>
            </a:r>
          </a:p>
          <a:p xmlns:a="http://schemas.openxmlformats.org/drawingml/2006/main">
            <a:r>
              <a:t>Kernaussage: Eine genannte Quelle ist noch kein belastbarer Beleg.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Lassen Sie Zahlen, Termine und Zitate stets mit belastbaren Originalquellen abgleichen; die KI-Ausgabe selbst ist kein Nachweis.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Quellenkarte mit Prüfschritten Existenz, Aussage, Datum und Kontext.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Einseitige oder diskriminierende Muster erkennen.</a:t>
            </a:r>
          </a:p>
          <a:p xmlns:a="http://schemas.openxmlformats.org/drawingml/2006/main">
            <a:r>
              <a:t>Kernaussage: Daten und Formulierung können Perspektiven ausblenden oder Stereotype verstärken.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Verwenden Sie ein neutrales synthetisches Beispiel. Betonen Sie, dass personenbezogene oder folgenreiche Bewertungen nicht als Praxisfall trainiert werden.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Zwei unvollständige Perspektiven, die erst gemeinsam ein vollständigeres Bild ergeben.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Rechte und Nutzungsbefugnisse vor Eingabe und Weitergabe mitdenken.</a:t>
            </a:r>
          </a:p>
          <a:p xmlns:a="http://schemas.openxmlformats.org/drawingml/2006/main">
            <a:r>
              <a:t>Kernaussage: Verfügbar bedeutet nicht automatisch frei nutzbar.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Nennen Sie eigene, lizenzierte und fremde Inhalte als unterschiedliche Fälle. Verweisen Sie bei Unsicherheit an die zuständige interne Stelle; geben Sie keine rechtliche Einzelfallbewertung.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Zwei Prüftore vor Eingabe und Veröffentlichung.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Geeignetheit anhand konkreter Merkmale entscheiden.</a:t>
            </a:r>
          </a:p>
          <a:p xmlns:a="http://schemas.openxmlformats.org/drawingml/2006/main">
            <a:r>
              <a:t>Kernaussage: Aufgabe, Daten, Wirkung und Freigabeweg bestimmen die Einordnung.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Nutzen Sie eine erfundene Agenda, einen externen Textentwurf und eine Beschäftigtenbewertung. Fragen Sie jeweils nach Daten, Fehlerwirkung und verantwortlicher Freigabe.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synthetische Fallkarten mit drei Ablagefeldern.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Prompting als präzise Arbeitsauftragsklärung verstehen.</a:t>
            </a:r>
          </a:p>
          <a:p xmlns:a="http://schemas.openxmlformats.org/drawingml/2006/main">
            <a:r>
              <a:t>Kernaussage: Klare Ziele, Materialgrenzen und Prüfkriterien reduzieren Missverständnisse.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Gute Prompts garantieren keine richtige Ausgabe. Sie verbessern die Arbeitsgrundlage, ersetzen aber keine Prüfung.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Unscharfer Auftrag wird zu einer geordneten Aufgabenkarte.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Die Wirkung präziser Anforderungen sichtbar machen.</a:t>
            </a:r>
          </a:p>
          <a:p xmlns:a="http://schemas.openxmlformats.org/drawingml/2006/main">
            <a:r>
              <a:t>Kernaussage: Ein vollständiger Arbeitsauftrag macht Ausgabe und Prüfung nachvollziehbarer.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Vergleichen Sie die synthetischen Ausgaben nicht nur stilistisch, sondern auch auf unbelegte Ergänzungen und offene Prüfpunkte.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Zwei Karten: „Mach eine E-Mail“ und strukturierter Auftrag.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Das verbindliche Promptgerüst verankern.</a:t>
            </a:r>
          </a:p>
          <a:p xmlns:a="http://schemas.openxmlformats.org/drawingml/2006/main">
            <a:r>
              <a:t>Kernaussage: Ein prüfbarer Prompt verbindet Aufgabe, Kontext, Material, Anforderungen, Format und Prüfkriterien.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Betonen Sie bei „Material“ ausdrücklich: ausschließlich freigegebene Informationen. Unsicherheiten sollen markiert und Prüfpunkte genannt werden.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Sechs nummerierte Bausteine in einem stabilen Rahmen.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Die sechs Bausteine praktisch anwenden.</a:t>
            </a:r>
          </a:p>
          <a:p xmlns:a="http://schemas.openxmlformats.org/drawingml/2006/main">
            <a:r>
              <a:t>Kernaussage: Fehlende Angaben werden sichtbar gemacht und gezielt ergänzt.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Geben Sie nur den synthetischen Kundenfall aus dem Material frei. Lassen Sie Paare fehlende Informationen benennen, bevor sie formulieren.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Arbeitsblatt mit sechs leeren Feldern neben einem schwachen Beispielprompt.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Iteration mit eigenständiger menschlicher Bewertung verbinden.</a:t>
            </a:r>
          </a:p>
          <a:p xmlns:a="http://schemas.openxmlformats.org/drawingml/2006/main">
            <a:r>
              <a:t>Kernaussage: Eine KI-Kritik ist ein zusätzlicher Hinweis, nicht die Freigabe.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Lassen Sie das Modell Unsicherheiten und fehlende Belege markieren. Die Teilnehmenden entscheiden selbst, welche Kritik zutrifft.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Kreislauf aus Entwurf, eigener Prüfung, Kritikauftrag und Überarbeitung.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Einen klaren Übergang zum Sicherheits- und Praxisblock schaffen.</a:t>
            </a:r>
          </a:p>
          <a:p xmlns:a="http://schemas.openxmlformats.org/drawingml/2006/main">
            <a:r>
              <a:t>Kernaussage: Nach der Pause folgen Datenampel, Verantwortung und Praxis.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Nennen Sie die konkrete Wiedereinstiegszeit mündlich und lassen Sie die Folie während der Pause sichtbar.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Ruhige Pausenkarte mit drei Symbolen für Ampel, Mensch und Werkstatt.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KI als Unterstützung statt verantwortlichen Entscheider einordnen.</a:t>
            </a:r>
          </a:p>
          <a:p xmlns:a="http://schemas.openxmlformats.org/drawingml/2006/main">
            <a:r>
              <a:t>Kernaussage: Menschen prüfen, entscheiden und geben frei.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Je größer die mögliche Wirkung eines Fehlers, desto stärker muss die menschliche Prüfung sein – bis hin zum vollständigen Verzicht auf KI.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Mensch am Freigabepunkt zwischen KI-Entwurf und Nutzung.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Quellen zur Orientierung (Stand 22.07.2026):</a:t>
            </a:r>
          </a:p>
          <a:p xmlns:a="http://schemas.openxmlformats.org/drawingml/2006/main">
            <a:r>
              <a:t>- https://eur-lex.europa.eu/eli/reg/2024/1689/</a:t>
            </a:r>
          </a:p>
          <a:p xmlns:a="http://schemas.openxmlformats.org/drawingml/2006/main">
            <a:r>
              <a:t>- https://digital-strategy.ec.europa.eu/en/faqs/ai-literacy-questions-answers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Betriebliche Freigabe von persönlicher Verfügbarkeit trennen.</a:t>
            </a:r>
          </a:p>
          <a:p xmlns:a="http://schemas.openxmlformats.org/drawingml/2006/main">
            <a:r>
              <a:t>Kernaussage: Ein privater oder kostenloser Zugang ist nicht automatisch für Unternehmensdaten geeignet.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MyHiwi prüft oder genehmigt keinen konkreten Anbieter. Die benannte interne Stelle entscheidet über Werkzeug, Konto und zulässige Nutzung.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Persönliches Konto und freigegebenes Unternehmenskonto mit unterschiedlichem Status.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Quellen zur Orientierung (Stand 22.07.2026):</a:t>
            </a:r>
          </a:p>
          <a:p xmlns:a="http://schemas.openxmlformats.org/drawingml/2006/main">
            <a:r>
              <a:t>- https://eur-lex.europa.eu/eli/reg/2024/1689/</a:t>
            </a:r>
          </a:p>
          <a:p xmlns:a="http://schemas.openxmlformats.org/drawingml/2006/main">
            <a:r>
              <a:t>- https://digital-strategy.ec.europa.eu/en/faqs/ai-literacy-questions-answers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Vor jeder Eingabe eine einfache Stop-and-check-Routine etablieren.</a:t>
            </a:r>
          </a:p>
          <a:p xmlns:a="http://schemas.openxmlformats.org/drawingml/2006/main">
            <a:r>
              <a:t>Kernaussage: Grün nutzen, Gelb vorher klären, Rot im Basistraining niemals eingeben.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Die Datenampel ist eine Lern- und Entscheidungshilfe und ersetzt keine Tool-, Vertrags- oder Datenschutzprüfung.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große Ampelfelder mit klaren Verben.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Sichere Übungs- und Einstiegsmaterialien erkennen.</a:t>
            </a:r>
          </a:p>
          <a:p xmlns:a="http://schemas.openxmlformats.org/drawingml/2006/main">
            <a:r>
              <a:t>Kernaussage: Synthetische, veröffentlichte, ausdrücklich freigegebene oder robust anonymisierte Inhalte können grün sein.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Auch grüne Inhalte dürfen nur in genehmigten Werkzeugen und für legitime Zwecke genutzt werden.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Grüne Karten mit erfundener Notiz, öffentlicher Seite und anonymisiertem Beispiel.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„Vorsichtig eingeben“ durch einen echten Klärungsschritt ersetzen.</a:t>
            </a:r>
          </a:p>
          <a:p xmlns:a="http://schemas.openxmlformats.org/drawingml/2006/main">
            <a:r>
              <a:t>Kernaussage: Gelb bedeutet stoppen, Zuständigkeit und zulässige Umgebung klären.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Im Training werden gelbe Daten standardmäßig synthetisch ersetzt. Es reicht nicht, sie nur zu kürzen oder „vorsichtig“ einzugeben.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Gelbe Schranke vor einem internen Freigabepunkt.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Harte Stoppsignale erkennen.</a:t>
            </a:r>
          </a:p>
          <a:p xmlns:a="http://schemas.openxmlformats.org/drawingml/2006/main">
            <a:r>
              <a:t>Kernaussage: Sicherheitsdaten, Geheimnisse und sensible Personeninformationen bleiben aus Live-Übungen heraus.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Ein spezialisiertes, geprüftes System kann andere Bedingungen haben; diese Prüfung und Freigabe ist nicht Teil des Basistrainings.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Rotes Stoppschild vor kategorisierten Datenkarten.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Fälle mit erheblichen Auswirkungen früh stoppen.</a:t>
            </a:r>
          </a:p>
          <a:p xmlns:a="http://schemas.openxmlformats.org/drawingml/2006/main">
            <a:r>
              <a:t>Kernaussage: Entscheidungen über Menschen und sicherheitskritische Freigaben gehören nicht in die Basisübung.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Solche Fälle dürfen als Risikobeispiele vorkommen, werden aber nicht praktisch freigegeben. Fach-, Rechts-, Datenschutz- oder Sicherheitsstellen müssen übernehmen.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Stopppunkt vor Personal, Gesundheit, Finanzen und Sicherheit.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Quellen zur Orientierung (Stand 22.07.2026):</a:t>
            </a:r>
          </a:p>
          <a:p xmlns:a="http://schemas.openxmlformats.org/drawingml/2006/main">
            <a:r>
              <a:t>- https://eur-lex.europa.eu/eli/reg/2024/1689/</a:t>
            </a:r>
          </a:p>
          <a:p xmlns:a="http://schemas.openxmlformats.org/drawingml/2006/main">
            <a:r>
              <a:t>- https://digital-strategy.ec.europa.eu/en/faqs/ai-literacy-questions-answers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Zuständigkeit vom Entwurf bis zur Verwendung festlegen.</a:t>
            </a:r>
          </a:p>
          <a:p xmlns:a="http://schemas.openxmlformats.org/drawingml/2006/main">
            <a:r>
              <a:t>Kernaussage: Jede relevante Ausgabe braucht eine benannte prüfende und freigebende Rolle.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Verwenden Sie die tatsächlichen Rollen des Kunden nur, wenn sie im Vorgespräch bestätigt wurden; sonst bleiben Platzhalter stehen.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Rollenfluss von Ersteller über Fachprüfung zur Freigabe und Eskalation.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Gemeinsame Mindestregeln handlungsnah zusammenfassen.</a:t>
            </a:r>
          </a:p>
          <a:p xmlns:a="http://schemas.openxmlformats.org/drawingml/2006/main">
            <a:r>
              <a:t>Kernaussage: Werkzeugfreigabe, Datenampel, Prüfung, menschliche Verantwortung und Eskalation gehören zusammen.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Kundenspezifische Werkzeuge und Ansprechpartner werden vom Unternehmen ergänzt, nicht von MyHiwi eigenständig festgelegt.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Fünf nummerierte Regelkarten.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Quellen zur Orientierung (Stand 22.07.2026):</a:t>
            </a:r>
          </a:p>
          <a:p xmlns:a="http://schemas.openxmlformats.org/drawingml/2006/main">
            <a:r>
              <a:t>- https://eur-lex.europa.eu/eli/reg/2024/1689/</a:t>
            </a:r>
          </a:p>
          <a:p xmlns:a="http://schemas.openxmlformats.org/drawingml/2006/main">
            <a:r>
              <a:t>- https://digital-strategy.ec.europa.eu/en/faqs/ai-literacy-questions-answers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Einen vorbereiteten, sicheren Alltagsfall gemeinsam bearbeiten.</a:t>
            </a:r>
          </a:p>
          <a:p xmlns:a="http://schemas.openxmlformats.org/drawingml/2006/main">
            <a:r>
              <a:t>Kernaussage: Die Übung beginnt mit Ziel, Datenrahmen und gewünschtem Arbeitsergebnis.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Nutzen Sie einen vorab freigegebenen synthetischen Fall. Prüfen Sie vor Beginn erneut, dass keine realen roten oder gelben Kundendaten eingefügt wurden.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Synthetische Fallkarte mit Branche, Rolle, Ausgangslage und Ziel.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Problem, Zielgruppe und Nutzungszweck präzisieren.</a:t>
            </a:r>
          </a:p>
          <a:p xmlns:a="http://schemas.openxmlformats.org/drawingml/2006/main">
            <a:r>
              <a:t>Kernaussage: Erst das benötigte Ergebnis klären, dann das Werkzeug beauftragen.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Lassen Sie die Gruppe messbare Qualitätsmerkmale formulieren, ohne ein perfektes KI-Ergebnis vorauszusetzen.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Aufgabenkarte mit Feldern für Ergebnis, Zielgruppe und Zweck.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Material vor jeder Eingabe mit der Ampel bewerten.</a:t>
            </a:r>
          </a:p>
          <a:p xmlns:a="http://schemas.openxmlformats.org/drawingml/2006/main">
            <a:r>
              <a:t>Kernaussage: Nur freigegebenes grünes oder synthetisch ersetztes Material wird verwendet.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Fragen Sie nach Rückführbarkeit, Vertraulichkeit, Rechten und Werkzeugfreigabe. Im Zweifel wird nicht eingegeben.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Fallmaterial wird sichtbar durch die Ampel sortiert.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Den Praxisauftrag mit allen sechs Bausteinen formulieren.</a:t>
            </a:r>
          </a:p>
          <a:p xmlns:a="http://schemas.openxmlformats.org/drawingml/2006/main">
            <a:r>
              <a:t>Kernaussage: Materialgrenze und Prüfkriterien gehören ausdrücklich in den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Nutzen Sie die MyHiwi-Vorlage und lassen Sie Unsicherheiten sowie vor Verwendung zu prüfende Punkte ausdrücklich kennzeichnen.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Ausgefüllte sechs Bausteine fließen in einen Prompt.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Ausgabe gemeinsam lesen, bevor sie verbessert oder genutzt wird.</a:t>
            </a:r>
          </a:p>
          <a:p xmlns:a="http://schemas.openxmlformats.org/drawingml/2006/main">
            <a:r>
              <a:t>Kernaussage: Zuerst Beobachtungen und Risiken markieren, dann überarbeiten.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Bei fehlendem Tool zeigen Sie die vorbereitete Offline-Ausgabe. Lassen Sie nie reale Kundendaten nachtragen, um das Beispiel „realistischer“ zu machen.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Synthetische Ausgabe mit Markierungen für gut, unklar und falsch.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Eine reproduzierbare Prüfung vor Verwendung anwenden.</a:t>
            </a:r>
          </a:p>
          <a:p xmlns:a="http://schemas.openxmlformats.org/drawingml/2006/main">
            <a:r>
              <a:t>Kernaussage: Fakten, Quellen, Vollständigkeit, Verzerrung, Rechte und Daten, Ton und Wirkung sowie Verantwortung werden einzeln geprüft.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Die Routine endet mit einer menschlichen Entscheidung: verwenden, verbessern, verwerfen oder eskalieren.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Sieben Prüfschritte als vertikale Checkliste mit Freigabepunkt.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Verständnis prüfen und offene Punkte unmittelbar klären.</a:t>
            </a:r>
          </a:p>
          <a:p xmlns:a="http://schemas.openxmlformats.org/drawingml/2006/main">
            <a:r>
              <a:t>Kernaussage: Der Check unterstützt Lernen und Transfer, nicht die Bewertung einzelner Beschäftigter.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Besprechen Sie falsche Antworten direkt. Sieben richtige Antworten sind intern ein Hinweis auf Basisverständnis, aber kein formaler Kompetenznachweis.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Zehn nummerierte Fragekarten mit Reflexionssymbol.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Ziel: Verantwortliche und einen sicheren nächsten Anwendungsschritt festhalten.</a:t>
            </a:r>
          </a:p>
          <a:p xmlns:a="http://schemas.openxmlformats.org/drawingml/2006/main">
            <a:r>
              <a:t>Kernaussage: Der Transfer beginnt mit einem kleinen freigegebenen Fall und einem klaren Prüfweg.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Schließen Sie mit einem persönlichen nächsten Fall pro Person, den fünf Regeln, dem Hinweis auf Unterlagen und der Management-Nachbesprechung. Die Teilnahmebestätigung dokumentiert Teilnahme, nicht Zertifizierung oder Compliance.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Felder zum Ausfüllen: nächster Fall, Prüfer, Eskalationsstelle.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e2362d1e6242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a68a12008184f83" /><Relationship Type="http://schemas.openxmlformats.org/officeDocument/2006/relationships/slideLayout" Target="/ppt/slideLayouts/slideLayout1.xml" Id="R0da0187ab97a46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a0187ab97a46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06913c19649e3" /><Relationship Type="http://schemas.openxmlformats.org/officeDocument/2006/relationships/notesSlide" Target="/ppt/notesSlides/notesSlide1.xml" Id="Ra5d25b15b8414b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6c6c674d224467" /><Relationship Type="http://schemas.openxmlformats.org/officeDocument/2006/relationships/image" Target="/ppt/media/image.png" Id="R1c1f00b0c4244dd6" /><Relationship Type="http://schemas.openxmlformats.org/officeDocument/2006/relationships/image" Target="/ppt/media/image2.png" Id="R6a65d1ac53354bb0" /><Relationship Type="http://schemas.openxmlformats.org/officeDocument/2006/relationships/notesSlide" Target="/ppt/notesSlides/notesSlide2.xml" Id="R66374458af0445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a0a8f2d5524321" /><Relationship Type="http://schemas.openxmlformats.org/officeDocument/2006/relationships/image" Target="/ppt/media/image3.png" Id="R9c3cf68683254fae" /><Relationship Type="http://schemas.openxmlformats.org/officeDocument/2006/relationships/image" Target="/ppt/media/image4.png" Id="R588a2bcce8074020" /><Relationship Type="http://schemas.openxmlformats.org/officeDocument/2006/relationships/notesSlide" Target="/ppt/notesSlides/notesSlide3.xml" Id="Ra4b8f748bfa542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755d990d324c0e" /><Relationship Type="http://schemas.openxmlformats.org/officeDocument/2006/relationships/image" Target="/ppt/media/image5.png" Id="R27d0363ba7dc4e5c" /><Relationship Type="http://schemas.openxmlformats.org/officeDocument/2006/relationships/image" Target="/ppt/media/image6.png" Id="Rb3778363001445b0" /><Relationship Type="http://schemas.openxmlformats.org/officeDocument/2006/relationships/notesSlide" Target="/ppt/notesSlides/notesSlide4.xml" Id="R424165bf69c442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927aa00ad2410f" /><Relationship Type="http://schemas.openxmlformats.org/officeDocument/2006/relationships/image" Target="/ppt/media/image7.png" Id="R23663c098bb64e86" /><Relationship Type="http://schemas.openxmlformats.org/officeDocument/2006/relationships/image" Target="/ppt/media/image8.png" Id="Rce59020377084fbd" /><Relationship Type="http://schemas.openxmlformats.org/officeDocument/2006/relationships/notesSlide" Target="/ppt/notesSlides/notesSlide5.xml" Id="Rdcfcf37031794d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a788532a904c9f" /><Relationship Type="http://schemas.openxmlformats.org/officeDocument/2006/relationships/image" Target="/ppt/media/image9.png" Id="R11c2520110cd45fa" /><Relationship Type="http://schemas.openxmlformats.org/officeDocument/2006/relationships/image" Target="/ppt/media/image10.png" Id="R1e1cc2d79b2c4242" /><Relationship Type="http://schemas.openxmlformats.org/officeDocument/2006/relationships/notesSlide" Target="/ppt/notesSlides/notesSlide6.xml" Id="R9895de22acf34af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32a3c703774056" /><Relationship Type="http://schemas.openxmlformats.org/officeDocument/2006/relationships/image" Target="/ppt/media/image11.png" Id="R9329fe1919364825" /><Relationship Type="http://schemas.openxmlformats.org/officeDocument/2006/relationships/image" Target="/ppt/media/image12.png" Id="Rd843bdbba8574979" /><Relationship Type="http://schemas.openxmlformats.org/officeDocument/2006/relationships/notesSlide" Target="/ppt/notesSlides/notesSlide7.xml" Id="R5599b718357c4bc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3f82f3bc884fdf" /><Relationship Type="http://schemas.openxmlformats.org/officeDocument/2006/relationships/image" Target="/ppt/media/image13.png" Id="Ra7e15281d94d4d40" /><Relationship Type="http://schemas.openxmlformats.org/officeDocument/2006/relationships/image" Target="/ppt/media/image14.png" Id="R25a4f0ffc8894530" /><Relationship Type="http://schemas.openxmlformats.org/officeDocument/2006/relationships/notesSlide" Target="/ppt/notesSlides/notesSlide8.xml" Id="Rb299e4db594d44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c7acde19694c3d" /><Relationship Type="http://schemas.openxmlformats.org/officeDocument/2006/relationships/image" Target="/ppt/media/image15.png" Id="Re1cb6534f4e54350" /><Relationship Type="http://schemas.openxmlformats.org/officeDocument/2006/relationships/image" Target="/ppt/media/image16.png" Id="R94b618bae6684b69" /><Relationship Type="http://schemas.openxmlformats.org/officeDocument/2006/relationships/notesSlide" Target="/ppt/notesSlides/notesSlide9.xml" Id="Rbd273bff7bed4ca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74a54dc3ca4bb2" /><Relationship Type="http://schemas.openxmlformats.org/officeDocument/2006/relationships/image" Target="/ppt/media/image17.png" Id="Re4591d4e9e834672" /><Relationship Type="http://schemas.openxmlformats.org/officeDocument/2006/relationships/image" Target="/ppt/media/image18.png" Id="Redaca3d289384266" /><Relationship Type="http://schemas.openxmlformats.org/officeDocument/2006/relationships/notesSlide" Target="/ppt/notesSlides/notesSlide10.xml" Id="R3a50eaa86e264cc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3089a3bce044b0" /><Relationship Type="http://schemas.openxmlformats.org/officeDocument/2006/relationships/image" Target="/ppt/media/image19.png" Id="R3320081393e14690" /><Relationship Type="http://schemas.openxmlformats.org/officeDocument/2006/relationships/image" Target="/ppt/media/image20.png" Id="Rd0a4380efa894ab8" /><Relationship Type="http://schemas.openxmlformats.org/officeDocument/2006/relationships/notesSlide" Target="/ppt/notesSlides/notesSlide11.xml" Id="Ra299fbe9d15546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b896e08d65437f" /><Relationship Type="http://schemas.openxmlformats.org/officeDocument/2006/relationships/image" Target="/ppt/media/image21.png" Id="R50d7456dabac4eb4" /><Relationship Type="http://schemas.openxmlformats.org/officeDocument/2006/relationships/image" Target="/ppt/media/image22.png" Id="R57643f8e31364ced" /><Relationship Type="http://schemas.openxmlformats.org/officeDocument/2006/relationships/notesSlide" Target="/ppt/notesSlides/notesSlide12.xml" Id="R565596819ff14d1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11dd2634f5466f" /><Relationship Type="http://schemas.openxmlformats.org/officeDocument/2006/relationships/image" Target="/ppt/media/image23.png" Id="Rc4eb6cb4cb054644" /><Relationship Type="http://schemas.openxmlformats.org/officeDocument/2006/relationships/image" Target="/ppt/media/image24.png" Id="Re2986079b87c42ce" /><Relationship Type="http://schemas.openxmlformats.org/officeDocument/2006/relationships/notesSlide" Target="/ppt/notesSlides/notesSlide13.xml" Id="Ra6d5e7ef521644d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adfb2f21fb4a02" /><Relationship Type="http://schemas.openxmlformats.org/officeDocument/2006/relationships/image" Target="/ppt/media/image25.png" Id="R2a8953ca3c994112" /><Relationship Type="http://schemas.openxmlformats.org/officeDocument/2006/relationships/image" Target="/ppt/media/image26.png" Id="Rf85166a502234559" /><Relationship Type="http://schemas.openxmlformats.org/officeDocument/2006/relationships/notesSlide" Target="/ppt/notesSlides/notesSlide14.xml" Id="R9de3c9aa8294412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6c5637164f4524" /><Relationship Type="http://schemas.openxmlformats.org/officeDocument/2006/relationships/image" Target="/ppt/media/image27.png" Id="R72c9eced8290410c" /><Relationship Type="http://schemas.openxmlformats.org/officeDocument/2006/relationships/image" Target="/ppt/media/image28.png" Id="Reeca26b41d164177" /><Relationship Type="http://schemas.openxmlformats.org/officeDocument/2006/relationships/notesSlide" Target="/ppt/notesSlides/notesSlide15.xml" Id="Refe7095c316d435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8c5ce82beb4027" /><Relationship Type="http://schemas.openxmlformats.org/officeDocument/2006/relationships/image" Target="/ppt/media/image29.png" Id="R689d7e06e07c4b86" /><Relationship Type="http://schemas.openxmlformats.org/officeDocument/2006/relationships/image" Target="/ppt/media/image30.png" Id="Rd8f2190dfda446c0" /><Relationship Type="http://schemas.openxmlformats.org/officeDocument/2006/relationships/notesSlide" Target="/ppt/notesSlides/notesSlide16.xml" Id="R6e60fcea28924d6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c281d07e0e4c4a" /><Relationship Type="http://schemas.openxmlformats.org/officeDocument/2006/relationships/image" Target="/ppt/media/image31.png" Id="R601dfe7c71ee40b5" /><Relationship Type="http://schemas.openxmlformats.org/officeDocument/2006/relationships/image" Target="/ppt/media/image32.png" Id="Ref6ee9a462fe41e6" /><Relationship Type="http://schemas.openxmlformats.org/officeDocument/2006/relationships/notesSlide" Target="/ppt/notesSlides/notesSlide17.xml" Id="R637e41c26b2641a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e5bfd92534094" /><Relationship Type="http://schemas.openxmlformats.org/officeDocument/2006/relationships/image" Target="/ppt/media/image33.png" Id="Re471fd3073cd4d5a" /><Relationship Type="http://schemas.openxmlformats.org/officeDocument/2006/relationships/image" Target="/ppt/media/image34.png" Id="Ra79df1b163584e8a" /><Relationship Type="http://schemas.openxmlformats.org/officeDocument/2006/relationships/notesSlide" Target="/ppt/notesSlides/notesSlide18.xml" Id="R14574ba71368485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2eaeb203a9466e" /><Relationship Type="http://schemas.openxmlformats.org/officeDocument/2006/relationships/image" Target="/ppt/media/image35.png" Id="R76ee8bc00e0e4eab" /><Relationship Type="http://schemas.openxmlformats.org/officeDocument/2006/relationships/image" Target="/ppt/media/image36.png" Id="Rb22694710fbc461e" /><Relationship Type="http://schemas.openxmlformats.org/officeDocument/2006/relationships/notesSlide" Target="/ppt/notesSlides/notesSlide19.xml" Id="Rdf02b3d330d14b5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4a589edb74f56" /><Relationship Type="http://schemas.openxmlformats.org/officeDocument/2006/relationships/image" Target="/ppt/media/image37.png" Id="Rf811a2101fda4344" /><Relationship Type="http://schemas.openxmlformats.org/officeDocument/2006/relationships/image" Target="/ppt/media/image38.png" Id="R0ab2782a221e4b70" /><Relationship Type="http://schemas.openxmlformats.org/officeDocument/2006/relationships/notesSlide" Target="/ppt/notesSlides/notesSlide20.xml" Id="Rb5f90710c55341d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08f9485ab74336" /><Relationship Type="http://schemas.openxmlformats.org/officeDocument/2006/relationships/image" Target="/ppt/media/image39.png" Id="R5294096305e14586" /><Relationship Type="http://schemas.openxmlformats.org/officeDocument/2006/relationships/image" Target="/ppt/media/image40.png" Id="Ra861c31f5ee74cb0" /><Relationship Type="http://schemas.openxmlformats.org/officeDocument/2006/relationships/notesSlide" Target="/ppt/notesSlides/notesSlide21.xml" Id="Ra864e7d7d2bb47a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61c50f618c4ebd" /><Relationship Type="http://schemas.openxmlformats.org/officeDocument/2006/relationships/image" Target="/ppt/media/image41.png" Id="Rb6f1d5f997b44695" /><Relationship Type="http://schemas.openxmlformats.org/officeDocument/2006/relationships/image" Target="/ppt/media/image42.png" Id="R5860c133e5e94e38" /><Relationship Type="http://schemas.openxmlformats.org/officeDocument/2006/relationships/notesSlide" Target="/ppt/notesSlides/notesSlide22.xml" Id="R069053e7bcd74b5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d5f6d0f8d34558" /><Relationship Type="http://schemas.openxmlformats.org/officeDocument/2006/relationships/notesSlide" Target="/ppt/notesSlides/notesSlide23.xml" Id="R0523df40793f45b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a7f4f796244e20" /><Relationship Type="http://schemas.openxmlformats.org/officeDocument/2006/relationships/image" Target="/ppt/media/image43.png" Id="R1dd4d25e590f49a1" /><Relationship Type="http://schemas.openxmlformats.org/officeDocument/2006/relationships/image" Target="/ppt/media/image44.png" Id="R929ae03872834f61" /><Relationship Type="http://schemas.openxmlformats.org/officeDocument/2006/relationships/notesSlide" Target="/ppt/notesSlides/notesSlide24.xml" Id="R7ba51436d7894a9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479df7874d4032" /><Relationship Type="http://schemas.openxmlformats.org/officeDocument/2006/relationships/image" Target="/ppt/media/image45.png" Id="R9c7794966c70499f" /><Relationship Type="http://schemas.openxmlformats.org/officeDocument/2006/relationships/image" Target="/ppt/media/image46.png" Id="R90298880fb7a4989" /><Relationship Type="http://schemas.openxmlformats.org/officeDocument/2006/relationships/notesSlide" Target="/ppt/notesSlides/notesSlide25.xml" Id="Rb317a80ab8814a6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206a8bc095488d" /><Relationship Type="http://schemas.openxmlformats.org/officeDocument/2006/relationships/image" Target="/ppt/media/image47.png" Id="Ra0b3cc042e834b16" /><Relationship Type="http://schemas.openxmlformats.org/officeDocument/2006/relationships/image" Target="/ppt/media/image48.png" Id="R4e05ec1e6b02443f" /><Relationship Type="http://schemas.openxmlformats.org/officeDocument/2006/relationships/notesSlide" Target="/ppt/notesSlides/notesSlide26.xml" Id="R617adfe392864e6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36c0f05adb4632" /><Relationship Type="http://schemas.openxmlformats.org/officeDocument/2006/relationships/image" Target="/ppt/media/image49.png" Id="R5c1377532fbf4283" /><Relationship Type="http://schemas.openxmlformats.org/officeDocument/2006/relationships/image" Target="/ppt/media/image50.png" Id="R07732a9b37c04fb1" /><Relationship Type="http://schemas.openxmlformats.org/officeDocument/2006/relationships/notesSlide" Target="/ppt/notesSlides/notesSlide27.xml" Id="R6c7d25c8d043462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f9ac0d2b8c42cb" /><Relationship Type="http://schemas.openxmlformats.org/officeDocument/2006/relationships/image" Target="/ppt/media/image51.png" Id="Rf1c88a6158344507" /><Relationship Type="http://schemas.openxmlformats.org/officeDocument/2006/relationships/image" Target="/ppt/media/image52.png" Id="R9d361b86a2354621" /><Relationship Type="http://schemas.openxmlformats.org/officeDocument/2006/relationships/notesSlide" Target="/ppt/notesSlides/notesSlide28.xml" Id="R8df230dfa4b8451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4b7acec09c4089" /><Relationship Type="http://schemas.openxmlformats.org/officeDocument/2006/relationships/image" Target="/ppt/media/image53.png" Id="Rbfa51e9a1ed74611" /><Relationship Type="http://schemas.openxmlformats.org/officeDocument/2006/relationships/image" Target="/ppt/media/image54.png" Id="Rb393e1f0047146bf" /><Relationship Type="http://schemas.openxmlformats.org/officeDocument/2006/relationships/notesSlide" Target="/ppt/notesSlides/notesSlide29.xml" Id="Rb5001297e270477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ff5c9c5584355" /><Relationship Type="http://schemas.openxmlformats.org/officeDocument/2006/relationships/image" Target="/ppt/media/image55.png" Id="R6fe417aa080d4445" /><Relationship Type="http://schemas.openxmlformats.org/officeDocument/2006/relationships/image" Target="/ppt/media/image56.png" Id="R1324856ec2234383" /><Relationship Type="http://schemas.openxmlformats.org/officeDocument/2006/relationships/notesSlide" Target="/ppt/notesSlides/notesSlide30.xml" Id="R1b6060d91c074b1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40f0478a1e4210" /><Relationship Type="http://schemas.openxmlformats.org/officeDocument/2006/relationships/image" Target="/ppt/media/image57.png" Id="R754c3706295e4f99" /><Relationship Type="http://schemas.openxmlformats.org/officeDocument/2006/relationships/image" Target="/ppt/media/image58.png" Id="R27b6c73a8ac1429e" /><Relationship Type="http://schemas.openxmlformats.org/officeDocument/2006/relationships/notesSlide" Target="/ppt/notesSlides/notesSlide31.xml" Id="Rff23b76a0e4147c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47aaa3c2144177" /><Relationship Type="http://schemas.openxmlformats.org/officeDocument/2006/relationships/image" Target="/ppt/media/image59.png" Id="R86e5279a8a694b08" /><Relationship Type="http://schemas.openxmlformats.org/officeDocument/2006/relationships/image" Target="/ppt/media/image60.png" Id="Rd0a3b79d185f4422" /><Relationship Type="http://schemas.openxmlformats.org/officeDocument/2006/relationships/notesSlide" Target="/ppt/notesSlides/notesSlide32.xml" Id="R83842d1161ec455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ebc464d9c84bef" /><Relationship Type="http://schemas.openxmlformats.org/officeDocument/2006/relationships/image" Target="/ppt/media/image61.png" Id="Radcda1d56d9e47d8" /><Relationship Type="http://schemas.openxmlformats.org/officeDocument/2006/relationships/image" Target="/ppt/media/image62.png" Id="R58b3a16524614438" /><Relationship Type="http://schemas.openxmlformats.org/officeDocument/2006/relationships/notesSlide" Target="/ppt/notesSlides/notesSlide33.xml" Id="R2e1b2c0fad5b46d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f5fba2d8a4332" /><Relationship Type="http://schemas.openxmlformats.org/officeDocument/2006/relationships/image" Target="/ppt/media/image63.png" Id="R4cb0063b6a534bd7" /><Relationship Type="http://schemas.openxmlformats.org/officeDocument/2006/relationships/image" Target="/ppt/media/image64.png" Id="Rf7bd95d8f3544fe6" /><Relationship Type="http://schemas.openxmlformats.org/officeDocument/2006/relationships/notesSlide" Target="/ppt/notesSlides/notesSlide34.xml" Id="R2113a755304f43ea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546c7985774247" /><Relationship Type="http://schemas.openxmlformats.org/officeDocument/2006/relationships/image" Target="/ppt/media/image65.png" Id="R8adef25a85c44fdc" /><Relationship Type="http://schemas.openxmlformats.org/officeDocument/2006/relationships/image" Target="/ppt/media/image66.png" Id="R890723f981b24743" /><Relationship Type="http://schemas.openxmlformats.org/officeDocument/2006/relationships/notesSlide" Target="/ppt/notesSlides/notesSlide35.xml" Id="Re841ef466317485f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b454fa9d72424c" /><Relationship Type="http://schemas.openxmlformats.org/officeDocument/2006/relationships/image" Target="/ppt/media/image67.png" Id="Rcef76a42c2894e84" /><Relationship Type="http://schemas.openxmlformats.org/officeDocument/2006/relationships/image" Target="/ppt/media/image68.png" Id="R0218f9e8431541a6" /><Relationship Type="http://schemas.openxmlformats.org/officeDocument/2006/relationships/notesSlide" Target="/ppt/notesSlides/notesSlide36.xml" Id="Rde4669a90e4d4d8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f96db19ba54da5" /><Relationship Type="http://schemas.openxmlformats.org/officeDocument/2006/relationships/image" Target="/ppt/media/image69.png" Id="Rb06efbc468514b78" /><Relationship Type="http://schemas.openxmlformats.org/officeDocument/2006/relationships/image" Target="/ppt/media/image70.png" Id="R54dbe3a11e4344db" /><Relationship Type="http://schemas.openxmlformats.org/officeDocument/2006/relationships/notesSlide" Target="/ppt/notesSlides/notesSlide37.xml" Id="Rcc4b27987b334365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966d743c9240c4" /><Relationship Type="http://schemas.openxmlformats.org/officeDocument/2006/relationships/image" Target="/ppt/media/image71.png" Id="Rb8cb44d309ed4389" /><Relationship Type="http://schemas.openxmlformats.org/officeDocument/2006/relationships/image" Target="/ppt/media/image72.png" Id="Rd6719c87dcc54b43" /><Relationship Type="http://schemas.openxmlformats.org/officeDocument/2006/relationships/notesSlide" Target="/ppt/notesSlides/notesSlide38.xml" Id="Rd4c0ad3c2e404c21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7f84cb041540c5" /><Relationship Type="http://schemas.openxmlformats.org/officeDocument/2006/relationships/image" Target="/ppt/media/image73.png" Id="Rc6cb465f75c940f2" /><Relationship Type="http://schemas.openxmlformats.org/officeDocument/2006/relationships/image" Target="/ppt/media/image74.png" Id="Rc6ff145507c44906" /><Relationship Type="http://schemas.openxmlformats.org/officeDocument/2006/relationships/notesSlide" Target="/ppt/notesSlides/notesSlide39.xml" Id="R15f33b55f0f846f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7fb8d6db084161" /><Relationship Type="http://schemas.openxmlformats.org/officeDocument/2006/relationships/image" Target="/ppt/media/image75.png" Id="Rea90c6c4ed5442d4" /><Relationship Type="http://schemas.openxmlformats.org/officeDocument/2006/relationships/image" Target="/ppt/media/image76.png" Id="Re39a2b2825184fd5" /><Relationship Type="http://schemas.openxmlformats.org/officeDocument/2006/relationships/notesSlide" Target="/ppt/notesSlides/notesSlide40.xml" Id="R936f6f63ad8245f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30D420-16A2-41DA-8CF7-5D2B4C01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76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F227CA-22C1-4EDB-9718-4C2E5FBC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MYHIWI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151C1F-D3B1-40E2-91C8-FFAF46045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876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AI-Startklar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F6EAEE-A75C-4F93-AE05-5B3F79E4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Die praxisnahe KI-Grundlagenschulung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6FB72D-0374-4F81-9EBA-40464689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10172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3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11A4F3-030C-4954-B37C-F5B811C6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Kunde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437CB0-DC3A-4571-9587-3286EB2E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[Kunde]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7D23F4-7CCA-4D8A-B6A1-124BD5A3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1719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Datum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9C35C0-5DE1-41B5-8091-86388411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49580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[Datum]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B405ED-9CFC-417C-83D5-C59B10DD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719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Trainer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11A19F-DA07-4116-829E-16691879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9580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[Trainer]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9F195E-1ADC-4CA6-AB82-B142E887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v1.0 · Stand 22.07.2026</a:t>
            </a:r>
          </a:p>
        </p:txBody>
      </p:sp>
    </p:spTree>
    <p:extLst>
      <p:ext uri="{BB962C8B-B14F-4D97-AF65-F5344CB8AC3E}">
        <p14:creationId xmlns:p14="http://schemas.microsoft.com/office/powerpoint/2010/main" val="4512971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f00b0c4244dd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65d1ac53354bb0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A203DBC9-D52A-480D-BFD1-686D3548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Ergebnisversprechen der drei Stunden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F6226-38C6-448B-A301-BD9AD325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Die Teilnehmenden lernen entscheiden, formulieren, einordnen, prüfen und eskalieren.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8F972E-690C-4784-8F53-B66B49260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Nach heute können Sie: passende Aufgaben erkennen</a:t>
            </a:r>
          </a:p>
          <a:p xmlns:a="http://schemas.openxmlformats.org/drawingml/2006/main">
            <a:pPr algn="l">
              <a:defRPr sz="150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klare Prompts bauen</a:t>
            </a:r>
          </a:p>
          <a:p xmlns:a="http://schemas.openxmlformats.org/drawingml/2006/main">
            <a:pPr algn="l">
              <a:defRPr sz="150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Daten einordnen</a:t>
            </a:r>
          </a:p>
          <a:p xmlns:a="http://schemas.openxmlformats.org/drawingml/2006/main">
            <a:pPr algn="l">
              <a:defRPr sz="150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Ausgaben prüfen</a:t>
            </a:r>
          </a:p>
          <a:p xmlns:a="http://schemas.openxmlformats.org/drawingml/2006/main">
            <a:pPr algn="l">
              <a:defRPr sz="150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Unsicherheit eskalieren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342C66-3447-482D-ADD2-4A504B68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BBF9D3-782D-46D0-8F72-8FC77802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Ein klares und realistisches Lernziel setzen.</a:t>
            </a:r>
          </a:p>
        </p:txBody>
      </p:sp>
    </p:spTree>
    <p:extLst>
      <p:ext uri="{BB962C8B-B14F-4D97-AF65-F5344CB8AC3E}">
        <p14:creationId xmlns:p14="http://schemas.microsoft.com/office/powerpoint/2010/main" val="14815694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3cf68683254fa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8a2bcce8074020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1C1906F3-B5D3-4C7F-A07D-AD9A12D2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Agenda und Pausenzeit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285964-904B-4B97-9DE5-2D3B6944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Erklärung, Anwendung und Reflexion greifen ineinander.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91BB40-0FD2-4052-A332-EE06EFC0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8F5034-C1C4-4DD4-92C2-91B928490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2236D5-C0F1-4BB9-A4F9-B57A1BEB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Einstieg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087BDC-7E7A-491F-9574-493DBFD8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57F77A-C675-4201-B610-5B30B363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384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CE725C-037D-4BDB-AA10-52861D49B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952750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Grundlagen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92B106-DB5C-402C-8134-0D6997C6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14713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D79635-CF32-4A4E-A723-7E2AF6F2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6663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610A79-5F63-4E3E-98F6-336EE993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0963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Chancen &amp; Grenzen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EE4716-DF5D-4A40-A990-B3D35203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414713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4CCD2E-AD96-4161-89BF-C0E54A3C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76663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DF3441-A750-42F9-9880-CB7C23FA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890963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Prompts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C90911-01FF-4DC7-BE56-E9042887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94F98B-7224-4A71-B80F-7FDA7597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BC828B-7C02-4D70-A3FE-D232AC96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29175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Pause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F6FEEA-21D8-4139-9E2A-928595B9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3529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5DA06B-A521-4B6F-9D3B-AA407A3D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714875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2EE099-6EA8-4D5B-AA18-87FCE621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829175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sicherer Einsatz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605CF8-7018-4042-8AB8-9EA375D6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1138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7FB34B-0EAA-49C4-A993-8CB13DC6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3088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9EB0EB-6F3C-4711-AB1F-E4F6A796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7388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Praxis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69FAE7-9FD5-407C-B96D-4430C882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291138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62F007-7517-49FB-9060-65AD9005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653088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C56D42-0C9E-40C6-BE90-39A3FDC0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767388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Prüfung &amp; Transfer</a:t>
            </a:r>
          </a:p>
        </p:txBody>
      </p:sp>
    </p:spTree>
    <p:extLst>
      <p:ext uri="{BB962C8B-B14F-4D97-AF65-F5344CB8AC3E}">
        <p14:creationId xmlns:p14="http://schemas.microsoft.com/office/powerpoint/2010/main" val="13039066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d0363ba7dc4e5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778363001445b0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05F70645-C88A-4A84-851B-7D55E777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Sicherer Arbeitsrahmen: keine sensiblen Live-Daten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176986-9171-47B9-997C-235998BA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Geübt wird nur mit synthetischen oder robust anonymisierten Inhalten.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4FB424-3477-4DA5-A0FD-F5ED0246E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Keine realen sensiblen Daten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keine Geheimnisse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keine Zugangsdaten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nur freigegebene Beispiele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F97901-F3EE-4E23-97AB-3461E7D4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B073C3-C2A9-4D02-B4C7-3862615C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Vor der ersten Interaktion eine klare Datengrenze setzen.</a:t>
            </a:r>
          </a:p>
        </p:txBody>
      </p:sp>
    </p:spTree>
    <p:extLst>
      <p:ext uri="{BB962C8B-B14F-4D97-AF65-F5344CB8AC3E}">
        <p14:creationId xmlns:p14="http://schemas.microsoft.com/office/powerpoint/2010/main" val="11958320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663c098bb64e8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9020377084fbd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6A1F49B9-9DAD-489E-B27A-2A73ED35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Kurze Handzeichen-Abfrage zur bisherigen Nutzung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11BB5-E8DB-4804-996F-FB6F86703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CFE69-F20F-4EE2-B867-94CFDE44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9B1B79-3ACE-4A64-94C6-A8E5B397B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Unterschiedliche Erfahrung ist normal und wird im Training aufgefangen.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85F4BD-D579-4603-A582-1396C248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334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Wer nutzt generative KI nie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gelegentlich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mindestens wöchentlich? Wofür?</a:t>
            </a:r>
          </a:p>
        </p:txBody>
      </p:sp>
    </p:spTree>
    <p:extLst>
      <p:ext uri="{BB962C8B-B14F-4D97-AF65-F5344CB8AC3E}">
        <p14:creationId xmlns:p14="http://schemas.microsoft.com/office/powerpoint/2010/main" val="5441452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2520110cd45f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1cc2d79b2c4242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1C962E36-9B50-43D0-93B4-8437F13C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Was mit „KI“ in dieser Schulung gemeint ist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40AB0D-67B8-40A8-A2DD-C567E6AA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Im Fokus stehen Werkzeuge, die aus Eingaben neue Texte, Bilder oder Strukturen erzeugen.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E25A4F-958B-44FE-BC79-B8F5DEFA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Fokus: generative KI für Entwürfe, Strukturierung und Unterstützung im Arbeitsalltag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2FB713-5606-4755-99B0-2FC4B8E4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16AAD8-DDB6-4782-9339-39D574FA0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Den Gegenstand auf generative KI im Arbeitsalltag eingrenzen.</a:t>
            </a:r>
          </a:p>
        </p:txBody>
      </p:sp>
    </p:spTree>
    <p:extLst>
      <p:ext uri="{BB962C8B-B14F-4D97-AF65-F5344CB8AC3E}">
        <p14:creationId xmlns:p14="http://schemas.microsoft.com/office/powerpoint/2010/main" val="20523756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29fe191936482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3bdbba8574979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281433DC-C3F3-4AF8-92F3-AC431494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Generative KI, Suchmaschine und klassische Software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AC7797-E657-4000-8EF9-96BB8C0F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Suchen, nach festen Regeln berechnen und neue Inhalte erzeugen sind verschiedene Funktionen.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6D0FB9-9FDD-4344-8269-1BCA2C6B8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0EEC37-424D-41DD-B2CF-65B8BA3E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8A0760-DBA8-4A15-8B36-BE1A2A80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Suchmaschine: findet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CAEB97-ECBD-4882-A402-A7EAD105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F6D702-1F98-4926-BC9A-6433711C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283845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066838-8C17-4E21-B012-623B5713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295275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klassische Software: folgt Regeln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164B43-0720-49A9-87C4-F6596819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38A08-5ED6-432F-B8B6-6FAB4FFAE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283845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05FF61-6026-4E34-B9D1-824418A6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295275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generative KI: erzeugt plausible Inhalte</a:t>
            </a:r>
          </a:p>
        </p:txBody>
      </p:sp>
    </p:spTree>
    <p:extLst>
      <p:ext uri="{BB962C8B-B14F-4D97-AF65-F5344CB8AC3E}">
        <p14:creationId xmlns:p14="http://schemas.microsoft.com/office/powerpoint/2010/main" val="11192424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e15281d94d4d4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a4f0ffc8894530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2F3FA7B1-0548-46AD-ACED-0F8BB9BD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Vereinfachtes Funktionsmodell eines Sprachmodells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8A888C-954D-4C26-BD93-4F3C4BE4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Ein Sprachmodell erzeugt wahrscheinliche Fortsetzungen aus Eingabe und Kontext.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4A00A9-43F3-420A-91DE-2949ED23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94335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3D9A1E-B315-4A80-9299-5FA97C30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638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4A3B1E-715A-463B-8704-7CAF8DEB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94335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AAADA9-2EF1-488E-B680-3B14C27A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638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C20734-C05B-4CB2-8C2A-993C5750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4335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6C68B2-6BDA-4A5C-AEC0-6F6F6B88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38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F6EA21-59F1-4FA7-8A71-E70C6AC0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2095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DE7DA"/>
          </a:solidFill>
          <a:ln xmlns:a="http://schemas.openxmlformats.org/drawingml/2006/main" w="9525">
            <a:solidFill>
              <a:srgbClr val="C9C3B7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Eingabe +</a:t>
            </a:r>
          </a:p>
          <a:p xmlns:a="http://schemas.openxmlformats.org/drawingml/2006/main">
            <a:pPr algn="ctr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Kontext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5D6ED2-F8B2-433B-83BA-E8041AC8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143250"/>
            <a:ext cx="2095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DE7DA"/>
          </a:solidFill>
          <a:ln xmlns:a="http://schemas.openxmlformats.org/drawingml/2006/main" w="9525">
            <a:solidFill>
              <a:srgbClr val="C9C3B7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Wahrscheinliche</a:t>
            </a:r>
          </a:p>
          <a:p xmlns:a="http://schemas.openxmlformats.org/drawingml/2006/main">
            <a:pPr algn="ctr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Fortsetzung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0F1992-10C5-41C3-86C2-6459E8C0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43250"/>
            <a:ext cx="2095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DE7DA"/>
          </a:solidFill>
          <a:ln xmlns:a="http://schemas.openxmlformats.org/drawingml/2006/main" w="9525">
            <a:solidFill>
              <a:srgbClr val="C9C3B7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Ausgabe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9CCA38-6C0F-4284-869B-F35D21BD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143250"/>
            <a:ext cx="2095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9525">
            <a:solidFill>
              <a:srgbClr val="1F4FC9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Menschliche</a:t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Prüfung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AF3652-6043-42C0-A39E-6886C40F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1435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Plausibel ist nicht automatisch wahr.</a:t>
            </a:r>
          </a:p>
        </p:txBody>
      </p:sp>
    </p:spTree>
    <p:extLst>
      <p:ext uri="{BB962C8B-B14F-4D97-AF65-F5344CB8AC3E}">
        <p14:creationId xmlns:p14="http://schemas.microsoft.com/office/powerpoint/2010/main" val="172476948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cb6534f4e5435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b618bae6684b69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103FE71C-2E92-4659-8765-29C2182E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Modell, Anwendung, Kontotyp und Einstellungen unterscheiden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5544FA-6501-4543-803C-A4F6EB86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Dasselbe Modell kann je nach Anwendung, Konto und Einstellung anders eingebunden sein.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7B86BC-A314-45DF-880C-6450E66A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15C93F-9B93-49DC-97C9-ECD4AFA3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D5FBD7-A537-402B-901C-81F7794D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Vier Fragen: Welches Modell? Welche Anwendung? Welches Konto? Welche Einstellungen?</a:t>
            </a:r>
          </a:p>
        </p:txBody>
      </p:sp>
    </p:spTree>
    <p:extLst>
      <p:ext uri="{BB962C8B-B14F-4D97-AF65-F5344CB8AC3E}">
        <p14:creationId xmlns:p14="http://schemas.microsoft.com/office/powerpoint/2010/main" val="13939958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91d4e9e83467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aca3d289384266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E3A84BD7-E750-4D27-83E6-8A3C64B1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Sechs typische Aufgabenarten im Arbeitsalltag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144802-58FA-455D-A3F0-720FEB5F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Generative KI unterstützt besonders beim Variieren, Strukturieren, Zusammenfassen, Entwerfen, Extrahieren und Vorbereiten.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BE0A3-1835-420E-8401-874A0511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C0BBC6-CBFB-4960-B6DF-F89897154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A4FB35-DBC8-4563-A7A5-F93B9D4E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Ideen entwickeln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7D7873-6D14-482A-B757-3A7CD7B3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525C5A-F055-478F-A119-4F5915343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384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82E21C-0BFC-4061-9D81-7E1DF8441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95275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Texte strukturieren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438A67-3981-4ECA-B24B-C886A0E8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74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83B22E-DC19-4FC5-889D-3F8A3FF7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94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95AD4F-EBB8-404B-A96D-AB31AA68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37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freigegebenes Material zusammenfassen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C2B202-585A-4339-809C-A4A040273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274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AEA15D-675A-45C4-BE25-FE9593B5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0894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C246AF-1226-4A3A-A063-13AD9DDD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2037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Entwürfe erstellen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AF61EC-64C0-468C-A43A-65E6F227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84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267F74-B9C4-46D5-BE7F-9A660CD06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03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93297-34C0-4881-B127-E5EBBFFC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465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Informationen extrahieren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9B12D8-275A-4B07-95C9-CDCE1335F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9784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5C42AD-B198-4553-80E5-A7A161979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3403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DD52CC-A0A0-4CCC-9251-5678F13B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45465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Gespräche vorbereiten</a:t>
            </a:r>
          </a:p>
        </p:txBody>
      </p:sp>
    </p:spTree>
    <p:extLst>
      <p:ext uri="{BB962C8B-B14F-4D97-AF65-F5344CB8AC3E}">
        <p14:creationId xmlns:p14="http://schemas.microsoft.com/office/powerpoint/2010/main" val="143538430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20081393e1469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a4380efa894ab8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D2E69682-B2BA-452D-AC1B-3AD31DC8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Geeignete, kontrollbedürftige und ungeeignete Aufgaben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786A3D-8A16-47B9-9C81-393F0F5D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Je sensibler die Daten und je größer die Wirkung, desto weniger eignet sich ein Fall für den Basisgebrauch.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B2E748-AF57-403F-A951-693CC330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2E9A5F-2722-4BC9-96F1-EC846807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EE31FF-62F7-4C3A-861A-F6800E84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Geeignet: synthetischer Entwurf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620493-6351-451C-907A-DD85E7D3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CC7A0A-1350-4980-965C-D694B003E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283845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48ED51-5AB2-4B0A-BB83-E7F4085F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295275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Kontrolle nötig: externe Kommunikation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A2A6D9-8923-4CA8-9165-FAD8D79D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9ED7F7-AC25-4F50-A67B-2D6EB10D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283845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ED9296-9FBB-4275-8D3A-E60D2A76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295275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nicht im Basistraining: folgenreiche Personenentscheidung</a:t>
            </a:r>
          </a:p>
        </p:txBody>
      </p:sp>
    </p:spTree>
    <p:extLst>
      <p:ext uri="{BB962C8B-B14F-4D97-AF65-F5344CB8AC3E}">
        <p14:creationId xmlns:p14="http://schemas.microsoft.com/office/powerpoint/2010/main" val="11271970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d7456dabac4eb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643f8e31364ced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A82372CD-6FA8-41F8-8C01-B20B0951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Überblick über typische Grenzen und Risiken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7DF747-A296-4A7F-A7CE-D2FEFD08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Gute Sprache kann Fakten-, Kontext-, Rechte- und Datenprobleme verdecken.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AB9B51-9B11-43C2-89BA-D6B54E8C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Faktenfehler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veraltete Inhalte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falsche Quellen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fehlender Kontext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Verzerrungen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Daten- und Rechteprobleme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42FA01-F8FA-4236-AA46-B09B08EA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927689-DA68-4B32-A08F-8C05D27F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Ein gemeinsames Risikovokabular schaffen.</a:t>
            </a:r>
          </a:p>
        </p:txBody>
      </p:sp>
    </p:spTree>
    <p:extLst>
      <p:ext uri="{BB962C8B-B14F-4D97-AF65-F5344CB8AC3E}">
        <p14:creationId xmlns:p14="http://schemas.microsoft.com/office/powerpoint/2010/main" val="10041588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eb6cb4cb05464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86079b87c42ce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AE8E0829-A325-4DF7-9B1E-A8D57E73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Demonstration einer überzeugenden falschen Antwort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41B1B-0D75-4C64-8B73-C0763FA7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Eine flüssige Antwort kann erfundene Details enthalten.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FA7A2A-58FD-4218-AC0B-2C6D5C26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Klingt sicher. Ist es richtig? Markieren Sie Fakten, Annahmen und offene Punkte.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51C27A-FD33-4687-BAC8-0539DE9A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333B1E-EE61-49BC-9835-32950DDF1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Sprachliche Sicherheit von inhaltlicher Richtigkeit trennen.</a:t>
            </a:r>
          </a:p>
        </p:txBody>
      </p:sp>
    </p:spTree>
    <p:extLst>
      <p:ext uri="{BB962C8B-B14F-4D97-AF65-F5344CB8AC3E}">
        <p14:creationId xmlns:p14="http://schemas.microsoft.com/office/powerpoint/2010/main" val="20127472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8953ca3c99411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166a502234559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FD03DE80-56F5-485E-8BB1-26E9B20A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Aktualität, Quellen und erfundene Belege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F7CA28-AD46-4DA3-9803-2B7107C9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Eine genannte Quelle ist noch kein belastbarer Beleg.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90D911-53DD-467C-8061-B364484F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D3CCA0-F58D-400C-BF95-AA46DE50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C3CB3C-124E-439F-8A28-CF86A7A2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Quelle prüfen: Existiert sie? Belegt sie die Aussage? Ist sie aktuell? Passt der Kontext?</a:t>
            </a:r>
          </a:p>
        </p:txBody>
      </p:sp>
    </p:spTree>
    <p:extLst>
      <p:ext uri="{BB962C8B-B14F-4D97-AF65-F5344CB8AC3E}">
        <p14:creationId xmlns:p14="http://schemas.microsoft.com/office/powerpoint/2010/main" val="442077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c9eced8290410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ca26b41d164177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05CB4373-6465-45CC-8405-CF0AD37F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Verzerrungen, Stereotype und fehlender Kontext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E000B2-EE9D-4F04-95D1-D0B5DC3B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Daten und Formulierung können Perspektiven ausblenden oder Stereotype verstärken.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895171-D878-49D1-8CB3-8264A6D7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593F3-F980-44A7-A645-264D18D9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2F06AC-8BD4-4683-8785-52E8BF9B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Fragen Sie: Wer fehlt? Welche Annahme steckt darin? Wen könnte die Ausgabe benachteiligen?</a:t>
            </a:r>
          </a:p>
        </p:txBody>
      </p:sp>
    </p:spTree>
    <p:extLst>
      <p:ext uri="{BB962C8B-B14F-4D97-AF65-F5344CB8AC3E}">
        <p14:creationId xmlns:p14="http://schemas.microsoft.com/office/powerpoint/2010/main" val="71995692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d7e06e07c4b8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2190dfda446c0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6">
            <a:extLst xmlns:a="http://schemas.openxmlformats.org/drawingml/2006/main">
              <a:ext uri="{FF2B5EF4-FFF2-40B4-BE49-F238E27FC236}">
                <a16:creationId xmlns:a16="http://schemas.microsoft.com/office/drawing/2014/main" id="{5A2249E8-9C6E-489F-A940-7BCF1A48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Rechte an Eingaben und Ausgaben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292A0B-166A-479B-AFE1-A75BEEB4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Verfügbar bedeutet nicht automatisch frei nutzbar.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0728A-3406-45C2-91AE-EEC8DDD9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Vorher prüfen: Darf ich es eingeben? Nachher prüfen: Darf und soll ich es verwenden?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205945-6DB6-402A-8099-68D8FF40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BAD3BA-AE15-4870-ACD6-C5924E6FF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Rechte und Nutzungsbefugnisse vor Eingabe und Weitergabe mitdenken.</a:t>
            </a:r>
          </a:p>
        </p:txBody>
      </p:sp>
    </p:spTree>
    <p:extLst>
      <p:ext uri="{BB962C8B-B14F-4D97-AF65-F5344CB8AC3E}">
        <p14:creationId xmlns:p14="http://schemas.microsoft.com/office/powerpoint/2010/main" val="161152856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1dfe7c71ee40b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6ee9a462fe41e6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C2C37C67-EEFC-49E4-A1C1-F12752AE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Miniübung zur Einordnung von drei Aufgaben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516DFD-AE82-4DAF-A97F-376729B9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1AE0B0-4F09-4CBD-80CA-2DEEEC79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A2110D-F204-425D-A6FD-5A66BF6F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Aufgabe, Daten, Wirkung und Freigabeweg bestimmen die Einordnung.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4F7E8C-A3EE-4937-95D5-7A84B405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334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Einordnen: geeignet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nur mit Kontrolle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nicht im Basistraining — und Entscheidung begründen</a:t>
            </a:r>
          </a:p>
        </p:txBody>
      </p:sp>
    </p:spTree>
    <p:extLst>
      <p:ext uri="{BB962C8B-B14F-4D97-AF65-F5344CB8AC3E}">
        <p14:creationId xmlns:p14="http://schemas.microsoft.com/office/powerpoint/2010/main" val="189421480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71fd3073cd4d5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9df1b163584e8a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9E0ECCD1-5684-4EFE-A069-B1BA2FBC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Warum klare Prompts bessere Arbeitsgrundlagen schaffen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9BA6C3-CE7E-4EC4-A4E6-238C68AC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Klare Ziele, Materialgrenzen und Prüfkriterien reduzieren Missverständnisse.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F45C2E-0ECB-4556-959D-4C2ED7F8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71A9A4-BB17-4E24-9339-14AE64EB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CCF4BC-990D-45C6-8D22-0F24B35D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Klarer Auftrag → passenderer Entwurf → leichter prüfbares Ergebnis</a:t>
            </a:r>
          </a:p>
        </p:txBody>
      </p:sp>
    </p:spTree>
    <p:extLst>
      <p:ext uri="{BB962C8B-B14F-4D97-AF65-F5344CB8AC3E}">
        <p14:creationId xmlns:p14="http://schemas.microsoft.com/office/powerpoint/2010/main" val="197201752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ee8bc00e0e4ea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694710fbc461e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9">
            <a:extLst xmlns:a="http://schemas.openxmlformats.org/drawingml/2006/main">
              <a:ext uri="{FF2B5EF4-FFF2-40B4-BE49-F238E27FC236}">
                <a16:creationId xmlns:a16="http://schemas.microsoft.com/office/drawing/2014/main" id="{28E29046-8824-48E1-8FF0-4D06DABF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Vorher-Nachher-Beispiel eines Prompts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E2A010-4B04-4BB7-9916-99EB4B70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Ein vollständiger Arbeitsauftrag macht Ausgabe und Prüfung nachvollziehbarer.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A3C266-5B0F-4389-992A-BAB640B98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F2076D-F57F-42C9-9DFF-AC5CADDF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F8D46A-9A27-4A9F-B73D-E5E5E5B2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3244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Vorher: „Mach eine E-Mail.“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BE7005-4102-4E75-9FA7-26E4F071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6C8401-25E3-451D-ABDE-4E410CD7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384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FC832E-07B6-4A80-83AE-D1EC40B6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952750"/>
            <a:ext cx="53244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Nachher: Ziel, Zielgruppe, freigegebenes Material, Ton, Format und Prüfpunkte</a:t>
            </a:r>
          </a:p>
        </p:txBody>
      </p:sp>
    </p:spTree>
    <p:extLst>
      <p:ext uri="{BB962C8B-B14F-4D97-AF65-F5344CB8AC3E}">
        <p14:creationId xmlns:p14="http://schemas.microsoft.com/office/powerpoint/2010/main" val="119002329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11a2101fda434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b2782a221e4b70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0">
            <a:extLst xmlns:a="http://schemas.openxmlformats.org/drawingml/2006/main">
              <a:ext uri="{FF2B5EF4-FFF2-40B4-BE49-F238E27FC236}">
                <a16:creationId xmlns:a16="http://schemas.microsoft.com/office/drawing/2014/main" id="{F1D01E3E-A9CC-4998-A01C-85951D96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Die sechs Bausteine der MyHiwi-Promptvorlage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96F122-64CE-4E27-801E-6F77973CF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Ein prüfbarer Prompt verbindet Aufgabe, Kontext, Material, Anforderungen, Format und Prüfkriterien.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0862B2-B5F5-4277-857B-827C1B2A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3AEE00-F0F4-4A74-BCE4-EF641ADC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003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C579E7-F7EE-4BB2-9537-559EA726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0990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Aufgabe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3BF76A-5647-4A9C-B8E1-5055A9E2A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FC3605-BD2F-4D26-8E53-5A17AF15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003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60D9DB-5053-4643-8546-B795BD18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0990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Kontext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AA7F48-3EA1-4324-B1B5-2C5BBAD89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2415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D2B0BD-D831-43A1-A155-41B1821D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003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AF6FA3-CF04-4051-870A-D9B3965E0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0990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Material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30D95B-6AF9-4320-A34F-B7076E57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8CE70E-C175-42DD-B919-4AE68832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529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BE91F2-383F-47E5-84CE-06021884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624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Anforderungen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7FF008-188C-47AF-B902-A7FE1984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7670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E5725A-323A-472A-A0C2-94B84D9B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1529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218D57-A2AE-42D9-88DE-571546D4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624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Ausgabeformat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FD858A-0F68-4F27-AE53-FE071C58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7670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92F860-C5C2-4975-8F9E-BD9EEA3B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529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0F31D9-1E3F-492A-B361-560264C4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3624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Prüfkriterien</a:t>
            </a:r>
          </a:p>
        </p:txBody>
      </p:sp>
    </p:spTree>
    <p:extLst>
      <p:ext uri="{BB962C8B-B14F-4D97-AF65-F5344CB8AC3E}">
        <p14:creationId xmlns:p14="http://schemas.microsoft.com/office/powerpoint/2010/main" val="46674769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94096305e1458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61c31f5ee74cb0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1">
            <a:extLst xmlns:a="http://schemas.openxmlformats.org/drawingml/2006/main">
              <a:ext uri="{FF2B5EF4-FFF2-40B4-BE49-F238E27FC236}">
                <a16:creationId xmlns:a16="http://schemas.microsoft.com/office/drawing/2014/main" id="{EA51AD2C-192D-438B-ACC3-7FFEA91D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Basisübung: schlechten Prompt verbessern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8BB70B-C83F-44AC-8ACD-6E7D8CF3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9F6875-1156-4BA0-A889-F1BCE037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59F11C-4619-4094-9376-F2CD4A4B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Fehlende Angaben werden sichtbar gemacht und gezielt ergänzt.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B4AF98-71D6-4403-ADB8-E9611D83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334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Verbessern Sie: „Schreib eine Antwort an den Kunden.“ Nutzen Sie alle sechs Bausteine.</a:t>
            </a:r>
          </a:p>
        </p:txBody>
      </p:sp>
    </p:spTree>
    <p:extLst>
      <p:ext uri="{BB962C8B-B14F-4D97-AF65-F5344CB8AC3E}">
        <p14:creationId xmlns:p14="http://schemas.microsoft.com/office/powerpoint/2010/main" val="104494508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f1d5f997b4469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0c133e5e94e38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2">
            <a:extLst xmlns:a="http://schemas.openxmlformats.org/drawingml/2006/main">
              <a:ext uri="{FF2B5EF4-FFF2-40B4-BE49-F238E27FC236}">
                <a16:creationId xmlns:a16="http://schemas.microsoft.com/office/drawing/2014/main" id="{3B81569C-F71E-421F-BFE2-3A1DD482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Fortgeschritten: Ausgabe kritisieren und überarbeiten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2F13C9-45E1-48D0-97B1-FC2747DF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F0008-6B16-476F-8BEF-8AC78831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8598AE-14A8-4510-94B3-618060FE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Eine KI-Kritik ist ein zusätzlicher Hinweis, nicht die Freigabe.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D07766-45C9-4F0E-8940-857C9027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334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Entwurf erzeugen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selbst prüfen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Kritik anfordern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gezielt überarbeiten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erneut prüfen</a:t>
            </a:r>
          </a:p>
        </p:txBody>
      </p:sp>
    </p:spTree>
    <p:extLst>
      <p:ext uri="{BB962C8B-B14F-4D97-AF65-F5344CB8AC3E}">
        <p14:creationId xmlns:p14="http://schemas.microsoft.com/office/powerpoint/2010/main" val="53194702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F4F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9F312F-CC19-4AA3-9098-23304E1A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MYHIWI · AI-STARTKLAR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2234E7-9AE7-45DF-B9FA-02F47141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048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Pause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C91867-4195-4796-91A5-3A899484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857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Danach: Daten einordnen, verantwortlich handeln, praktisch anwenden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A6C3E-D8DC-4206-969E-CCB74BE6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244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Wiedereinstieg: ____ Uhr</a:t>
            </a:r>
          </a:p>
        </p:txBody>
      </p:sp>
      <p:sp>
        <p:nvSpPr>
          <p:cNvPr id="5" name="footer-rule-23">
            <a:extLst xmlns:a="http://schemas.openxmlformats.org/drawingml/2006/main">
              <a:ext uri="{FF2B5EF4-FFF2-40B4-BE49-F238E27FC236}">
                <a16:creationId xmlns:a16="http://schemas.microsoft.com/office/drawing/2014/main" id="{1B144A09-EAB7-449F-8C5B-3A1B1753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1808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6C2445-135B-4DC2-AF62-EA80A046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MyHiwi AI-Startklar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D1038E-15C0-4A57-A2D0-3DAB9A2E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419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v1.0 · Stand 22.07.2026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F20C9D-ECB4-41F8-A4A0-F6782036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06460551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d4d25e590f49a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9ae03872834f61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4">
            <a:extLst xmlns:a="http://schemas.openxmlformats.org/drawingml/2006/main">
              <a:ext uri="{FF2B5EF4-FFF2-40B4-BE49-F238E27FC236}">
                <a16:creationId xmlns:a16="http://schemas.microsoft.com/office/drawing/2014/main" id="{6C6645CC-D3EC-40A4-84E7-BF549BF9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Verantwortung bleibt beim Menschen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BEBD15-4BB6-4D28-83EF-8017BAAB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Menschen prüfen, entscheiden und geben frei.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D1F23B-5B5E-486C-B561-E2111864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KI unterstützt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Menschen prüfen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Verantwortliche entscheiden und geben frei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D62846-A1FA-4D92-8807-105A2F40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B1D517-A6E7-46EC-9DDE-C47A17E4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KI als Unterstützung statt verantwortlichen Entscheider einordnen.</a:t>
            </a:r>
          </a:p>
        </p:txBody>
      </p:sp>
    </p:spTree>
    <p:extLst>
      <p:ext uri="{BB962C8B-B14F-4D97-AF65-F5344CB8AC3E}">
        <p14:creationId xmlns:p14="http://schemas.microsoft.com/office/powerpoint/2010/main" val="71737327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7794966c70499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298880fb7a4989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5">
            <a:extLst xmlns:a="http://schemas.openxmlformats.org/drawingml/2006/main">
              <a:ext uri="{FF2B5EF4-FFF2-40B4-BE49-F238E27FC236}">
                <a16:creationId xmlns:a16="http://schemas.microsoft.com/office/drawing/2014/main" id="{D1844A6E-14D0-4051-9B50-E552C815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Nur freigegebene Werkzeuge und Konten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D466B0-EB2D-48B3-AF62-870AFA08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Ein privater oder kostenloser Zugang ist nicht automatisch für Unternehmensdaten geeignet.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767E1A-E22A-4AEE-A6D9-DEB1E75E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Vor Nutzung klären: Werkzeug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Unternehmenskonto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Zweck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Einstellungen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interne Freigabe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47BAB9-8EA8-46D7-87A8-94A0875B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E35A85-6E99-4742-9CFB-7AD3915D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Betriebliche Freigabe von persönlicher Verfügbarkeit trennen.</a:t>
            </a:r>
          </a:p>
        </p:txBody>
      </p:sp>
    </p:spTree>
    <p:extLst>
      <p:ext uri="{BB962C8B-B14F-4D97-AF65-F5344CB8AC3E}">
        <p14:creationId xmlns:p14="http://schemas.microsoft.com/office/powerpoint/2010/main" val="82759551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b3cc042e834b1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05ec1e6b02443f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6">
            <a:extLst xmlns:a="http://schemas.openxmlformats.org/drawingml/2006/main">
              <a:ext uri="{FF2B5EF4-FFF2-40B4-BE49-F238E27FC236}">
                <a16:creationId xmlns:a16="http://schemas.microsoft.com/office/drawing/2014/main" id="{5FA3A78A-2AC4-480C-8C67-E03C9BC4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Die Datenampel im Überblick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9733A1-3FCF-4C5C-B753-637E1329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Grün nutzen, Gelb vorher klären, Rot im Basistraining niemals eingeben.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F3408D-B032-43DE-8A73-F43E6BFE3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333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DA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GRÜN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9148F7-2B1A-4B2C-8C74-86E7F63D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nutzen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467643-F92C-408B-BBD0-F87B3187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672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im freigegebenen Werkzeug grundsätzlich nutzbar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6E1561-864F-47EB-8A25-32D946CA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333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4BF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GELB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0D0AA3-80E0-4277-81FA-7BB4B1410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290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stoppen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1ADEB6-7A6F-4FCD-832E-B893C636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672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vorher intern prüfen und freigeben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E87ABB-44C6-4A55-A209-3784D50B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81300"/>
            <a:ext cx="3333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D1D1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ROT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C71AF6-9400-4340-9314-83873491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290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nicht eingeben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1D3259-C318-414F-A361-7FB5ACD1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672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im Basistraining niemals eingeben</a:t>
            </a:r>
          </a:p>
        </p:txBody>
      </p:sp>
    </p:spTree>
    <p:extLst>
      <p:ext uri="{BB962C8B-B14F-4D97-AF65-F5344CB8AC3E}">
        <p14:creationId xmlns:p14="http://schemas.microsoft.com/office/powerpoint/2010/main" val="158912609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1377532fbf428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732a9b37c04fb1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7">
            <a:extLst xmlns:a="http://schemas.openxmlformats.org/drawingml/2006/main">
              <a:ext uri="{FF2B5EF4-FFF2-40B4-BE49-F238E27FC236}">
                <a16:creationId xmlns:a16="http://schemas.microsoft.com/office/drawing/2014/main" id="{B1158EC4-1207-4F20-8C28-778A0B8E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Grün: geeignete Beispieldaten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AB5BB9-D83F-4258-ACDF-68FE50C2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Synthetische, veröffentlichte, ausdrücklich freigegebene oder robust anonymisierte Inhalte können grün sein.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1F06EC-FB29-44A8-9017-2B849BFF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5F05B1-6EA6-4A26-AADC-3F972902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1322E3-EE7F-41EE-8C91-7441BECE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Grün: synthetisch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30086E-6F44-4F78-BFE2-90C234FA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CBB5DA-645E-469D-98CC-E6C569F0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384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66BA4C-DDF8-45BA-B563-06E09039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95275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rechtmäßig veröffentlicht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4FC175-8AC7-4835-8260-D7F2A2ED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74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90419C-11B5-46AC-83F5-6BA9CBB0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94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13508F-B6BB-47D4-8DE4-D41199AF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37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ausdrücklich freigegeben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BA13E7-AC06-4B59-A20E-7130A168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274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336537-5B38-4CD5-B124-A11C6CF4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0894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956387-6E97-4589-8B1D-645000073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2037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robust anonymisiert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FC61B1-74EB-43A7-9BDF-992E600F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84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93D303-0ACE-49D9-8A57-0402CDF5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03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D67B93-1690-49A1-A895-B7CD5A35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465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ohne Personen- oder Geheimnisbezug</a:t>
            </a:r>
          </a:p>
        </p:txBody>
      </p:sp>
    </p:spTree>
    <p:extLst>
      <p:ext uri="{BB962C8B-B14F-4D97-AF65-F5344CB8AC3E}">
        <p14:creationId xmlns:p14="http://schemas.microsoft.com/office/powerpoint/2010/main" val="129628908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c88a615834450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361b86a2354621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8">
            <a:extLst xmlns:a="http://schemas.openxmlformats.org/drawingml/2006/main">
              <a:ext uri="{FF2B5EF4-FFF2-40B4-BE49-F238E27FC236}">
                <a16:creationId xmlns:a16="http://schemas.microsoft.com/office/drawing/2014/main" id="{978E7B65-C256-4BCF-9207-515C43F4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Gelb: erst intern prüfen und freigeben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03A229-D558-4830-9E55-C27E56BD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Gelb bedeutet stoppen, Zuständigkeit und zulässige Umgebung klären.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23A266-6695-46E5-B783-6EC68CBE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E6CB4F-F1E7-474A-BF1F-6559559E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25C754-7E80-4E92-AFB2-2E450CAEA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Gelb: interne oder pseudonymisierte Inhalte, fremde Werke, unklare Vertraulichkeit → zuerst intern klären</a:t>
            </a:r>
          </a:p>
        </p:txBody>
      </p:sp>
    </p:spTree>
    <p:extLst>
      <p:ext uri="{BB962C8B-B14F-4D97-AF65-F5344CB8AC3E}">
        <p14:creationId xmlns:p14="http://schemas.microsoft.com/office/powerpoint/2010/main" val="200152551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a51e9a1ed7461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93e1f0047146bf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9">
            <a:extLst xmlns:a="http://schemas.openxmlformats.org/drawingml/2006/main">
              <a:ext uri="{FF2B5EF4-FFF2-40B4-BE49-F238E27FC236}">
                <a16:creationId xmlns:a16="http://schemas.microsoft.com/office/drawing/2014/main" id="{5D16F831-A7DC-490F-BA17-7F82C15A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Rot: im Basistraining niemals eingeben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730B5A-42A3-40BB-850D-EECAB987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Sicherheitsdaten, Geheimnisse und sensible Personeninformationen bleiben aus Live-Übungen heraus.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C870EB-A30E-4CEE-9613-C74CDDF2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Rot: Passwörter &amp; Schlüssel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Geschäftsgeheimnisse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nicht öffentliche Finanzdaten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Beschäftigten-, Kunden-, Patienten- &amp; Gesundheitsdaten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sicherheitskritische Informationen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606741-6A13-4F6C-A30C-6255C910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597ACF-3871-41C7-8D07-6C615EA8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Harte Stoppsignale erkennen.</a:t>
            </a:r>
          </a:p>
        </p:txBody>
      </p:sp>
    </p:spTree>
    <p:extLst>
      <p:ext uri="{BB962C8B-B14F-4D97-AF65-F5344CB8AC3E}">
        <p14:creationId xmlns:p14="http://schemas.microsoft.com/office/powerpoint/2010/main" val="5324088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e417aa080d444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24856ec2234383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0">
            <a:extLst xmlns:a="http://schemas.openxmlformats.org/drawingml/2006/main">
              <a:ext uri="{FF2B5EF4-FFF2-40B4-BE49-F238E27FC236}">
                <a16:creationId xmlns:a16="http://schemas.microsoft.com/office/drawing/2014/main" id="{17CA8351-098F-4FFC-8FD2-1EF52DDF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Besonders folgenreiche Anwendungsfälle erkennen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C67B26-F7B7-4B28-9195-CA19D1C0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Entscheidungen über Menschen und sicherheitskritische Freigaben gehören nicht in die Basisübung.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0C2917-F7D7-4DB0-B09E-771E37B1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Stoppen bei: Beschäftigtenbewertung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Gesundheit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Kredit &amp; Scoring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Zugang zu Leistungen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sicherheitskritischer Freigabe</a:t>
            </a:r>
          </a:p>
          <a:p xmlns:a="http://schemas.openxmlformats.org/drawingml/2006/main">
            <a:pPr algn="l">
              <a:defRPr sz="150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erheblicher Personenwirkung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7B5223-6047-43E0-9109-72AA11EF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EADD01-14F5-45BA-A599-C1F467A7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Fälle mit erheblichen Auswirkungen früh stoppen.</a:t>
            </a:r>
          </a:p>
        </p:txBody>
      </p:sp>
    </p:spTree>
    <p:extLst>
      <p:ext uri="{BB962C8B-B14F-4D97-AF65-F5344CB8AC3E}">
        <p14:creationId xmlns:p14="http://schemas.microsoft.com/office/powerpoint/2010/main" val="117076363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4c3706295e4f9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b6c73a8ac1429e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1">
            <a:extLst xmlns:a="http://schemas.openxmlformats.org/drawingml/2006/main">
              <a:ext uri="{FF2B5EF4-FFF2-40B4-BE49-F238E27FC236}">
                <a16:creationId xmlns:a16="http://schemas.microsoft.com/office/drawing/2014/main" id="{4DBA73B9-EC6C-446B-B906-DF6A47FF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Menschliche Kontrolle und Freigabewege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8FA9EA-79C2-4708-A687-B7E1B1F1E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Jede relevante Ausgabe braucht eine benannte prüfende und freigebende Rolle.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276F56-EC11-4E46-B8F1-8F598D10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Wer erstellt? Wer prüft fachlich? Wer gibt frei? Wohin wird Unsicherheit eskaliert?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241F81-FD44-4CB1-953F-B44D4E4A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3759FA-AAED-4A46-A373-118A818E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Zuständigkeit vom Entwurf bis zur Verwendung festlegen.</a:t>
            </a:r>
          </a:p>
        </p:txBody>
      </p:sp>
    </p:spTree>
    <p:extLst>
      <p:ext uri="{BB962C8B-B14F-4D97-AF65-F5344CB8AC3E}">
        <p14:creationId xmlns:p14="http://schemas.microsoft.com/office/powerpoint/2010/main" val="47664951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e5279a8a694b0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a3b79d185f4422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2">
            <a:extLst xmlns:a="http://schemas.openxmlformats.org/drawingml/2006/main">
              <a:ext uri="{FF2B5EF4-FFF2-40B4-BE49-F238E27FC236}">
                <a16:creationId xmlns:a16="http://schemas.microsoft.com/office/drawing/2014/main" id="{6915881D-53D0-458B-B555-6BA5E856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Fünf betriebliche Grundregeln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DFA221-56C7-482F-8CA9-B24ADE18B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Werkzeugfreigabe, Datenampel, Prüfung, menschliche Verantwortung und Eskalation gehören zusammen.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D50D07-E33E-4383-A02E-94B68AFD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533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318DB5-3468-48F1-91A7-83D5B49B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717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Nur freigegebene Werkzeuge und Unternehmenskonten nutzen.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931FD0-602F-41FB-874B-440FCE00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2420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85774C-43CB-4735-AFBF-32DB5CF6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33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300D13-3EE5-444A-BD87-A322E12D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194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Vor jeder Eingabe die Datenampel anwenden; rote Daten im Basisgebrauch nicht eingeben.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7F53EC-5700-46C6-9009-CF82887D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A176E7-0FAE-4598-A1C4-9D04FC00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33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164AAD-00DC-4487-9DB6-68E2EF7F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KI-Ausgaben vor Verwendung auf Fakten, Quellen, Rechte, Ton und Wirkung prüfen.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F27B49-DFD1-4C10-89B0-151B30E8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1960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9B2327-5E8C-4563-8DF1-65C2A116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533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2DD76D-DB5A-4FFB-9AAF-B97F91689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Verantwortung und folgenreiche Entscheidungen bleiben beim Menschen.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BADAFA-AE39-4FF0-8CCC-A41F7E19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6730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97DD07-5835-4EB2-ACD1-514C844E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533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6B5C38-2C31-48CB-8A8B-106D8B85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1625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Unsichere, sensible oder ungewöhnliche Fälle stoppen und intern eskalieren.</a:t>
            </a:r>
          </a:p>
        </p:txBody>
      </p:sp>
    </p:spTree>
    <p:extLst>
      <p:ext uri="{BB962C8B-B14F-4D97-AF65-F5344CB8AC3E}">
        <p14:creationId xmlns:p14="http://schemas.microsoft.com/office/powerpoint/2010/main" val="23780388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cda1d56d9e47d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b3a16524614438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3">
            <a:extLst xmlns:a="http://schemas.openxmlformats.org/drawingml/2006/main">
              <a:ext uri="{FF2B5EF4-FFF2-40B4-BE49-F238E27FC236}">
                <a16:creationId xmlns:a16="http://schemas.microsoft.com/office/drawing/2014/main" id="{E001FBA7-19DE-4AC0-B764-7C51AF07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Unternehmensbezogener Praxisfall und Ziel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34C5AD-2F43-44B2-AC6E-3E75D141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C964F8-1C02-4633-97F2-81C79EDF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B5BD70-2F81-4DF1-B747-76785F37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Die Übung beginnt mit Ziel, Datenrahmen und gewünschtem Arbeitsergebnis.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AD3426-CF42-4BD8-8B5E-A8BCA410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334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Praxisfall: [synthetischer Fall]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Ziel: [Arbeitsergebnis]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Freigabeweg: [Rolle]</a:t>
            </a:r>
          </a:p>
        </p:txBody>
      </p:sp>
    </p:spTree>
    <p:extLst>
      <p:ext uri="{BB962C8B-B14F-4D97-AF65-F5344CB8AC3E}">
        <p14:creationId xmlns:p14="http://schemas.microsoft.com/office/powerpoint/2010/main" val="66907786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b0063b6a534bd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bd95d8f3544fe6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4">
            <a:extLst xmlns:a="http://schemas.openxmlformats.org/drawingml/2006/main">
              <a:ext uri="{FF2B5EF4-FFF2-40B4-BE49-F238E27FC236}">
                <a16:creationId xmlns:a16="http://schemas.microsoft.com/office/drawing/2014/main" id="{0C7C2EFD-1697-4B1B-A324-9E8B09E5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Schritt 1: Aufgabe und gewünschtes Ergebnis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0D0942-A592-43C3-9D2E-CA6A557D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2C3778-E811-4503-BE2C-EFBC41E21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71E482-024B-4A4C-B5B1-30576395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Erst das benötigte Ergebnis klären, dann das Werkzeug beauftragen.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2C1030-F8EB-4D97-A1DC-EB353308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334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Was soll entstehen? Für wen? Wofür? Was wäre ein brauchbares Ergebnis?</a:t>
            </a:r>
          </a:p>
        </p:txBody>
      </p:sp>
    </p:spTree>
    <p:extLst>
      <p:ext uri="{BB962C8B-B14F-4D97-AF65-F5344CB8AC3E}">
        <p14:creationId xmlns:p14="http://schemas.microsoft.com/office/powerpoint/2010/main" val="6390138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def25a85c44fd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0723f981b24743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5">
            <a:extLst xmlns:a="http://schemas.openxmlformats.org/drawingml/2006/main">
              <a:ext uri="{FF2B5EF4-FFF2-40B4-BE49-F238E27FC236}">
                <a16:creationId xmlns:a16="http://schemas.microsoft.com/office/drawing/2014/main" id="{776E0B71-F079-47AE-AA73-F42DFFE82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Schritt 2: Daten einordnen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69E298-0E3E-4D67-ABE3-BAA3805FD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057F6D-09C9-4172-8ECC-D565D3CD1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506E09-AF88-4E24-89F7-DFEAFE7B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Nur freigegebenes grünes oder synthetisch ersetztes Material wird verwendet.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BB4198-5610-4D4F-8E05-05063BA14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334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Material prüfen: Grün nutzen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Gelb ersetzen und intern klären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Rot stoppen</a:t>
            </a:r>
          </a:p>
        </p:txBody>
      </p:sp>
    </p:spTree>
    <p:extLst>
      <p:ext uri="{BB962C8B-B14F-4D97-AF65-F5344CB8AC3E}">
        <p14:creationId xmlns:p14="http://schemas.microsoft.com/office/powerpoint/2010/main" val="162962458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f76a42c2894e8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18f9e8431541a6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6">
            <a:extLst xmlns:a="http://schemas.openxmlformats.org/drawingml/2006/main">
              <a:ext uri="{FF2B5EF4-FFF2-40B4-BE49-F238E27FC236}">
                <a16:creationId xmlns:a16="http://schemas.microsoft.com/office/drawing/2014/main" id="{52922BA2-5E63-402A-A666-F17C7B38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Schritt 3: Prompt formulieren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5D44CC-B639-4166-ACDF-8AA2B3C76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591A90-A593-4A80-9322-01AA6881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7807C0-C670-43F1-94A2-BE5F64CD1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Materialgrenze und Prüfkriterien gehören ausdrücklich in den Prompt.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9CFCFB-E8A4-4B89-8743-F1CBB7BB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334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Aufgabe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Kontext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freigegebenes Material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Anforderungen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Ausgabeformat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Prüfkriterien</a:t>
            </a:r>
          </a:p>
        </p:txBody>
      </p:sp>
    </p:spTree>
    <p:extLst>
      <p:ext uri="{BB962C8B-B14F-4D97-AF65-F5344CB8AC3E}">
        <p14:creationId xmlns:p14="http://schemas.microsoft.com/office/powerpoint/2010/main" val="11104836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6efbc468514b7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dbe3a11e4344db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7">
            <a:extLst xmlns:a="http://schemas.openxmlformats.org/drawingml/2006/main">
              <a:ext uri="{FF2B5EF4-FFF2-40B4-BE49-F238E27FC236}">
                <a16:creationId xmlns:a16="http://schemas.microsoft.com/office/drawing/2014/main" id="{14105F1A-C8B1-4190-8EF0-3C7B34B2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Schritt 4: Beispielausgabe analysieren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1387E6-8695-4F27-8762-14C14817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6B60F4-EAB2-4DDA-9D11-5A24F889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F39486-6DDA-40AB-92B6-BC90C722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Zuerst Beobachtungen und Risiken markieren, dann überarbeiten.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A9D5FD-2C25-47B4-A00B-C3F82AB4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334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Markieren: brauchbar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unklar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unbelegt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falsch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unpassend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fehlend</a:t>
            </a:r>
          </a:p>
        </p:txBody>
      </p:sp>
    </p:spTree>
    <p:extLst>
      <p:ext uri="{BB962C8B-B14F-4D97-AF65-F5344CB8AC3E}">
        <p14:creationId xmlns:p14="http://schemas.microsoft.com/office/powerpoint/2010/main" val="140461276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cb44d309ed438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719c87dcc54b43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8">
            <a:extLst xmlns:a="http://schemas.openxmlformats.org/drawingml/2006/main">
              <a:ext uri="{FF2B5EF4-FFF2-40B4-BE49-F238E27FC236}">
                <a16:creationId xmlns:a16="http://schemas.microsoft.com/office/drawing/2014/main" id="{9DC8C4B6-D18D-41D4-8347-B1A08795A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Siebenstufige Prüfroutine und Verbesserung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84E870-BF21-42B6-AB91-71C114B1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Fakten, Quellen, Vollständigkeit, Verzerrung, Rechte und Daten, Ton und Wirkung sowie Verantwortung werden einzeln geprüft.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67AEC-1BBB-4443-8D84-DB007CC7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14625"/>
            <a:ext cx="0" cy="2914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F4FC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3F0F08-792B-459C-B215-31081211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8D5CF5-1672-46A1-AE46-BA1E141B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09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Fakten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88A244-44C5-478B-BC55-663BF5E1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34A88A-037E-464F-A52D-B333B9CF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71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Quellen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D6B91B-020C-4418-B1FB-DB35A836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770FA6-72FD-49A6-97F7-9596B8EDC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33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Vollständigkeit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E0B8D7-5FDF-48B8-8F01-D6CD45C72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BB61-0632-49C7-814E-8BD96D97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95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Verzerrung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EC1638-1DB3-4214-A391-775D8910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71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ECEAA3-038B-42F7-8574-8B0AD827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609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Rechte &amp; Daten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374E9B-3080-4BBE-BACE-345B6605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33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BF515B-6FAE-4AE7-856C-7863A287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71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Ton &amp; Wirkung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4BAC84-5ABB-46AD-B5F1-B717908D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95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560B04-CF6C-4501-95CA-CA56FAE9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33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Verantwortung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A7B912-C799-4519-A6E1-91CB7710A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067300"/>
            <a:ext cx="476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verwenden · verbessern · verwerfen · eskalieren</a:t>
            </a:r>
          </a:p>
        </p:txBody>
      </p:sp>
    </p:spTree>
    <p:extLst>
      <p:ext uri="{BB962C8B-B14F-4D97-AF65-F5344CB8AC3E}">
        <p14:creationId xmlns:p14="http://schemas.microsoft.com/office/powerpoint/2010/main" val="123500437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cb465f75c940f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ff145507c44906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9">
            <a:extLst xmlns:a="http://schemas.openxmlformats.org/drawingml/2006/main">
              <a:ext uri="{FF2B5EF4-FFF2-40B4-BE49-F238E27FC236}">
                <a16:creationId xmlns:a16="http://schemas.microsoft.com/office/drawing/2014/main" id="{6ACEE649-073D-4CDE-8B98-77CC61FE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Zehnteiliger Lern- und Transfercheck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1C8B6D-1A50-47B0-9DCA-AA3CF878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0A749-B4ED-4A9A-9ABD-2115C26F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53DC3C-357A-477E-ADFC-2BE52A38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Der Check unterstützt Lernen und Transfer, nicht die Bewertung einzelner Beschäftigter.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F6E883-DF14-4AE6-BED9-0E64FE35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334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286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Zehn Fragen: Funktionsweise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Prompt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Risiken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Datenampel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Verantwortung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Prüfung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Eskalation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Toolzugang</a:t>
            </a:r>
          </a:p>
        </p:txBody>
      </p:sp>
    </p:spTree>
    <p:extLst>
      <p:ext uri="{BB962C8B-B14F-4D97-AF65-F5344CB8AC3E}">
        <p14:creationId xmlns:p14="http://schemas.microsoft.com/office/powerpoint/2010/main" val="1013106058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90c6c4ed5442d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9a2b2825184fd5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40">
            <a:extLst xmlns:a="http://schemas.openxmlformats.org/drawingml/2006/main">
              <a:ext uri="{FF2B5EF4-FFF2-40B4-BE49-F238E27FC236}">
                <a16:creationId xmlns:a16="http://schemas.microsoft.com/office/drawing/2014/main" id="{F8A7427B-6526-4544-95B4-DA19839C4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Ansprechpartner, nächste Schritte und Abschluss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F211FC-7A1D-4AC0-8965-ADD94E4E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971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Der nächste Schritt ist klein, freigegeben und prüfbar.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506189-3BEA-4E29-969A-6BA71E2B3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516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Nächster sicherer Anwendungsfall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ED2742-FF7B-42E7-84E2-29570031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2956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2448A9-9065-4738-8271-3DF4EB72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3337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Fachliche Prüfung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6C44F2-4A3B-418D-A434-CE40B1B7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956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190D7A-4ADD-4F85-93DC-EDB1C702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Toolfreigabe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4803A5-CA23-416B-99D2-C6D07406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767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7EDC73-48BB-4BF9-AC6F-2E52952B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1148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Datenschutz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AF7905-654B-4DF4-BF1D-6D5C91A0E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0767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EF7674-B113-4B38-9C41-B454314A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Informationssicherheit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21B5B-5396-40C7-AF58-2E9D1404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857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FA9EB4-6645-4BAE-8DC0-2E73FC26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8958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Eskalationsstelle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D5B3E4-17D2-4DF8-B418-9CFCA016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857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</p:spTree>
    <p:extLst>
      <p:ext uri="{BB962C8B-B14F-4D97-AF65-F5344CB8AC3E}">
        <p14:creationId xmlns:p14="http://schemas.microsoft.com/office/powerpoint/2010/main" val="13506367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2026-07-22T16:04:57.2730000Z</dcterms:created>
  <dcterms:modified xsi:type="dcterms:W3CDTF">2026-07-22T16:04:57.2730000Z</dcterms:modified>
</coreProperties>
</file>