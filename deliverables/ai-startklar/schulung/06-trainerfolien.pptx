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101a222a834eb6" /><Relationship Type="http://schemas.openxmlformats.org/officeDocument/2006/relationships/extended-properties" Target="/docProps/app.xml" Id="R07ee1de5064f4dec" /><Relationship Type="http://schemas.openxmlformats.org/officeDocument/2006/relationships/officeDocument" Target="/ppt/presentation.xml" Id="R79ae714826634c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77b670910c4016"/>
  </p:sldMasterIdLst>
  <p:notesMasterIdLst>
    <p:notesMasterId xmlns:r="http://schemas.openxmlformats.org/officeDocument/2006/relationships" r:id="R3ef40b02da544cb7"/>
  </p:notesMasterIdLst>
  <p:sldIdLst>
    <p:sldId xmlns:r="http://schemas.openxmlformats.org/officeDocument/2006/relationships" id="256" r:id="Rf088f940569b42a9"/>
    <p:sldId xmlns:r="http://schemas.openxmlformats.org/officeDocument/2006/relationships" id="257" r:id="R7bcfd20a962f46c5"/>
    <p:sldId xmlns:r="http://schemas.openxmlformats.org/officeDocument/2006/relationships" id="258" r:id="Rf2e27a4ae03b4c38"/>
    <p:sldId xmlns:r="http://schemas.openxmlformats.org/officeDocument/2006/relationships" id="259" r:id="R47317ad9ace543a5"/>
    <p:sldId xmlns:r="http://schemas.openxmlformats.org/officeDocument/2006/relationships" id="260" r:id="R87c147c58aaa48d3"/>
    <p:sldId xmlns:r="http://schemas.openxmlformats.org/officeDocument/2006/relationships" id="261" r:id="R5b7954b43c0b4d84"/>
    <p:sldId xmlns:r="http://schemas.openxmlformats.org/officeDocument/2006/relationships" id="262" r:id="R7825e2217ed94e66"/>
    <p:sldId xmlns:r="http://schemas.openxmlformats.org/officeDocument/2006/relationships" id="263" r:id="R94be1598a7a24224"/>
    <p:sldId xmlns:r="http://schemas.openxmlformats.org/officeDocument/2006/relationships" id="264" r:id="R107b5075ca4f454e"/>
    <p:sldId xmlns:r="http://schemas.openxmlformats.org/officeDocument/2006/relationships" id="265" r:id="Rf499de33a40847e3"/>
    <p:sldId xmlns:r="http://schemas.openxmlformats.org/officeDocument/2006/relationships" id="266" r:id="R5aa4acd096b943ec"/>
    <p:sldId xmlns:r="http://schemas.openxmlformats.org/officeDocument/2006/relationships" id="267" r:id="R4c35f44aeb9541ab"/>
    <p:sldId xmlns:r="http://schemas.openxmlformats.org/officeDocument/2006/relationships" id="268" r:id="Rd7b5e6d50fcf40f8"/>
    <p:sldId xmlns:r="http://schemas.openxmlformats.org/officeDocument/2006/relationships" id="269" r:id="R94aa259eb3e34cd7"/>
    <p:sldId xmlns:r="http://schemas.openxmlformats.org/officeDocument/2006/relationships" id="270" r:id="R73c245bdb2db4eae"/>
    <p:sldId xmlns:r="http://schemas.openxmlformats.org/officeDocument/2006/relationships" id="271" r:id="R78ad69030071455c"/>
    <p:sldId xmlns:r="http://schemas.openxmlformats.org/officeDocument/2006/relationships" id="272" r:id="R1403673472d64c9e"/>
    <p:sldId xmlns:r="http://schemas.openxmlformats.org/officeDocument/2006/relationships" id="273" r:id="Rb8db8390e91d4fd2"/>
    <p:sldId xmlns:r="http://schemas.openxmlformats.org/officeDocument/2006/relationships" id="274" r:id="R422067cd824e4b95"/>
    <p:sldId xmlns:r="http://schemas.openxmlformats.org/officeDocument/2006/relationships" id="275" r:id="R33db265865ec42eb"/>
    <p:sldId xmlns:r="http://schemas.openxmlformats.org/officeDocument/2006/relationships" id="276" r:id="R3ab6f70073e54c49"/>
    <p:sldId xmlns:r="http://schemas.openxmlformats.org/officeDocument/2006/relationships" id="277" r:id="R12d45b6ee85246bf"/>
    <p:sldId xmlns:r="http://schemas.openxmlformats.org/officeDocument/2006/relationships" id="278" r:id="Recff764960114a58"/>
    <p:sldId xmlns:r="http://schemas.openxmlformats.org/officeDocument/2006/relationships" id="279" r:id="R22d9695ed0254d08"/>
    <p:sldId xmlns:r="http://schemas.openxmlformats.org/officeDocument/2006/relationships" id="280" r:id="R7f3ea343a6fb4698"/>
    <p:sldId xmlns:r="http://schemas.openxmlformats.org/officeDocument/2006/relationships" id="281" r:id="Rbb1f175bb5354c53"/>
    <p:sldId xmlns:r="http://schemas.openxmlformats.org/officeDocument/2006/relationships" id="282" r:id="R769bc14aa45d4fe1"/>
    <p:sldId xmlns:r="http://schemas.openxmlformats.org/officeDocument/2006/relationships" id="283" r:id="Rcfe84c6c1f614c06"/>
    <p:sldId xmlns:r="http://schemas.openxmlformats.org/officeDocument/2006/relationships" id="284" r:id="R8c2fe7d6a7ef42f2"/>
    <p:sldId xmlns:r="http://schemas.openxmlformats.org/officeDocument/2006/relationships" id="285" r:id="R7a00c754c80f434d"/>
    <p:sldId xmlns:r="http://schemas.openxmlformats.org/officeDocument/2006/relationships" id="286" r:id="Rabe7384c9cea446d"/>
    <p:sldId xmlns:r="http://schemas.openxmlformats.org/officeDocument/2006/relationships" id="287" r:id="R6909d198e91b43e5"/>
    <p:sldId xmlns:r="http://schemas.openxmlformats.org/officeDocument/2006/relationships" id="288" r:id="Rc700524f316b458b"/>
    <p:sldId xmlns:r="http://schemas.openxmlformats.org/officeDocument/2006/relationships" id="289" r:id="Rfb4721bbdac74673"/>
    <p:sldId xmlns:r="http://schemas.openxmlformats.org/officeDocument/2006/relationships" id="290" r:id="Ra97416c2431c4c8c"/>
    <p:sldId xmlns:r="http://schemas.openxmlformats.org/officeDocument/2006/relationships" id="291" r:id="R7e62998eb8714622"/>
    <p:sldId xmlns:r="http://schemas.openxmlformats.org/officeDocument/2006/relationships" id="292" r:id="R0f1c0aa9ab684dad"/>
    <p:sldId xmlns:r="http://schemas.openxmlformats.org/officeDocument/2006/relationships" id="293" r:id="R6072e459f1084000"/>
    <p:sldId xmlns:r="http://schemas.openxmlformats.org/officeDocument/2006/relationships" id="294" r:id="R7d85115a66744c27"/>
    <p:sldId xmlns:r="http://schemas.openxmlformats.org/officeDocument/2006/relationships" id="295" r:id="R6c8bc89ace95466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bfdc09910445aa" /><Relationship Type="http://schemas.openxmlformats.org/officeDocument/2006/relationships/slideMaster" Target="/ppt/slideMasters/slideMaster1.xml" Id="R8177b670910c4016" /><Relationship Type="http://schemas.openxmlformats.org/officeDocument/2006/relationships/notesMaster" Target="/ppt/notesMasters/notesMaster1.xml" Id="R3ef40b02da544cb7" /><Relationship Type="http://schemas.openxmlformats.org/officeDocument/2006/relationships/presProps" Target="/ppt/presProps.xml" Id="R5fface49557349f3" /><Relationship Type="http://schemas.openxmlformats.org/officeDocument/2006/relationships/tableStyles" Target="/ppt/tableStyles.xml" Id="Ra986ba935ba54706" /><Relationship Type="http://schemas.openxmlformats.org/officeDocument/2006/relationships/slide" Target="/ppt/slides/slide1.xml" Id="Rf088f940569b42a9" /><Relationship Type="http://schemas.openxmlformats.org/officeDocument/2006/relationships/slide" Target="/ppt/slides/slide2.xml" Id="R7bcfd20a962f46c5" /><Relationship Type="http://schemas.openxmlformats.org/officeDocument/2006/relationships/slide" Target="/ppt/slides/slide3.xml" Id="Rf2e27a4ae03b4c38" /><Relationship Type="http://schemas.openxmlformats.org/officeDocument/2006/relationships/slide" Target="/ppt/slides/slide4.xml" Id="R47317ad9ace543a5" /><Relationship Type="http://schemas.openxmlformats.org/officeDocument/2006/relationships/slide" Target="/ppt/slides/slide5.xml" Id="R87c147c58aaa48d3" /><Relationship Type="http://schemas.openxmlformats.org/officeDocument/2006/relationships/slide" Target="/ppt/slides/slide6.xml" Id="R5b7954b43c0b4d84" /><Relationship Type="http://schemas.openxmlformats.org/officeDocument/2006/relationships/slide" Target="/ppt/slides/slide7.xml" Id="R7825e2217ed94e66" /><Relationship Type="http://schemas.openxmlformats.org/officeDocument/2006/relationships/slide" Target="/ppt/slides/slide8.xml" Id="R94be1598a7a24224" /><Relationship Type="http://schemas.openxmlformats.org/officeDocument/2006/relationships/slide" Target="/ppt/slides/slide9.xml" Id="R107b5075ca4f454e" /><Relationship Type="http://schemas.openxmlformats.org/officeDocument/2006/relationships/slide" Target="/ppt/slides/slide10.xml" Id="Rf499de33a40847e3" /><Relationship Type="http://schemas.openxmlformats.org/officeDocument/2006/relationships/slide" Target="/ppt/slides/slide11.xml" Id="R5aa4acd096b943ec" /><Relationship Type="http://schemas.openxmlformats.org/officeDocument/2006/relationships/slide" Target="/ppt/slides/slide12.xml" Id="R4c35f44aeb9541ab" /><Relationship Type="http://schemas.openxmlformats.org/officeDocument/2006/relationships/slide" Target="/ppt/slides/slide13.xml" Id="Rd7b5e6d50fcf40f8" /><Relationship Type="http://schemas.openxmlformats.org/officeDocument/2006/relationships/slide" Target="/ppt/slides/slide14.xml" Id="R94aa259eb3e34cd7" /><Relationship Type="http://schemas.openxmlformats.org/officeDocument/2006/relationships/slide" Target="/ppt/slides/slide15.xml" Id="R73c245bdb2db4eae" /><Relationship Type="http://schemas.openxmlformats.org/officeDocument/2006/relationships/slide" Target="/ppt/slides/slide16.xml" Id="R78ad69030071455c" /><Relationship Type="http://schemas.openxmlformats.org/officeDocument/2006/relationships/slide" Target="/ppt/slides/slide17.xml" Id="R1403673472d64c9e" /><Relationship Type="http://schemas.openxmlformats.org/officeDocument/2006/relationships/slide" Target="/ppt/slides/slide18.xml" Id="Rb8db8390e91d4fd2" /><Relationship Type="http://schemas.openxmlformats.org/officeDocument/2006/relationships/slide" Target="/ppt/slides/slide19.xml" Id="R422067cd824e4b95" /><Relationship Type="http://schemas.openxmlformats.org/officeDocument/2006/relationships/slide" Target="/ppt/slides/slide20.xml" Id="R33db265865ec42eb" /><Relationship Type="http://schemas.openxmlformats.org/officeDocument/2006/relationships/slide" Target="/ppt/slides/slide21.xml" Id="R3ab6f70073e54c49" /><Relationship Type="http://schemas.openxmlformats.org/officeDocument/2006/relationships/slide" Target="/ppt/slides/slide22.xml" Id="R12d45b6ee85246bf" /><Relationship Type="http://schemas.openxmlformats.org/officeDocument/2006/relationships/slide" Target="/ppt/slides/slide23.xml" Id="Recff764960114a58" /><Relationship Type="http://schemas.openxmlformats.org/officeDocument/2006/relationships/slide" Target="/ppt/slides/slide24.xml" Id="R22d9695ed0254d08" /><Relationship Type="http://schemas.openxmlformats.org/officeDocument/2006/relationships/slide" Target="/ppt/slides/slide25.xml" Id="R7f3ea343a6fb4698" /><Relationship Type="http://schemas.openxmlformats.org/officeDocument/2006/relationships/slide" Target="/ppt/slides/slide26.xml" Id="Rbb1f175bb5354c53" /><Relationship Type="http://schemas.openxmlformats.org/officeDocument/2006/relationships/slide" Target="/ppt/slides/slide27.xml" Id="R769bc14aa45d4fe1" /><Relationship Type="http://schemas.openxmlformats.org/officeDocument/2006/relationships/slide" Target="/ppt/slides/slide28.xml" Id="Rcfe84c6c1f614c06" /><Relationship Type="http://schemas.openxmlformats.org/officeDocument/2006/relationships/slide" Target="/ppt/slides/slide29.xml" Id="R8c2fe7d6a7ef42f2" /><Relationship Type="http://schemas.openxmlformats.org/officeDocument/2006/relationships/slide" Target="/ppt/slides/slide30.xml" Id="R7a00c754c80f434d" /><Relationship Type="http://schemas.openxmlformats.org/officeDocument/2006/relationships/slide" Target="/ppt/slides/slide31.xml" Id="Rabe7384c9cea446d" /><Relationship Type="http://schemas.openxmlformats.org/officeDocument/2006/relationships/slide" Target="/ppt/slides/slide32.xml" Id="R6909d198e91b43e5" /><Relationship Type="http://schemas.openxmlformats.org/officeDocument/2006/relationships/slide" Target="/ppt/slides/slide33.xml" Id="Rc700524f316b458b" /><Relationship Type="http://schemas.openxmlformats.org/officeDocument/2006/relationships/slide" Target="/ppt/slides/slide34.xml" Id="Rfb4721bbdac74673" /><Relationship Type="http://schemas.openxmlformats.org/officeDocument/2006/relationships/slide" Target="/ppt/slides/slide35.xml" Id="Ra97416c2431c4c8c" /><Relationship Type="http://schemas.openxmlformats.org/officeDocument/2006/relationships/slide" Target="/ppt/slides/slide36.xml" Id="R7e62998eb8714622" /><Relationship Type="http://schemas.openxmlformats.org/officeDocument/2006/relationships/slide" Target="/ppt/slides/slide37.xml" Id="R0f1c0aa9ab684dad" /><Relationship Type="http://schemas.openxmlformats.org/officeDocument/2006/relationships/slide" Target="/ppt/slides/slide38.xml" Id="R6072e459f1084000" /><Relationship Type="http://schemas.openxmlformats.org/officeDocument/2006/relationships/slide" Target="/ppt/slides/slide39.xml" Id="R7d85115a66744c27" /><Relationship Type="http://schemas.openxmlformats.org/officeDocument/2006/relationships/slide" Target="/ppt/slides/slide40.xml" Id="R6c8bc89ace9546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f7e3c632d240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d8d518ec8d4432" /><Relationship Type="http://schemas.openxmlformats.org/officeDocument/2006/relationships/notesMaster" Target="/ppt/notesMasters/notesMaster1.xml" Id="Rad1d0f1331324f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db4ab237cd492b" /><Relationship Type="http://schemas.openxmlformats.org/officeDocument/2006/relationships/notesMaster" Target="/ppt/notesMasters/notesMaster1.xml" Id="Redaa542600d543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e0afd73d914ec4" /><Relationship Type="http://schemas.openxmlformats.org/officeDocument/2006/relationships/notesMaster" Target="/ppt/notesMasters/notesMaster1.xml" Id="R059b35e149de42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9f9f8b7f02478e" /><Relationship Type="http://schemas.openxmlformats.org/officeDocument/2006/relationships/notesMaster" Target="/ppt/notesMasters/notesMaster1.xml" Id="R0f5a59c6b03845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20c917ba3740d0" /><Relationship Type="http://schemas.openxmlformats.org/officeDocument/2006/relationships/notesMaster" Target="/ppt/notesMasters/notesMaster1.xml" Id="R1f5a7161fb3c4c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cf8787f7304d9e" /><Relationship Type="http://schemas.openxmlformats.org/officeDocument/2006/relationships/notesMaster" Target="/ppt/notesMasters/notesMaster1.xml" Id="R9258de2632474d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0948159a374ecb" /><Relationship Type="http://schemas.openxmlformats.org/officeDocument/2006/relationships/notesMaster" Target="/ppt/notesMasters/notesMaster1.xml" Id="R80dd52f24b8545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e054aab4ef4898" /><Relationship Type="http://schemas.openxmlformats.org/officeDocument/2006/relationships/notesMaster" Target="/ppt/notesMasters/notesMaster1.xml" Id="R3b9899b9670e46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af098afd504fd9" /><Relationship Type="http://schemas.openxmlformats.org/officeDocument/2006/relationships/notesMaster" Target="/ppt/notesMasters/notesMaster1.xml" Id="R347a3e47856746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e0aa2cd7af249ff" /><Relationship Type="http://schemas.openxmlformats.org/officeDocument/2006/relationships/notesMaster" Target="/ppt/notesMasters/notesMaster1.xml" Id="R10982a2df3fa42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553b93709014469" /><Relationship Type="http://schemas.openxmlformats.org/officeDocument/2006/relationships/notesMaster" Target="/ppt/notesMasters/notesMaster1.xml" Id="Rd9e2be952b384e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c29caea0a14848" /><Relationship Type="http://schemas.openxmlformats.org/officeDocument/2006/relationships/notesMaster" Target="/ppt/notesMasters/notesMaster1.xml" Id="Ra28cf68b67144fa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00f3e918bb4389" /><Relationship Type="http://schemas.openxmlformats.org/officeDocument/2006/relationships/notesMaster" Target="/ppt/notesMasters/notesMaster1.xml" Id="R2fd98e7593744cd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2b08a3a2a144d9a" /><Relationship Type="http://schemas.openxmlformats.org/officeDocument/2006/relationships/notesMaster" Target="/ppt/notesMasters/notesMaster1.xml" Id="Rb60b695662cd4bc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1d6f675919c44a6" /><Relationship Type="http://schemas.openxmlformats.org/officeDocument/2006/relationships/notesMaster" Target="/ppt/notesMasters/notesMaster1.xml" Id="Rc1e79b27f94b470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c3909f37bcf42b6" /><Relationship Type="http://schemas.openxmlformats.org/officeDocument/2006/relationships/notesMaster" Target="/ppt/notesMasters/notesMaster1.xml" Id="Rf4ec1728f80049c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86b5e5cfca34890" /><Relationship Type="http://schemas.openxmlformats.org/officeDocument/2006/relationships/notesMaster" Target="/ppt/notesMasters/notesMaster1.xml" Id="Re08b97b1bebc4d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c0aee4c43ad4880" /><Relationship Type="http://schemas.openxmlformats.org/officeDocument/2006/relationships/notesMaster" Target="/ppt/notesMasters/notesMaster1.xml" Id="R1ab66010ab1141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0b524f0794f44c6" /><Relationship Type="http://schemas.openxmlformats.org/officeDocument/2006/relationships/notesMaster" Target="/ppt/notesMasters/notesMaster1.xml" Id="Reeb83ac266e04fd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2e7f3aa95574677" /><Relationship Type="http://schemas.openxmlformats.org/officeDocument/2006/relationships/notesMaster" Target="/ppt/notesMasters/notesMaster1.xml" Id="R200b8ae410df443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269b157c4944484" /><Relationship Type="http://schemas.openxmlformats.org/officeDocument/2006/relationships/notesMaster" Target="/ppt/notesMasters/notesMaster1.xml" Id="Rcd96fcb6f4d544a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ff2fbe5fecd474b" /><Relationship Type="http://schemas.openxmlformats.org/officeDocument/2006/relationships/notesMaster" Target="/ppt/notesMasters/notesMaster1.xml" Id="Rb8f2e77f454747e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b4c5297adc14d8b" /><Relationship Type="http://schemas.openxmlformats.org/officeDocument/2006/relationships/notesMaster" Target="/ppt/notesMasters/notesMaster1.xml" Id="R326780dfbe8e41c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b93283b03444320" /><Relationship Type="http://schemas.openxmlformats.org/officeDocument/2006/relationships/notesMaster" Target="/ppt/notesMasters/notesMaster1.xml" Id="R2cb925f18d80458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ef80dc1e4734e59" /><Relationship Type="http://schemas.openxmlformats.org/officeDocument/2006/relationships/notesMaster" Target="/ppt/notesMasters/notesMaster1.xml" Id="Rb7ca8fa0b1764d1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ad09c81eb0946b2" /><Relationship Type="http://schemas.openxmlformats.org/officeDocument/2006/relationships/notesMaster" Target="/ppt/notesMasters/notesMaster1.xml" Id="Re2e21fb24f8c471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e4b56786c7c420d" /><Relationship Type="http://schemas.openxmlformats.org/officeDocument/2006/relationships/notesMaster" Target="/ppt/notesMasters/notesMaster1.xml" Id="R464f78a5880b40a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998e7172dd5473e" /><Relationship Type="http://schemas.openxmlformats.org/officeDocument/2006/relationships/notesMaster" Target="/ppt/notesMasters/notesMaster1.xml" Id="R9e9713f8eebb4f1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91a9e78b5ab438b" /><Relationship Type="http://schemas.openxmlformats.org/officeDocument/2006/relationships/notesMaster" Target="/ppt/notesMasters/notesMaster1.xml" Id="R59a3fc5815bb4c5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5a4991ad26a41b9" /><Relationship Type="http://schemas.openxmlformats.org/officeDocument/2006/relationships/notesMaster" Target="/ppt/notesMasters/notesMaster1.xml" Id="R2a0a3afc775c496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e4e92efa6c04f26" /><Relationship Type="http://schemas.openxmlformats.org/officeDocument/2006/relationships/notesMaster" Target="/ppt/notesMasters/notesMaster1.xml" Id="Rf6497db4cb6a4a9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3c0dfe4f174409b" /><Relationship Type="http://schemas.openxmlformats.org/officeDocument/2006/relationships/notesMaster" Target="/ppt/notesMasters/notesMaster1.xml" Id="R632ce8408a27461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62d368799994365" /><Relationship Type="http://schemas.openxmlformats.org/officeDocument/2006/relationships/notesMaster" Target="/ppt/notesMasters/notesMaster1.xml" Id="Raf4b6f99ce17472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0b7ee047c2e4134" /><Relationship Type="http://schemas.openxmlformats.org/officeDocument/2006/relationships/notesMaster" Target="/ppt/notesMasters/notesMaster1.xml" Id="Ra89364ae3291463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fea3a825949e41d7" /><Relationship Type="http://schemas.openxmlformats.org/officeDocument/2006/relationships/notesMaster" Target="/ppt/notesMasters/notesMaster1.xml" Id="R6cf91341621449f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a2d4afa8a8e4f1c" /><Relationship Type="http://schemas.openxmlformats.org/officeDocument/2006/relationships/notesMaster" Target="/ppt/notesMasters/notesMaster1.xml" Id="Rd2dd08c0c30b491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3895d3c49cc4630" /><Relationship Type="http://schemas.openxmlformats.org/officeDocument/2006/relationships/notesMaster" Target="/ppt/notesMasters/notesMaster1.xml" Id="R698f108c031f4bc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83ca68b73f34077" /><Relationship Type="http://schemas.openxmlformats.org/officeDocument/2006/relationships/notesMaster" Target="/ppt/notesMasters/notesMaster1.xml" Id="R1f338d6c503d409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ab72746ae7f427d" /><Relationship Type="http://schemas.openxmlformats.org/officeDocument/2006/relationships/notesMaster" Target="/ppt/notesMasters/notesMaster1.xml" Id="R63d60aed814b4a9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b90856eb0fe489c" /><Relationship Type="http://schemas.openxmlformats.org/officeDocument/2006/relationships/notesMaster" Target="/ppt/notesMasters/notesMaster1.xml" Id="Rdd60770007984a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Titel, Kunde, Datum und Trainer</a:t>
            </a:r>
          </a:p>
          <a:p xmlns:a="http://schemas.openxmlformats.org/drawingml/2006/main">
            <a:r>
              <a:t>Ziel: Veranstaltung und Verantwortliche eindeutig einordnen.</a:t>
            </a:r>
          </a:p>
          <a:p xmlns:a="http://schemas.openxmlformats.org/drawingml/2006/main">
            <a:r>
              <a:t>Kernaussage: Heute beginnt ein gemeinsamer, verantwortungsvoller Einstieg in generative KI.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Begrüßen Sie die Gruppe, nennen Sie Ihre Rolle und erklären Sie, dass das Training anwendbare Grundlagen vermittelt, aber keine Rechts-, Datenschutz-, Sicherheits- oder Toolfreigabe ersetzt.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Ruhige Titelfläche mit MyHiwi-Wortmarke und drei verbundenen Symbolen für Nutzen, Prüfung und Verantwortung.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Ergebnisversprechen der drei Stunden</a:t>
            </a:r>
          </a:p>
          <a:p xmlns:a="http://schemas.openxmlformats.org/drawingml/2006/main">
            <a:r>
              <a:t>Ziel: Ein klares und realistisches Lernziel setzen.</a:t>
            </a:r>
          </a:p>
          <a:p xmlns:a="http://schemas.openxmlformats.org/drawingml/2006/main">
            <a:r>
              <a:t>Kernaussage: Die Teilnehmenden lernen entscheiden, formulieren, einordnen, prüfen und eskalieren.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Sagen Sie ausdrücklich, dass Teilnahme kein bestimmtes individuelles Kompetenzniveau garantiert und kein Compliance-Nachweis 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Fünf Stationen eines übersichtlichen Wegs.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Agenda und Pausenzeit</a:t>
            </a:r>
          </a:p>
          <a:p xmlns:a="http://schemas.openxmlformats.org/drawingml/2006/main">
            <a:r>
              <a:t>Ziel: Orientierung über Lernphasen und Praxisanteile geben.</a:t>
            </a:r>
          </a:p>
          <a:p xmlns:a="http://schemas.openxmlformats.org/drawingml/2006/main">
            <a:r>
              <a:t>Kernaussage: Erklärung, Anwendung und Reflexion greifen ineinander.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die vereinbarte Pausen- und Endzeit mündlich und erklären Sie, dass Fragen gesammelt oder direkt eingebunden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Horizontale Lernreise mit acht Stationen und einer hervorgehobenen Pause.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Sicherer Arbeitsrahmen: keine sensiblen Live-Daten</a:t>
            </a:r>
          </a:p>
          <a:p xmlns:a="http://schemas.openxmlformats.org/drawingml/2006/main">
            <a:r>
              <a:t>Ziel: Vor der ersten Interaktion eine klare Datengrenze setzen.</a:t>
            </a:r>
          </a:p>
          <a:p xmlns:a="http://schemas.openxmlformats.org/drawingml/2006/main">
            <a:r>
              <a:t>Kernaussage: Geübt wird nur mit synthetischen oder robust anonymisierten Inhalten.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Rote Daten werden niemals live eingegeben. Gelbe Daten werden standardmäßig durch synthetische Inhalte ersetzt. Bei Unsicherheit wird gestoppt und die intern zuständige Stelle gefragt.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Geschützter Übungsraum mit Beispielkarten statt realer Dokumente.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Kurze Handzeichen-Abfrage zur bisherigen Nutzung</a:t>
            </a:r>
          </a:p>
          <a:p xmlns:a="http://schemas.openxmlformats.org/drawingml/2006/main">
            <a:r>
              <a:t>Ziel: Vorwissen sichtbar machen, ohne einzelne Personen zu bewerten.</a:t>
            </a:r>
          </a:p>
          <a:p xmlns:a="http://schemas.openxmlformats.org/drawingml/2006/main">
            <a:r>
              <a:t>Kernaussage: Unterschiedliche Erfahrung ist normal und wird im Training aufgefangen.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Fragen Sie nach Aufgabenarten, nicht nach vertraulichen Inhalten oder privaten Kontodetails. Betonen Sie, dass die Abfrage keine Leistungsbewertung 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einfache Handzeichen-Symbole für nie, gelegentlich und regelmäßig.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Was mit „KI“ in dieser Schulung gemeint ist</a:t>
            </a:r>
          </a:p>
          <a:p xmlns:a="http://schemas.openxmlformats.org/drawingml/2006/main">
            <a:r>
              <a:t>Ziel: Den Gegenstand auf generative KI im Arbeitsalltag eingrenzen.</a:t>
            </a:r>
          </a:p>
          <a:p xmlns:a="http://schemas.openxmlformats.org/drawingml/2006/main">
            <a:r>
              <a:t>Kernaussage: Im Fokus stehen Werkzeuge, die aus Eingaben neue Texte, Bilder oder Strukturen erzeugen.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Grenzen Sie das Training von Entwicklung eigener KI-Systeme und automatisierten Hochrisikoentscheidungen ab.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Eingabe-Pfeil zu drei Ausgabekarten: Text, Bild, Struktur.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Generative KI, Suchmaschine und klassische Software</a:t>
            </a:r>
          </a:p>
          <a:p xmlns:a="http://schemas.openxmlformats.org/drawingml/2006/main">
            <a:r>
              <a:t>Ziel: Drei Werkzeugarten anhand ihres Verhaltens unterscheiden.</a:t>
            </a:r>
          </a:p>
          <a:p xmlns:a="http://schemas.openxmlformats.org/drawingml/2006/main">
            <a:r>
              <a:t>Kernaussage: Suchen, nach festen Regeln berechnen und neue Inhalte erzeugen sind verschiedene Funktionen.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Weisen Sie darauf hin, dass Anwendungen Funktionen kombinieren können; entscheidend ist, was im konkreten Nutzungsschritt passiert.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Spalten mit Lupe, Zahnrad und Funken-Symbol.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Vereinfachtes Funktionsmodell eines Sprachmodells</a:t>
            </a:r>
          </a:p>
          <a:p xmlns:a="http://schemas.openxmlformats.org/drawingml/2006/main">
            <a:r>
              <a:t>Ziel: Plausible Ausgabe statt automatisch wahrer Antwort verständlich machen.</a:t>
            </a:r>
          </a:p>
          <a:p xmlns:a="http://schemas.openxmlformats.org/drawingml/2006/main">
            <a:r>
              <a:t>Kernaussage: Ein Sprachmodell erzeugt wahrscheinliche Fortsetzungen aus Eingabe und Kontext.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das Bild des leistungsfähigen Formulierungs- und Strukturierungsassistenten, nicht das einer automatisch aktuellen Faktendatenbank oder eines verantwortlichen Entscheiders.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Eingabe und Kontext fließen in ein Modell, daraus entsteht eine Ausgabe mit Prüfsymbol.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Modell, Anwendung, Kontotyp und Einstellungen unterscheiden</a:t>
            </a:r>
          </a:p>
          <a:p xmlns:a="http://schemas.openxmlformats.org/drawingml/2006/main">
            <a:r>
              <a:t>Ziel: Verwechslungen zwischen Technik und betrieblichem Zugang vermeiden.</a:t>
            </a:r>
          </a:p>
          <a:p xmlns:a="http://schemas.openxmlformats.org/drawingml/2006/main">
            <a:r>
              <a:t>Kernaussage: Dasselbe Modell kann je nach Anwendung, Konto und Einstellung anders eingebunden sein.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Ein bekannter Modellname sagt allein nichts über Unternehmensfreigabe, Vertrag, Datenverwendung, Speicherort oder Zugriffe aus.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Vier aufeinanderliegende Karten: Modell, Anwendung, Konto, Einstellungen.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Sechs typische Aufgabenarten im Arbeitsalltag</a:t>
            </a:r>
          </a:p>
          <a:p xmlns:a="http://schemas.openxmlformats.org/drawingml/2006/main">
            <a:r>
              <a:t>Ziel: Realistische Einstiegsanwendungen identifizieren.</a:t>
            </a:r>
          </a:p>
          <a:p xmlns:a="http://schemas.openxmlformats.org/drawingml/2006/main">
            <a:r>
              <a:t>Kernaussage: Generative KI unterstützt besonders beim Variieren, Strukturieren, Zusammenfassen, Entwerfen, Extrahieren und Vorbereiten.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Jede Aufgabe benötigt einen zulässigen Datenrahmen und eine fachliche Prüfung des Ergebnisses.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Sechs gleichwertige Aufgabenkarten.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Geeignete, kontrollbedürftige und ungeeignete Aufgaben</a:t>
            </a:r>
          </a:p>
          <a:p xmlns:a="http://schemas.openxmlformats.org/drawingml/2006/main">
            <a:r>
              <a:t>Ziel: Aufgaben anhand von Daten, Wirkung und Fehlerfolgen unterscheiden.</a:t>
            </a:r>
          </a:p>
          <a:p xmlns:a="http://schemas.openxmlformats.org/drawingml/2006/main">
            <a:r>
              <a:t>Kernaussage: Je sensibler die Daten und je größer die Wirkung, desto weniger eignet sich ein Fall für den Basisgebrauch.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Einstufung ist eine Lernhilfe. Konkrete interne Freigaben kommen von den zuständigen Personen des Unternehmens.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Bahnen: geeignet, nur mit Kontrolle, nicht im Basistraining.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Überblick über typische Grenzen und Risiken</a:t>
            </a:r>
          </a:p>
          <a:p xmlns:a="http://schemas.openxmlformats.org/drawingml/2006/main">
            <a:r>
              <a:t>Ziel: Ein gemeinsames Risikovokabular schaffen.</a:t>
            </a:r>
          </a:p>
          <a:p xmlns:a="http://schemas.openxmlformats.org/drawingml/2006/main">
            <a:r>
              <a:t>Kernaussage: Gute Sprache kann Fakten-, Kontext-, Rechte- und Datenprobleme verdecken.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Ergänzen Sie bei vernetzten Systemen Prompt Injection und schädliche Inhalte als zusätzliche Risiken, ohne technische Spezialprüfung zu versprechen.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Warnrad mit vier Segmenten: Inhalt, Aktualität, Fairness, Daten &amp; Rechte.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Demonstration einer überzeugenden falschen Antwort</a:t>
            </a:r>
          </a:p>
          <a:p xmlns:a="http://schemas.openxmlformats.org/drawingml/2006/main">
            <a:r>
              <a:t>Ziel: Sprachliche Sicherheit von inhaltlicher Richtigkeit trennen.</a:t>
            </a:r>
          </a:p>
          <a:p xmlns:a="http://schemas.openxmlformats.org/drawingml/2006/main">
            <a:r>
              <a:t>Kernaussage: Eine flüssige Antwort kann erfundene Details enthalten.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ausschließlich ein vorbereitetes synthetisches Beispiel. Zeigen Sie zuerst die plausible Antwort und danach die überprüfbaren Fehler.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Glaubwürdig gestaltete Antwortkarte mit markierten erfundenen Stellen.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Aktualität, Quellen und erfundene Belege</a:t>
            </a:r>
          </a:p>
          <a:p xmlns:a="http://schemas.openxmlformats.org/drawingml/2006/main">
            <a:r>
              <a:t>Ziel: Quellenangaben als Prüfauftrag verstehen.</a:t>
            </a:r>
          </a:p>
          <a:p xmlns:a="http://schemas.openxmlformats.org/drawingml/2006/main">
            <a:r>
              <a:t>Kernaussage: Eine genannte Quelle ist noch kein belastbarer Beleg.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Zahlen, Termine und Zitate stets mit belastbaren Originalquellen abgleichen; die KI-Ausgabe selbst ist kein Nachweis.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Quellenkarte mit Prüfschritten Existenz, Aussage, Datum und Kontext.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Verzerrungen, Stereotype und fehlender Kontext</a:t>
            </a:r>
          </a:p>
          <a:p xmlns:a="http://schemas.openxmlformats.org/drawingml/2006/main">
            <a:r>
              <a:t>Ziel: Einseitige oder diskriminierende Muster erkennen.</a:t>
            </a:r>
          </a:p>
          <a:p xmlns:a="http://schemas.openxmlformats.org/drawingml/2006/main">
            <a:r>
              <a:t>Kernaussage: Daten und Formulierung können Perspektiven ausblenden oder Stereotype verstärken.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ein neutrales synthetisches Beispiel. Betonen Sie, dass personenbezogene oder folgenreiche Bewertungen nicht als Praxisfall trainiert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unvollständige Perspektiven, die erst gemeinsam ein vollständigeres Bild ergeben.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Rechte an Eingaben und Ausgaben</a:t>
            </a:r>
          </a:p>
          <a:p xmlns:a="http://schemas.openxmlformats.org/drawingml/2006/main">
            <a:r>
              <a:t>Ziel: Rechte und Nutzungsbefugnisse vor Eingabe und Weitergabe mitdenken.</a:t>
            </a:r>
          </a:p>
          <a:p xmlns:a="http://schemas.openxmlformats.org/drawingml/2006/main">
            <a:r>
              <a:t>Kernaussage: Verfügbar bedeutet nicht automatisch frei nutzbar.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eigene, lizenzierte und fremde Inhalte als unterschiedliche Fälle. Verweisen Sie bei Unsicherheit an die zuständige interne Stelle; geben Sie keine rechtliche Einzelfallbewertung.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Prüftore vor Eingabe und Veröffentlichung.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Miniübung zur Einordnung von drei Aufgaben</a:t>
            </a:r>
          </a:p>
          <a:p xmlns:a="http://schemas.openxmlformats.org/drawingml/2006/main">
            <a:r>
              <a:t>Ziel: Geeignetheit anhand konkreter Merkmale entscheiden.</a:t>
            </a:r>
          </a:p>
          <a:p xmlns:a="http://schemas.openxmlformats.org/drawingml/2006/main">
            <a:r>
              <a:t>Kernaussage: Aufgabe, Daten, Wirkung und Freigabeweg bestimmen die Einordnung.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eine erfundene Agenda, einen externen Textentwurf und eine Beschäftigtenbewertung. Fragen Sie jeweils nach Daten, Fehlerwirkung und verantwortlicher Freigabe.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synthetische Fallkarten mit drei Ablagefeldern.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Warum klare Prompts bessere Arbeitsgrundlagen schaffen</a:t>
            </a:r>
          </a:p>
          <a:p xmlns:a="http://schemas.openxmlformats.org/drawingml/2006/main">
            <a:r>
              <a:t>Ziel: Prompting als präzise Arbeitsauftragsklärung verstehen.</a:t>
            </a:r>
          </a:p>
          <a:p xmlns:a="http://schemas.openxmlformats.org/drawingml/2006/main">
            <a:r>
              <a:t>Kernaussage: Klare Ziele, Materialgrenzen und Prüfkriterien reduzieren Missverständnisse.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Gute Prompts garantieren keine richtige Ausgabe. Sie verbessern die Arbeitsgrundlage, ersetzen aber keine Prüfung.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Unscharfer Auftrag wird zu einer geordneten Aufgabenkarte.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Vorher-Nachher-Beispiel eines Prompts</a:t>
            </a:r>
          </a:p>
          <a:p xmlns:a="http://schemas.openxmlformats.org/drawingml/2006/main">
            <a:r>
              <a:t>Ziel: Die Wirkung präziser Anforderungen sichtbar machen.</a:t>
            </a:r>
          </a:p>
          <a:p xmlns:a="http://schemas.openxmlformats.org/drawingml/2006/main">
            <a:r>
              <a:t>Kernaussage: Ein vollständiger Arbeitsauftrag macht Ausgabe und Prüfung nachvollziehbarer.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Vergleichen Sie die synthetischen Ausgaben nicht nur stilistisch, sondern auch auf unbelegte Ergänzungen und offene Prüfpunkte.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Karten: „Mach eine E-Mail“ und strukturierter Auftrag.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Die sechs Bausteine der MyHiwi-Promptvorlage</a:t>
            </a:r>
          </a:p>
          <a:p xmlns:a="http://schemas.openxmlformats.org/drawingml/2006/main">
            <a:r>
              <a:t>Ziel: Das verbindliche Promptgerüst verankern.</a:t>
            </a:r>
          </a:p>
          <a:p xmlns:a="http://schemas.openxmlformats.org/drawingml/2006/main">
            <a:r>
              <a:t>Kernaussage: Ein prüfbarer Prompt verbindet Aufgabe, Kontext, Material, Anforderungen, Format und Prüfkriterien.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Betonen Sie bei „Material“ ausdrücklich: ausschließlich freigegebene Informationen. Unsicherheiten sollen markiert und Prüfpunkte genannt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Sechs nummerierte Bausteine in einem stabilen Rahmen.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Basisübung: schlechten Prompt verbessern</a:t>
            </a:r>
          </a:p>
          <a:p xmlns:a="http://schemas.openxmlformats.org/drawingml/2006/main">
            <a:r>
              <a:t>Ziel: Die sechs Bausteine praktisch anwenden.</a:t>
            </a:r>
          </a:p>
          <a:p xmlns:a="http://schemas.openxmlformats.org/drawingml/2006/main">
            <a:r>
              <a:t>Kernaussage: Fehlende Angaben werden sichtbar gemacht und gezielt ergänzt.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Geben Sie nur den vorbereiteten synthetischen Kurzfall A aus dem gewählten Praxisfokus frei. Lassen Sie Paare fehlende Informationen benennen, bevor sie formulieren.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Arbeitsblatt mit sechs leeren Feldern neben einem schwachen Beispielprompt.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Fortgeschritten: Ausgabe kritisieren und überarbeiten</a:t>
            </a:r>
          </a:p>
          <a:p xmlns:a="http://schemas.openxmlformats.org/drawingml/2006/main">
            <a:r>
              <a:t>Ziel: Iteration mit eigenständiger menschlicher Bewertung verbinden.</a:t>
            </a:r>
          </a:p>
          <a:p xmlns:a="http://schemas.openxmlformats.org/drawingml/2006/main">
            <a:r>
              <a:t>Kernaussage: Eine KI-Kritik ist ein zusätzlicher Hinweis, nicht die Freigabe.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das Modell Unsicherheiten und fehlende Belege markieren. Die Teilnehmenden entscheiden selbst, welche Kritik zutrifft.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Kreislauf aus Entwurf, eigener Prüfung, Kritikauftrag und Überarbeitung.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Pause und Wiedereinstiegszeit</a:t>
            </a:r>
          </a:p>
          <a:p xmlns:a="http://schemas.openxmlformats.org/drawingml/2006/main">
            <a:r>
              <a:t>Ziel: Einen klaren Übergang zum Sicherheits- und Praxisblock schaffen.</a:t>
            </a:r>
          </a:p>
          <a:p xmlns:a="http://schemas.openxmlformats.org/drawingml/2006/main">
            <a:r>
              <a:t>Kernaussage: Nach der Pause folgen Datenampel, Verantwortung und Praxis.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die konkrete Wiedereinstiegszeit mündlich und lassen Sie die Folie während der Pause sichtbar.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Ruhige Pausenkarte mit drei Symbolen für Ampel, Mensch und Werkstatt.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Verantwortung bleibt beim Menschen</a:t>
            </a:r>
          </a:p>
          <a:p xmlns:a="http://schemas.openxmlformats.org/drawingml/2006/main">
            <a:r>
              <a:t>Ziel: KI als Unterstützung statt verantwortlichen Entscheider einordnen.</a:t>
            </a:r>
          </a:p>
          <a:p xmlns:a="http://schemas.openxmlformats.org/drawingml/2006/main">
            <a:r>
              <a:t>Kernaussage: Menschen prüfen, entscheiden und geben frei.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Je größer die mögliche Wirkung eines Fehlers, desto stärker muss die menschliche Prüfung sein – bis hin zum vollständigen Verzicht auf KI.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Mensch am Freigabepunkt zwischen KI-Entwurf und Nutzung.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Nur freigegebene Werkzeuge und Konten</a:t>
            </a:r>
          </a:p>
          <a:p xmlns:a="http://schemas.openxmlformats.org/drawingml/2006/main">
            <a:r>
              <a:t>Ziel: Betriebliche Freigabe von persönlicher Verfügbarkeit trennen.</a:t>
            </a:r>
          </a:p>
          <a:p xmlns:a="http://schemas.openxmlformats.org/drawingml/2006/main">
            <a:r>
              <a:t>Kernaussage: Ein privater oder kostenloser Zugang ist nicht automatisch für Unternehmensdaten geeignet.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MyHiwi prüft oder genehmigt keinen konkreten Anbieter. Die benannte interne Stelle entscheidet über Werkzeug, Konto und zulässige Nutzung.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Persönliches Konto und freigegebenes Unternehmenskonto mit unterschiedlichem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Die Datenampel im Überblick</a:t>
            </a:r>
          </a:p>
          <a:p xmlns:a="http://schemas.openxmlformats.org/drawingml/2006/main">
            <a:r>
              <a:t>Ziel: Vor jeder Eingabe eine einfache Stop-and-check-Routine etablieren.</a:t>
            </a:r>
          </a:p>
          <a:p xmlns:a="http://schemas.openxmlformats.org/drawingml/2006/main">
            <a:r>
              <a:t>Kernaussage: Grün nutzen, Gelb vorher klären, Rot im Basistraining niemals eingeben.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Datenampel ist eine Lern- und Entscheidungshilfe und ersetzt keine Tool-, Vertrags- oder Datenschutzprüfung.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große Ampelfelder mit klaren Verben.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Grün: geeignete Beispieldaten</a:t>
            </a:r>
          </a:p>
          <a:p xmlns:a="http://schemas.openxmlformats.org/drawingml/2006/main">
            <a:r>
              <a:t>Ziel: Sichere Übungs- und Einstiegsmaterialien erkennen.</a:t>
            </a:r>
          </a:p>
          <a:p xmlns:a="http://schemas.openxmlformats.org/drawingml/2006/main">
            <a:r>
              <a:t>Kernaussage: Synthetische, veröffentlichte, ausdrücklich freigegebene oder robust anonymisierte Inhalte können grün sein.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Auch grüne Inhalte dürfen nur in genehmigten Werkzeugen und für legitime Zwecke genutzt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Grüne Karten mit erfundener Notiz, öffentlicher Seite und anonymisiertem Beispiel.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Gelb: erst intern prüfen und freigeben</a:t>
            </a:r>
          </a:p>
          <a:p xmlns:a="http://schemas.openxmlformats.org/drawingml/2006/main">
            <a:r>
              <a:t>Ziel: „Vorsichtig eingeben“ durch einen echten Klärungsschritt ersetzen.</a:t>
            </a:r>
          </a:p>
          <a:p xmlns:a="http://schemas.openxmlformats.org/drawingml/2006/main">
            <a:r>
              <a:t>Kernaussage: Gelb bedeutet stoppen, Zuständigkeit und zulässige Umgebung klären.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Im Training werden gelbe Daten standardmäßig synthetisch ersetzt. Es reicht nicht, sie nur zu kürzen oder „vorsichtig“ einzugeben.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Gelbe Schranke vor einem internen Freigabepunkt.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Rot: im Basistraining niemals eingeben</a:t>
            </a:r>
          </a:p>
          <a:p xmlns:a="http://schemas.openxmlformats.org/drawingml/2006/main">
            <a:r>
              <a:t>Ziel: Harte Stoppsignale erkennen.</a:t>
            </a:r>
          </a:p>
          <a:p xmlns:a="http://schemas.openxmlformats.org/drawingml/2006/main">
            <a:r>
              <a:t>Kernaussage: Sicherheitsdaten, Geheimnisse und sensible Personeninformationen bleiben aus Live-Übungen heraus.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Ein spezialisiertes, geprüftes System kann andere Bedingungen haben; diese Prüfung und Freigabe ist nicht Teil des Basistrainings.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Rotes Stoppschild vor kategorisierten Datenkarten.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Besonders folgenreiche Anwendungsfälle erkennen</a:t>
            </a:r>
          </a:p>
          <a:p xmlns:a="http://schemas.openxmlformats.org/drawingml/2006/main">
            <a:r>
              <a:t>Ziel: Fälle mit erheblichen Auswirkungen früh stoppen.</a:t>
            </a:r>
          </a:p>
          <a:p xmlns:a="http://schemas.openxmlformats.org/drawingml/2006/main">
            <a:r>
              <a:t>Kernaussage: Entscheidungen über Menschen und sicherheitskritische Freigaben gehören nicht in die Basisübung.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Solche Fälle dürfen als Risikobeispiele vorkommen, werden aber nicht praktisch freigegeben. Fach-, Rechts-, Datenschutz- oder Sicherheitsstellen müssen übernehmen.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Stopppunkt vor Personal, Gesundheit, Finanzen und Sicherheit.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Menschliche Kontrolle und Freigabewege</a:t>
            </a:r>
          </a:p>
          <a:p xmlns:a="http://schemas.openxmlformats.org/drawingml/2006/main">
            <a:r>
              <a:t>Ziel: Zuständigkeit vom Entwurf bis zur Verwendung festlegen.</a:t>
            </a:r>
          </a:p>
          <a:p xmlns:a="http://schemas.openxmlformats.org/drawingml/2006/main">
            <a:r>
              <a:t>Kernaussage: Jede relevante Ausgabe braucht eine benannte prüfende und freigebende Rolle.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die tatsächlichen Rollen des Kunden nur, wenn sie im Vorgespräch bestätigt wurden; sonst bleiben Platzhalter stehen.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Rollenfluss von Ersteller über Fachprüfung zur Freigabe und Eskalation.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Fünf betriebliche Grundregeln</a:t>
            </a:r>
          </a:p>
          <a:p xmlns:a="http://schemas.openxmlformats.org/drawingml/2006/main">
            <a:r>
              <a:t>Ziel: Gemeinsame Mindestregeln handlungsnah zusammenfassen.</a:t>
            </a:r>
          </a:p>
          <a:p xmlns:a="http://schemas.openxmlformats.org/drawingml/2006/main">
            <a:r>
              <a:t>Kernaussage: Werkzeugfreigabe, Datenampel, Prüfung, menschliche Verantwortung und Eskalation gehören zusammen.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Kundenspezifische Werkzeuge und Ansprechpartner werden vom Unternehmen ergänzt, nicht von MyHiwi eigenständig festgelegt.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Fünf nummerierte Regelkarten.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Unternehmensbezogener Praxisfall und Ziel</a:t>
            </a:r>
          </a:p>
          <a:p xmlns:a="http://schemas.openxmlformats.org/drawingml/2006/main">
            <a:r>
              <a:t>Ziel: Einen vorbereiteten, sicheren Alltagsfall gemeinsam bearbeiten.</a:t>
            </a:r>
          </a:p>
          <a:p xmlns:a="http://schemas.openxmlformats.org/drawingml/2006/main">
            <a:r>
              <a:t>Kernaussage: Die Übung beginnt mit Ziel, Datenrahmen und gewünschtem Arbeitsergebnis.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einen vorab freigegebenen synthetischen Fall. Prüfen Sie vor Beginn erneut, dass keine realen roten oder gelben Kundendaten eingefügt wurden.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Synthetische Fallkarte mit Branche, Rolle, Ausgangslage und Ziel.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Schritt 1: Aufgabe und gewünschtes Ergebnis</a:t>
            </a:r>
          </a:p>
          <a:p xmlns:a="http://schemas.openxmlformats.org/drawingml/2006/main">
            <a:r>
              <a:t>Ziel: Problem, Zielgruppe und Nutzungszweck präzisieren.</a:t>
            </a:r>
          </a:p>
          <a:p xmlns:a="http://schemas.openxmlformats.org/drawingml/2006/main">
            <a:r>
              <a:t>Kernaussage: Erst das benötigte Ergebnis klären, dann das Werkzeug beauftragen.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die Gruppe messbare Qualitätsmerkmale formulieren, ohne ein perfektes KI-Ergebnis vorauszusetzen.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Aufgabenkarte mit Feldern für Ergebnis, Zielgruppe und Zweck.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Schritt 2: Daten einordnen</a:t>
            </a:r>
          </a:p>
          <a:p xmlns:a="http://schemas.openxmlformats.org/drawingml/2006/main">
            <a:r>
              <a:t>Ziel: Material vor jeder Eingabe mit der Ampel bewerten.</a:t>
            </a:r>
          </a:p>
          <a:p xmlns:a="http://schemas.openxmlformats.org/drawingml/2006/main">
            <a:r>
              <a:t>Kernaussage: Nur freigegebenes grünes oder synthetisch ersetztes Material wird verwendet.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Fragen Sie nach Rückführbarkeit, Vertraulichkeit, Rechten und Werkzeugfreigabe. Im Zweifel wird nicht eingegeben.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Fallmaterial wird sichtbar durch die Ampel sortiert.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Schritt 3: Prompt formulieren</a:t>
            </a:r>
          </a:p>
          <a:p xmlns:a="http://schemas.openxmlformats.org/drawingml/2006/main">
            <a:r>
              <a:t>Ziel: Den Praxisauftrag mit allen sechs Bausteinen formulieren.</a:t>
            </a:r>
          </a:p>
          <a:p xmlns:a="http://schemas.openxmlformats.org/drawingml/2006/main">
            <a:r>
              <a:t>Kernaussage: Materialgrenze und Prüfkriterien gehören ausdrücklich in den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die MyHiwi-Vorlage und lassen Sie Unsicherheiten sowie vor Verwendung zu prüfende Punkte ausdrücklich kennzeichnen.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Ausgefüllte sechs Bausteine fließen in einen Prompt.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Schritt 4: Beispielausgabe analysieren</a:t>
            </a:r>
          </a:p>
          <a:p xmlns:a="http://schemas.openxmlformats.org/drawingml/2006/main">
            <a:r>
              <a:t>Ziel: Ausgabe gemeinsam lesen, bevor sie verbessert oder genutzt wird.</a:t>
            </a:r>
          </a:p>
          <a:p xmlns:a="http://schemas.openxmlformats.org/drawingml/2006/main">
            <a:r>
              <a:t>Kernaussage: Zuerst Beobachtungen und Risiken markieren, dann überarbeiten.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Bei fehlendem Tool zeigen Sie die vorbereitete Offline-Ausgabe. Lassen Sie nie reale Kundendaten nachtragen, um das Beispiel „realistischer“ zu machen.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Synthetische Ausgabe mit Markierungen für gut, unklar und falsch.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Siebenstufige Prüfroutine und Verbesserung</a:t>
            </a:r>
          </a:p>
          <a:p xmlns:a="http://schemas.openxmlformats.org/drawingml/2006/main">
            <a:r>
              <a:t>Ziel: Eine reproduzierbare Prüfung vor Verwendung anwenden.</a:t>
            </a:r>
          </a:p>
          <a:p xmlns:a="http://schemas.openxmlformats.org/drawingml/2006/main">
            <a:r>
              <a:t>Kernaussage: Fakten, Quellen, Vollständigkeit, Verzerrung, Rechte und Daten, Ton und Wirkung sowie Verantwortung werden einzeln geprüft.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Routine endet mit einer menschlichen Entscheidung: verwenden, verbessern, verwerfen oder eskalieren.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Sieben Prüfschritte als vertikale Checkliste mit Freigabepunkt.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Zehnteiliger Lern- und Transfercheck</a:t>
            </a:r>
          </a:p>
          <a:p xmlns:a="http://schemas.openxmlformats.org/drawingml/2006/main">
            <a:r>
              <a:t>Ziel: Verständnis prüfen und offene Punkte unmittelbar klären.</a:t>
            </a:r>
          </a:p>
          <a:p xmlns:a="http://schemas.openxmlformats.org/drawingml/2006/main">
            <a:r>
              <a:t>Kernaussage: Der Check unterstützt Lernen und Transfer, nicht die Bewertung einzelner Beschäftigter.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Besprechen Sie falsche Antworten direkt. Sieben richtige Antworten sind intern ein Hinweis auf Basisverständnis, aber kein formaler Kompetenznachweis.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Zehn nummerierte Fragekarten mit Reflexionssymbol.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Ansprechpartner, nächste Schritte und Abschluss</a:t>
            </a:r>
          </a:p>
          <a:p xmlns:a="http://schemas.openxmlformats.org/drawingml/2006/main">
            <a:r>
              <a:t>Ziel: Verantwortliche und einen sicheren nächsten Anwendungsschritt festhalten.</a:t>
            </a:r>
          </a:p>
          <a:p xmlns:a="http://schemas.openxmlformats.org/drawingml/2006/main">
            <a:r>
              <a:t>Kernaussage: Der Transfer beginnt mit einem kleinen freigegebenen Fall und einem klaren Prüfweg.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Schließen Sie mit einem persönlichen nächsten Fall pro Person, den fünf Regeln, dem Hinweis auf Unterlagen und der Management-Nachbesprechung. Die Teilnahmebestätigung dokumentiert Teilnahme, nicht Zertifizierung oder Compliance.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Felder zum Ausfüllen: nächster Fall, Prüfer, Eskalationsstelle.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bdd0d416be4f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7241a69b244e83" /><Relationship Type="http://schemas.openxmlformats.org/officeDocument/2006/relationships/slideLayout" Target="/ppt/slideLayouts/slideLayout1.xml" Id="R2bba2ba0033d4d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ba2ba0033d4d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7b645d4514201" /><Relationship Type="http://schemas.openxmlformats.org/officeDocument/2006/relationships/notesSlide" Target="/ppt/notesSlides/notesSlide1.xml" Id="Rcbcb490c16044c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45a5e27064842" /><Relationship Type="http://schemas.openxmlformats.org/officeDocument/2006/relationships/image" Target="/ppt/media/image.png" Id="R7ac4e40f6171423c" /><Relationship Type="http://schemas.openxmlformats.org/officeDocument/2006/relationships/image" Target="/ppt/media/image2.png" Id="R58cf42a55c4e4977" /><Relationship Type="http://schemas.openxmlformats.org/officeDocument/2006/relationships/notesSlide" Target="/ppt/notesSlides/notesSlide2.xml" Id="R4532cd9877924d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294f8749e4e8a" /><Relationship Type="http://schemas.openxmlformats.org/officeDocument/2006/relationships/image" Target="/ppt/media/image3.png" Id="Rb2287d6e83944388" /><Relationship Type="http://schemas.openxmlformats.org/officeDocument/2006/relationships/image" Target="/ppt/media/image4.png" Id="R0377234873c743ab" /><Relationship Type="http://schemas.openxmlformats.org/officeDocument/2006/relationships/notesSlide" Target="/ppt/notesSlides/notesSlide3.xml" Id="R0d084bad922945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6a776c0484a4a" /><Relationship Type="http://schemas.openxmlformats.org/officeDocument/2006/relationships/image" Target="/ppt/media/image5.png" Id="Rfc27ae1266a14def" /><Relationship Type="http://schemas.openxmlformats.org/officeDocument/2006/relationships/image" Target="/ppt/media/image6.png" Id="R8a915f9ed4b545e7" /><Relationship Type="http://schemas.openxmlformats.org/officeDocument/2006/relationships/notesSlide" Target="/ppt/notesSlides/notesSlide4.xml" Id="R0e5e837bca644e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83ce5796944c4" /><Relationship Type="http://schemas.openxmlformats.org/officeDocument/2006/relationships/image" Target="/ppt/media/image7.png" Id="R462ab552fc0c4a8a" /><Relationship Type="http://schemas.openxmlformats.org/officeDocument/2006/relationships/image" Target="/ppt/media/image8.png" Id="Rfc7c92ca46774cc5" /><Relationship Type="http://schemas.openxmlformats.org/officeDocument/2006/relationships/notesSlide" Target="/ppt/notesSlides/notesSlide5.xml" Id="R773c26487dba49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d0b6734b9495f" /><Relationship Type="http://schemas.openxmlformats.org/officeDocument/2006/relationships/image" Target="/ppt/media/image9.png" Id="R96efead14035414c" /><Relationship Type="http://schemas.openxmlformats.org/officeDocument/2006/relationships/image" Target="/ppt/media/image10.png" Id="R9a2705a6b60a4549" /><Relationship Type="http://schemas.openxmlformats.org/officeDocument/2006/relationships/notesSlide" Target="/ppt/notesSlides/notesSlide6.xml" Id="Rc906a253958f42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97f0d303f4aad" /><Relationship Type="http://schemas.openxmlformats.org/officeDocument/2006/relationships/image" Target="/ppt/media/image11.png" Id="R64726d3b370e4cff" /><Relationship Type="http://schemas.openxmlformats.org/officeDocument/2006/relationships/image" Target="/ppt/media/image12.png" Id="R42be97aaec67435f" /><Relationship Type="http://schemas.openxmlformats.org/officeDocument/2006/relationships/notesSlide" Target="/ppt/notesSlides/notesSlide7.xml" Id="R3604e873a2c14e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dd4ff68a6454b" /><Relationship Type="http://schemas.openxmlformats.org/officeDocument/2006/relationships/image" Target="/ppt/media/image13.png" Id="R1483c9f927904c44" /><Relationship Type="http://schemas.openxmlformats.org/officeDocument/2006/relationships/image" Target="/ppt/media/image14.png" Id="R7b9bc13e33fc445b" /><Relationship Type="http://schemas.openxmlformats.org/officeDocument/2006/relationships/notesSlide" Target="/ppt/notesSlides/notesSlide8.xml" Id="R5fedb5943dd845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4a31381654544" /><Relationship Type="http://schemas.openxmlformats.org/officeDocument/2006/relationships/image" Target="/ppt/media/image15.png" Id="R106137055ba4488e" /><Relationship Type="http://schemas.openxmlformats.org/officeDocument/2006/relationships/image" Target="/ppt/media/image16.png" Id="Rf6b299303aec4247" /><Relationship Type="http://schemas.openxmlformats.org/officeDocument/2006/relationships/notesSlide" Target="/ppt/notesSlides/notesSlide9.xml" Id="R2c56b5dbe39f45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871bfdc27348c0" /><Relationship Type="http://schemas.openxmlformats.org/officeDocument/2006/relationships/image" Target="/ppt/media/image17.png" Id="Rccf84c026356437f" /><Relationship Type="http://schemas.openxmlformats.org/officeDocument/2006/relationships/image" Target="/ppt/media/image18.png" Id="Raaa71c09aa184404" /><Relationship Type="http://schemas.openxmlformats.org/officeDocument/2006/relationships/notesSlide" Target="/ppt/notesSlides/notesSlide10.xml" Id="Rea1ba60691ec43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11fbdfe0346c2" /><Relationship Type="http://schemas.openxmlformats.org/officeDocument/2006/relationships/image" Target="/ppt/media/image19.png" Id="Re9efc63aca374a2b" /><Relationship Type="http://schemas.openxmlformats.org/officeDocument/2006/relationships/image" Target="/ppt/media/image20.png" Id="Re08be055b6924b53" /><Relationship Type="http://schemas.openxmlformats.org/officeDocument/2006/relationships/notesSlide" Target="/ppt/notesSlides/notesSlide11.xml" Id="Rf883eb923a75400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cc1f180954e64" /><Relationship Type="http://schemas.openxmlformats.org/officeDocument/2006/relationships/image" Target="/ppt/media/image21.png" Id="Rf54eb221325547bf" /><Relationship Type="http://schemas.openxmlformats.org/officeDocument/2006/relationships/image" Target="/ppt/media/image22.png" Id="Raa3bcbf3a2974888" /><Relationship Type="http://schemas.openxmlformats.org/officeDocument/2006/relationships/notesSlide" Target="/ppt/notesSlides/notesSlide12.xml" Id="Rfa1effb7b1474c5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9ad67a41a439b" /><Relationship Type="http://schemas.openxmlformats.org/officeDocument/2006/relationships/image" Target="/ppt/media/image23.png" Id="R1cb4ffbdbb414777" /><Relationship Type="http://schemas.openxmlformats.org/officeDocument/2006/relationships/image" Target="/ppt/media/image24.png" Id="Reed40111f7924dc7" /><Relationship Type="http://schemas.openxmlformats.org/officeDocument/2006/relationships/notesSlide" Target="/ppt/notesSlides/notesSlide13.xml" Id="R63533d84f41845b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8b3eff8c547fb" /><Relationship Type="http://schemas.openxmlformats.org/officeDocument/2006/relationships/image" Target="/ppt/media/image25.png" Id="R986639e4f7114fa6" /><Relationship Type="http://schemas.openxmlformats.org/officeDocument/2006/relationships/image" Target="/ppt/media/image26.png" Id="Rb00f39d81be244b1" /><Relationship Type="http://schemas.openxmlformats.org/officeDocument/2006/relationships/notesSlide" Target="/ppt/notesSlides/notesSlide14.xml" Id="Rf7216b90f69d40c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ba032e1b94c06" /><Relationship Type="http://schemas.openxmlformats.org/officeDocument/2006/relationships/image" Target="/ppt/media/image27.png" Id="Ra654bf1bfa734d80" /><Relationship Type="http://schemas.openxmlformats.org/officeDocument/2006/relationships/image" Target="/ppt/media/image28.png" Id="R904b89dfd0614836" /><Relationship Type="http://schemas.openxmlformats.org/officeDocument/2006/relationships/notesSlide" Target="/ppt/notesSlides/notesSlide15.xml" Id="R4363c6d09fdc440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3f9cd34534c61" /><Relationship Type="http://schemas.openxmlformats.org/officeDocument/2006/relationships/image" Target="/ppt/media/image29.png" Id="Ra09c1061a3dc419e" /><Relationship Type="http://schemas.openxmlformats.org/officeDocument/2006/relationships/image" Target="/ppt/media/image30.png" Id="R011b5a0d0be04d64" /><Relationship Type="http://schemas.openxmlformats.org/officeDocument/2006/relationships/notesSlide" Target="/ppt/notesSlides/notesSlide16.xml" Id="Rec73dab891e64c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17d855c594e63" /><Relationship Type="http://schemas.openxmlformats.org/officeDocument/2006/relationships/image" Target="/ppt/media/image31.png" Id="R5c9ee1e9d6df454e" /><Relationship Type="http://schemas.openxmlformats.org/officeDocument/2006/relationships/image" Target="/ppt/media/image32.png" Id="R6db68f03582b48bf" /><Relationship Type="http://schemas.openxmlformats.org/officeDocument/2006/relationships/notesSlide" Target="/ppt/notesSlides/notesSlide17.xml" Id="R868bb67e96724b0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249c4756c4e01" /><Relationship Type="http://schemas.openxmlformats.org/officeDocument/2006/relationships/image" Target="/ppt/media/image33.png" Id="R1222dd53d04d4c47" /><Relationship Type="http://schemas.openxmlformats.org/officeDocument/2006/relationships/image" Target="/ppt/media/image34.png" Id="Rada753b3ce9e4e06" /><Relationship Type="http://schemas.openxmlformats.org/officeDocument/2006/relationships/notesSlide" Target="/ppt/notesSlides/notesSlide18.xml" Id="R6da2e9dc927140a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31ff0305a484d" /><Relationship Type="http://schemas.openxmlformats.org/officeDocument/2006/relationships/image" Target="/ppt/media/image35.png" Id="R607715c1ea4a4117" /><Relationship Type="http://schemas.openxmlformats.org/officeDocument/2006/relationships/image" Target="/ppt/media/image36.png" Id="Rc6c9e3963d48469a" /><Relationship Type="http://schemas.openxmlformats.org/officeDocument/2006/relationships/notesSlide" Target="/ppt/notesSlides/notesSlide19.xml" Id="Rcccf220e84134d7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538237fa044e3" /><Relationship Type="http://schemas.openxmlformats.org/officeDocument/2006/relationships/image" Target="/ppt/media/image37.png" Id="R9e09a5923b8e4a2c" /><Relationship Type="http://schemas.openxmlformats.org/officeDocument/2006/relationships/image" Target="/ppt/media/image38.png" Id="Rb33b754a3ea241b4" /><Relationship Type="http://schemas.openxmlformats.org/officeDocument/2006/relationships/notesSlide" Target="/ppt/notesSlides/notesSlide20.xml" Id="Re648d822dc134b9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8306bd2c14b4c" /><Relationship Type="http://schemas.openxmlformats.org/officeDocument/2006/relationships/image" Target="/ppt/media/image39.png" Id="R57083f7fbdbf404d" /><Relationship Type="http://schemas.openxmlformats.org/officeDocument/2006/relationships/image" Target="/ppt/media/image40.png" Id="Rfe3ddade07574b09" /><Relationship Type="http://schemas.openxmlformats.org/officeDocument/2006/relationships/notesSlide" Target="/ppt/notesSlides/notesSlide21.xml" Id="R2ed7fa35179947d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afdd6bfb44486" /><Relationship Type="http://schemas.openxmlformats.org/officeDocument/2006/relationships/image" Target="/ppt/media/image41.png" Id="R4c9cfb3d854e4321" /><Relationship Type="http://schemas.openxmlformats.org/officeDocument/2006/relationships/image" Target="/ppt/media/image42.png" Id="R44affe6cb55542d3" /><Relationship Type="http://schemas.openxmlformats.org/officeDocument/2006/relationships/notesSlide" Target="/ppt/notesSlides/notesSlide22.xml" Id="Rfe2928667fca44b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910c4014343fa" /><Relationship Type="http://schemas.openxmlformats.org/officeDocument/2006/relationships/notesSlide" Target="/ppt/notesSlides/notesSlide23.xml" Id="Re97b1b5748ad4ff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962cb8b6e46f2" /><Relationship Type="http://schemas.openxmlformats.org/officeDocument/2006/relationships/image" Target="/ppt/media/image43.png" Id="R70ce8cf11ff14ae6" /><Relationship Type="http://schemas.openxmlformats.org/officeDocument/2006/relationships/image" Target="/ppt/media/image44.png" Id="Ra7d2266f011b436d" /><Relationship Type="http://schemas.openxmlformats.org/officeDocument/2006/relationships/notesSlide" Target="/ppt/notesSlides/notesSlide24.xml" Id="Reb12069c03c7449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e065d60274356" /><Relationship Type="http://schemas.openxmlformats.org/officeDocument/2006/relationships/image" Target="/ppt/media/image45.png" Id="R9faf68bc420a4183" /><Relationship Type="http://schemas.openxmlformats.org/officeDocument/2006/relationships/image" Target="/ppt/media/image46.png" Id="R6bec0bc8168641b6" /><Relationship Type="http://schemas.openxmlformats.org/officeDocument/2006/relationships/notesSlide" Target="/ppt/notesSlides/notesSlide25.xml" Id="Rbe106537dd07431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db70b955f4f48" /><Relationship Type="http://schemas.openxmlformats.org/officeDocument/2006/relationships/image" Target="/ppt/media/image47.png" Id="R798afb45f2fb4cb0" /><Relationship Type="http://schemas.openxmlformats.org/officeDocument/2006/relationships/image" Target="/ppt/media/image48.png" Id="R5d19369792df40fe" /><Relationship Type="http://schemas.openxmlformats.org/officeDocument/2006/relationships/notesSlide" Target="/ppt/notesSlides/notesSlide26.xml" Id="R53b5028790804d6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4636954a04e3b" /><Relationship Type="http://schemas.openxmlformats.org/officeDocument/2006/relationships/image" Target="/ppt/media/image49.png" Id="R2f65444e44a1487a" /><Relationship Type="http://schemas.openxmlformats.org/officeDocument/2006/relationships/image" Target="/ppt/media/image50.png" Id="Ra2525c0a4cd34588" /><Relationship Type="http://schemas.openxmlformats.org/officeDocument/2006/relationships/notesSlide" Target="/ppt/notesSlides/notesSlide27.xml" Id="R6232576de947437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53f5c008a4a4b" /><Relationship Type="http://schemas.openxmlformats.org/officeDocument/2006/relationships/image" Target="/ppt/media/image51.png" Id="Rb4ca71a6b7df41bd" /><Relationship Type="http://schemas.openxmlformats.org/officeDocument/2006/relationships/image" Target="/ppt/media/image52.png" Id="R6e0e894402134f9d" /><Relationship Type="http://schemas.openxmlformats.org/officeDocument/2006/relationships/notesSlide" Target="/ppt/notesSlides/notesSlide28.xml" Id="Rc669e9a1c2594f5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70e1eeb02406b" /><Relationship Type="http://schemas.openxmlformats.org/officeDocument/2006/relationships/image" Target="/ppt/media/image53.png" Id="Rb2acdb156620494e" /><Relationship Type="http://schemas.openxmlformats.org/officeDocument/2006/relationships/image" Target="/ppt/media/image54.png" Id="R18c682526bc240cf" /><Relationship Type="http://schemas.openxmlformats.org/officeDocument/2006/relationships/notesSlide" Target="/ppt/notesSlides/notesSlide29.xml" Id="Rdbe8f60c59944a6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cd37bce584d46" /><Relationship Type="http://schemas.openxmlformats.org/officeDocument/2006/relationships/image" Target="/ppt/media/image55.png" Id="R6045b89ccea94a42" /><Relationship Type="http://schemas.openxmlformats.org/officeDocument/2006/relationships/image" Target="/ppt/media/image56.png" Id="Rab52a77737b04f17" /><Relationship Type="http://schemas.openxmlformats.org/officeDocument/2006/relationships/notesSlide" Target="/ppt/notesSlides/notesSlide30.xml" Id="R08bc62d3d6ee411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0ed71f01548dc" /><Relationship Type="http://schemas.openxmlformats.org/officeDocument/2006/relationships/image" Target="/ppt/media/image57.png" Id="R850de714ff394dae" /><Relationship Type="http://schemas.openxmlformats.org/officeDocument/2006/relationships/image" Target="/ppt/media/image58.png" Id="R625d6ec8bf334215" /><Relationship Type="http://schemas.openxmlformats.org/officeDocument/2006/relationships/notesSlide" Target="/ppt/notesSlides/notesSlide31.xml" Id="R2dc39310ab704b2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8181a0e2b4531" /><Relationship Type="http://schemas.openxmlformats.org/officeDocument/2006/relationships/image" Target="/ppt/media/image59.png" Id="Radf9b38867f64f7f" /><Relationship Type="http://schemas.openxmlformats.org/officeDocument/2006/relationships/image" Target="/ppt/media/image60.png" Id="R81403cde3fb44ebf" /><Relationship Type="http://schemas.openxmlformats.org/officeDocument/2006/relationships/notesSlide" Target="/ppt/notesSlides/notesSlide32.xml" Id="R0f0f79de1fcc41c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369ffb68345e8" /><Relationship Type="http://schemas.openxmlformats.org/officeDocument/2006/relationships/image" Target="/ppt/media/image61.png" Id="Rf3823ee275fc4bf5" /><Relationship Type="http://schemas.openxmlformats.org/officeDocument/2006/relationships/image" Target="/ppt/media/image62.png" Id="Rcfb28dc5ac2b4fd0" /><Relationship Type="http://schemas.openxmlformats.org/officeDocument/2006/relationships/notesSlide" Target="/ppt/notesSlides/notesSlide33.xml" Id="Ra6e5a2906a24426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024dd7e0e4135" /><Relationship Type="http://schemas.openxmlformats.org/officeDocument/2006/relationships/image" Target="/ppt/media/image63.png" Id="Rcb78eb116374412e" /><Relationship Type="http://schemas.openxmlformats.org/officeDocument/2006/relationships/image" Target="/ppt/media/image64.png" Id="Refc2b034b04847a2" /><Relationship Type="http://schemas.openxmlformats.org/officeDocument/2006/relationships/notesSlide" Target="/ppt/notesSlides/notesSlide34.xml" Id="R7e8a45108c11405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10a128c044c96" /><Relationship Type="http://schemas.openxmlformats.org/officeDocument/2006/relationships/image" Target="/ppt/media/image65.png" Id="Rd873417b96854e25" /><Relationship Type="http://schemas.openxmlformats.org/officeDocument/2006/relationships/image" Target="/ppt/media/image66.png" Id="R7c291bec100f4ee9" /><Relationship Type="http://schemas.openxmlformats.org/officeDocument/2006/relationships/notesSlide" Target="/ppt/notesSlides/notesSlide35.xml" Id="R64984206ccd64d6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4b24dbd6549e0" /><Relationship Type="http://schemas.openxmlformats.org/officeDocument/2006/relationships/image" Target="/ppt/media/image67.png" Id="R747527ef045540cb" /><Relationship Type="http://schemas.openxmlformats.org/officeDocument/2006/relationships/image" Target="/ppt/media/image68.png" Id="R332024dd5e784fa4" /><Relationship Type="http://schemas.openxmlformats.org/officeDocument/2006/relationships/notesSlide" Target="/ppt/notesSlides/notesSlide36.xml" Id="R318d4d0c90264fe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e0388b02547f8" /><Relationship Type="http://schemas.openxmlformats.org/officeDocument/2006/relationships/image" Target="/ppt/media/image69.png" Id="Rea6147da9b324d37" /><Relationship Type="http://schemas.openxmlformats.org/officeDocument/2006/relationships/image" Target="/ppt/media/image70.png" Id="R22a721f16cd3426f" /><Relationship Type="http://schemas.openxmlformats.org/officeDocument/2006/relationships/notesSlide" Target="/ppt/notesSlides/notesSlide37.xml" Id="R5fd21b3c7f664f6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528c5a14d4ed7" /><Relationship Type="http://schemas.openxmlformats.org/officeDocument/2006/relationships/image" Target="/ppt/media/image71.png" Id="R9936ab8e44f5409f" /><Relationship Type="http://schemas.openxmlformats.org/officeDocument/2006/relationships/image" Target="/ppt/media/image72.png" Id="R51a2b139f5eb490a" /><Relationship Type="http://schemas.openxmlformats.org/officeDocument/2006/relationships/notesSlide" Target="/ppt/notesSlides/notesSlide38.xml" Id="R985594382d2d452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04f913a3643dd" /><Relationship Type="http://schemas.openxmlformats.org/officeDocument/2006/relationships/image" Target="/ppt/media/image73.png" Id="Re4199244ee9c47d3" /><Relationship Type="http://schemas.openxmlformats.org/officeDocument/2006/relationships/image" Target="/ppt/media/image74.png" Id="Rfdaffbfa5ea14613" /><Relationship Type="http://schemas.openxmlformats.org/officeDocument/2006/relationships/notesSlide" Target="/ppt/notesSlides/notesSlide39.xml" Id="R2693079c26b7443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59a7d289a4fff" /><Relationship Type="http://schemas.openxmlformats.org/officeDocument/2006/relationships/image" Target="/ppt/media/image75.png" Id="R85191b624cf443e2" /><Relationship Type="http://schemas.openxmlformats.org/officeDocument/2006/relationships/image" Target="/ppt/media/image76.png" Id="R72af174a6e9e4d0b" /><Relationship Type="http://schemas.openxmlformats.org/officeDocument/2006/relationships/notesSlide" Target="/ppt/notesSlides/notesSlide40.xml" Id="R194c926d814b4f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BCDF3-F174-4917-B46C-76750ECF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4DBF28-D725-4EEA-B692-7D13CE76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MYHIWI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A0899-B0BA-42CB-A277-25CF00AD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876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51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AI-Startklar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A0B62-D392-441E-820E-73AF786E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Die praxisnahe KI-Grundlagenschulung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774F5-A57C-403F-B708-FB7BE15E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172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3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7140B-71C6-4D25-9440-E06A051E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Kunde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8DE67-BA98-4851-9FEB-BED6D1A6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[Kunde]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72526A-2F71-45A4-B549-15BBB6E9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171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Datum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3665AF-2336-4F4E-A054-8966BCAB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958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[Datum]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77A16-82BD-49C2-8BEA-B2C00200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71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Trainer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BE0C3F-E337-492A-9FE7-A83CD59E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[Trainer]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94C62-6A96-428E-815E-012145DE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v1.0 · Stand 22.07.2026</a:t>
            </a:r>
          </a:p>
        </p:txBody>
      </p:sp>
    </p:spTree>
    <p:extLst>
      <p:ext uri="{BB962C8B-B14F-4D97-AF65-F5344CB8AC3E}">
        <p14:creationId xmlns:p14="http://schemas.microsoft.com/office/powerpoint/2010/main" val="3471566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4e40f6171423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cf42a55c4e4977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6FC4F078-C148-4F72-B221-218D512C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Ergebnisversprechen der drei Stunden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088B5-EA1F-4501-A2D1-800B5D57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Die Teilnehmenden lernen entscheiden, formulieren, einordnen, prüfen und eskalieren.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13F43-F4C2-41C0-9507-8965DFC8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Nach heute können Sie: passende Aufgaben erkennen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klare Prompts bauen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 einordnen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Ausgaben prüfen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Unsicherheit eskalieren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54AADD-30A3-4BD8-9513-A8C657D1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90D88-2398-44DC-A950-13FB6DB8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 klares und realistisches Lernziel setzen.</a:t>
            </a:r>
          </a:p>
        </p:txBody>
      </p:sp>
    </p:spTree>
    <p:extLst>
      <p:ext uri="{BB962C8B-B14F-4D97-AF65-F5344CB8AC3E}">
        <p14:creationId xmlns:p14="http://schemas.microsoft.com/office/powerpoint/2010/main" val="13977738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87d6e8394438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77234873c743ab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4EB1F350-A325-4819-9DA1-6E06B57A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Agenda und Pausenzeit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EFD8B-1A83-4ACC-9102-65EDC44F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Erklärung, Anwendung und Reflexion greifen ineinander.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CF47FE-0A62-4482-B8CB-0B29C30B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427B7-2AA0-40F7-B6CC-C3EF5885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B617C-AE4D-42F4-A7CF-651C2141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Einstieg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D444D-B4A4-4ADB-B3E7-036B45AB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C0876-3EBA-4E07-8AB9-286DC083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EE729-95C9-4D10-91D0-0482F143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00400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Grundlagen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CE5F7B-0B69-42DF-A28D-47301AF1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2363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3F760-599C-4C64-B0A9-216075DB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4313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C0163F-3754-4744-AA81-A2749918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8613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Chancen &amp; Grenzen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F1F153-9CB3-4413-8E09-AC807071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62363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ACAC1-3257-4582-80A2-4FC36BFE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24313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FF461-1C2D-4358-BB59-926B0FCE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38613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Prompts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C0F288-CDFE-4676-AB3D-054E8675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6F0B0F-F9C7-4F0C-971E-C0786BBA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3B8674-E97D-49BF-8C00-E3A97026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Pause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7C12DB-7104-4E25-B9ED-01DC3C83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6005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29E5CF-B693-46C1-A660-1E41338C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962525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839D26-3130-4FEF-9F71-6402E38A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076825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sicherer Einsatz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D4DC6-675F-40DE-9844-28996FB1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8788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706848-6DE2-42D0-86A1-6C3BBA0A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0738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76E2B7-F73E-4020-9DA7-A7CE5B19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5038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B80F30-F44B-4016-AABE-DABE1B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538788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1ADE12-C66C-4001-BCD7-ADD69440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900738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88809D-8808-4F11-9D43-AF0CF0C8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6015038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Prüfung &amp; Transfer</a:t>
            </a:r>
          </a:p>
        </p:txBody>
      </p:sp>
    </p:spTree>
    <p:extLst>
      <p:ext uri="{BB962C8B-B14F-4D97-AF65-F5344CB8AC3E}">
        <p14:creationId xmlns:p14="http://schemas.microsoft.com/office/powerpoint/2010/main" val="4912391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7ae1266a14de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915f9ed4b545e7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45CA3B8A-5CB0-4940-BFCA-9685E6C8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Sicher arbeiten: keine sensiblen Live-Daten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25857-59AA-4400-8C2F-28472E34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Geübt wird nur mit synthetischen oder robust anonymisierten Inhalten.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82518-1B8A-4419-AF07-8DEFE011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realen sensiblen Daten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Geheimnisse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Zugangsdaten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nur freigegebene Beispiele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B46F5-14A2-4DE7-B7C2-F3CF6CD8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46E4A5-27AA-42B9-A2D5-CA9C609C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Vor der ersten Interaktion eine klare Datengrenze setzen.</a:t>
            </a:r>
          </a:p>
        </p:txBody>
      </p:sp>
    </p:spTree>
    <p:extLst>
      <p:ext uri="{BB962C8B-B14F-4D97-AF65-F5344CB8AC3E}">
        <p14:creationId xmlns:p14="http://schemas.microsoft.com/office/powerpoint/2010/main" val="9664064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ab552fc0c4a8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c92ca46774cc5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ADAB49F1-2B44-4B91-A9CD-8E40FFF2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Wie oft nutzen Sie generative KI?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0EAC8-DFEF-441E-B5A5-FCC45C54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80D94-77BE-41AE-A6ED-ED173F58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BE099-C204-4E10-8E6C-1EE97B9C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Unterschiedliche Erfahrung ist normal und wird im Training aufgefangen.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9A1A7-AAF7-486F-A3B7-5DF19D3E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Wer nutzt generative KI nie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gelegentlich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mindestens wöchentlich? Wofür?</a:t>
            </a:r>
          </a:p>
        </p:txBody>
      </p:sp>
    </p:spTree>
    <p:extLst>
      <p:ext uri="{BB962C8B-B14F-4D97-AF65-F5344CB8AC3E}">
        <p14:creationId xmlns:p14="http://schemas.microsoft.com/office/powerpoint/2010/main" val="6333721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fead14035414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705a6b60a4549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33022A09-7F7C-4CD4-B805-FE59460E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Was mit „KI“ in dieser Schulung gemeint ist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AB239-CC59-497A-90F5-E56AAED9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Im Fokus stehen Werkzeuge, die aus Eingaben neue Texte, Bilder oder Strukturen erzeugen.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4C8A2-8429-4BAE-A576-92580584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Fokus: generative KI für Entwürfe, Strukturierung und Unterstützung im Arbeitsalltag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77F101-FB84-4950-A7EC-6F030EE6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A9714-F106-40CA-822D-FFD55EE5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Den Gegenstand auf generative KI im Arbeitsalltag eingrenzen.</a:t>
            </a:r>
          </a:p>
        </p:txBody>
      </p:sp>
    </p:spTree>
    <p:extLst>
      <p:ext uri="{BB962C8B-B14F-4D97-AF65-F5344CB8AC3E}">
        <p14:creationId xmlns:p14="http://schemas.microsoft.com/office/powerpoint/2010/main" val="5498904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26d3b370e4cf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e97aaec67435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D1CB4C7D-D010-492A-BBDF-E202406C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Drei Werkzeugarten unterscheiden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83D18-B90E-468C-ADFC-A5E93A9F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Suchen, nach festen Regeln berechnen und neue Inhalte erzeugen sind verschiedene Funktionen.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FEF94-C3B7-4628-B446-973BC951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122C8-629F-4C0D-BE21-68558256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FA42C-C8ED-4EB6-86EF-E07C158C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Suchmaschine: findet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51669-E672-4CF6-9C72-4FC53766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3BE73E-2345-4215-B6A2-2D1673BE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37CCB-1DA9-4256-9C0D-EB28CA13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klassische Software: folgt Regeln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AFD11B-F568-488F-9057-D5D3D1E7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1BE6A0-C39B-4C92-A82B-369D11A6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907FD-2CAA-452C-AE02-E5C3087A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generative KI: erzeugt plausible Inhalte</a:t>
            </a:r>
          </a:p>
        </p:txBody>
      </p:sp>
    </p:spTree>
    <p:extLst>
      <p:ext uri="{BB962C8B-B14F-4D97-AF65-F5344CB8AC3E}">
        <p14:creationId xmlns:p14="http://schemas.microsoft.com/office/powerpoint/2010/main" val="28979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3c9f927904c4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bc13e33fc445b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38097DA9-E305-4DD0-8B02-519D42D2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So erzeugt ein Sprachmodell Antworten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59C06-A9E4-4AD9-86E8-B7A98444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Sprachmodell erzeugt wahrscheinliche Fortsetzungen aus Eingabe und Kontext.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9C6B1E-4176-4B82-9A8B-9ADFE557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94335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3F2AA-5040-42E3-BB3E-1071A662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33B6A-206B-4582-B2C6-84D8D162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94335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3D276-9BB3-4E37-9234-2620C8CD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05E13-13D6-4548-A0AB-B43E162F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4335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D83C2-B514-499C-94E6-2C00F3D8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57105-B2BC-41A1-8AA0-751E244E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095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Eingabe +</a:t>
            </a:r>
          </a:p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Kontext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5FD929-3D92-4C03-B193-9192C1B9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432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Wahrscheinliche</a:t>
            </a:r>
          </a:p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Fortsetzung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A3FCBA-DB3F-4630-832E-C8C4D060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43250"/>
            <a:ext cx="1905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Ausgabe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36D589-E8D9-4DC2-855E-AD2CC3D8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43250"/>
            <a:ext cx="23812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9525">
            <a:solidFill>
              <a:srgbClr val="1F4FC9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Menschliche</a:t>
            </a:r>
          </a:p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Prüfung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C5371-40E9-489A-B0B7-52AF063C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1435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Plausibel ist nicht automatisch wahr.</a:t>
            </a:r>
          </a:p>
        </p:txBody>
      </p:sp>
    </p:spTree>
    <p:extLst>
      <p:ext uri="{BB962C8B-B14F-4D97-AF65-F5344CB8AC3E}">
        <p14:creationId xmlns:p14="http://schemas.microsoft.com/office/powerpoint/2010/main" val="1114411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137055ba4488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299303aec4247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7CA94D4C-4BAB-4E7A-B49D-EB5CABD2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Modell, Anwendung, Konto und Einstellungen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5878B-C1CC-4D02-818B-E6DB12FE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Dasselbe Modell kann je nach Anwendung, Konto und Einstellung anders eingebunden sein.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DFEB1-02EF-4B5D-A8A0-5678710C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2E6D7-11CA-4F22-99B9-348843EE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F960A-4E68-4842-B7C9-D3C636BD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Vier Fragen: Welches Modell? Welche Anwendung? Welches Konto? Welche Einstellungen?</a:t>
            </a:r>
          </a:p>
        </p:txBody>
      </p:sp>
    </p:spTree>
    <p:extLst>
      <p:ext uri="{BB962C8B-B14F-4D97-AF65-F5344CB8AC3E}">
        <p14:creationId xmlns:p14="http://schemas.microsoft.com/office/powerpoint/2010/main" val="13904563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f84c026356437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71c09aa184404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3467C8C2-A9A2-441A-9C46-03FEF0E6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Sechs typische Aufgabenarten im Arbeitsalltag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0E43A-3051-486B-A195-CC6D9396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Generative KI unterstützt besonders beim Variieren, Strukturieren, Zusammenfassen, Entwerfen, Extrahieren und Vorbereiten.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9AD5B-A4D8-4BC6-BA34-23F07B6B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18A3A-DCF5-47C9-9B33-67035F6B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8BD94B-8436-4789-B356-D7EC2960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Ideen entwickeln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9F615-5890-4DFB-B92D-02FEB313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D0614-71CD-4709-84CE-4E60F8EA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84912D-1686-455E-A2BD-4A5B6564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004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Texte strukturieren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FBA9B-F578-40C4-AB29-E151D8AE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51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07A73D-196B-4CCD-BE92-AFA00B41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70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44D47B-6925-4EA6-ABD6-6C3EFAC7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13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freigegebenes Material zusammenfassen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815F9F-1D85-4225-B822-A9982822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751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D4E51B-7CCE-4575-B576-8C440742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370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618C3-324B-4DF4-92E4-B227EB99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513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Entwürfe erstellen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403DB3-48F8-4700-89E2-D0263424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6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697C88-F232-4586-A578-08BF0883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80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221FB-9765-441B-831B-9394FF23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23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Informationen extrahieren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FAA1AA-7FF3-44C9-A92E-097DE3BA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226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7F1F97-7D47-4220-9A55-68864DFC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5880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B8E827-023A-4A95-B42F-AD5B1A46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7023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Gespräche vorbereiten</a:t>
            </a:r>
          </a:p>
        </p:txBody>
      </p:sp>
    </p:spTree>
    <p:extLst>
      <p:ext uri="{BB962C8B-B14F-4D97-AF65-F5344CB8AC3E}">
        <p14:creationId xmlns:p14="http://schemas.microsoft.com/office/powerpoint/2010/main" val="219142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efc63aca374a2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be055b6924b53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A92B7090-F5C5-4DB0-8CC7-557D7B9A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Aufgaben nach Risiko einordnen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31C4B-4943-42BC-9DCB-DD9A582B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Je sensibler die Daten und je größer die Wirkung, desto weniger eignet sich ein Fall für den Basisgebrauch.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9AA87-E4AB-4014-8A68-3EAE4273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5E2D56-885E-41E8-9386-B9CDA0B5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87DCF0-0024-4BF1-9DBC-DB33D7F4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Geeignet: synthetischer Entwurf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5E777-493D-4EAF-992C-7DA12D6A4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4AC4A-7190-4F2A-A186-460F6A33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F88B4-C1D9-49AF-88C8-A4EE1879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Kontrolle nötig: externe Kommunikation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67F6E-7B1F-4D86-ACD1-2CEB0152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FAAD35-3646-4AFD-8843-384BF83F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04F95A-951A-4A9C-98A4-E4C27A82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nicht im Basistraining: folgenreiche Personenentscheidung</a:t>
            </a:r>
          </a:p>
        </p:txBody>
      </p:sp>
    </p:spTree>
    <p:extLst>
      <p:ext uri="{BB962C8B-B14F-4D97-AF65-F5344CB8AC3E}">
        <p14:creationId xmlns:p14="http://schemas.microsoft.com/office/powerpoint/2010/main" val="17197108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eb221325547b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bcbf3a2974888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C8C72BCE-3A7B-4B65-97EA-9E5CB3D9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Überblick über typische Grenzen und Risiken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6C434-5C7B-4ABC-971D-94741962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Gute Sprache kann Fakten-, Kontext-, Rechte- und Datenprobleme verdecken.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1B1170-7A6B-4E12-B768-1377FC06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Faktenfehler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veraltete Inhalte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falsche Quellen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fehlender Kontext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Verzerrungen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Daten- und Rechteprobleme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88676E-AB96-40EA-91CC-B0276D1B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F562A-ABC3-49F7-AB26-83093BF9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Ein gemeinsames Risikovokabular schaffen.</a:t>
            </a:r>
          </a:p>
        </p:txBody>
      </p:sp>
    </p:spTree>
    <p:extLst>
      <p:ext uri="{BB962C8B-B14F-4D97-AF65-F5344CB8AC3E}">
        <p14:creationId xmlns:p14="http://schemas.microsoft.com/office/powerpoint/2010/main" val="11819413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b4ffbdbb41477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40111f7924dc7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5AE7A307-AFCF-4FEA-8EA5-82F6D46D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Eine überzeugende Antwort kann falsch sein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FE44F-C014-4AD7-81D0-34C07F3B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Eine flüssige Antwort kann erfundene Details enthalten.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59533E-5F34-4770-8711-CD1D418E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Klingt sicher. Ist es richtig? Markieren Sie Fakten, Annahmen und offene Punkte.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419BB-F9ED-4CF7-97CB-CEAEA50C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9D3746-518F-4AB1-8EEA-02F3497D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Sprachliche Sicherheit von inhaltlicher Richtigkeit trennen.</a:t>
            </a:r>
          </a:p>
        </p:txBody>
      </p:sp>
    </p:spTree>
    <p:extLst>
      <p:ext uri="{BB962C8B-B14F-4D97-AF65-F5344CB8AC3E}">
        <p14:creationId xmlns:p14="http://schemas.microsoft.com/office/powerpoint/2010/main" val="12843714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6639e4f7114fa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0f39d81be244b1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8D900F37-1B83-4B2C-A7BC-F51DEE7D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Aktualität, Quellen und erfundene Belege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34411-CE98-4A37-B487-D8B7AA03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Eine genannte Quelle ist noch kein belastbarer Beleg.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A9B78-C047-4CC8-AB57-7B003923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0635C-C763-4D59-8D0D-84D184A6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F985E-1B72-4818-B9EC-3F1F3908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Quelle prüfen: Existiert sie? Belegt sie die Aussage? Ist sie aktuell? Passt der Kontext?</a:t>
            </a:r>
          </a:p>
        </p:txBody>
      </p:sp>
    </p:spTree>
    <p:extLst>
      <p:ext uri="{BB962C8B-B14F-4D97-AF65-F5344CB8AC3E}">
        <p14:creationId xmlns:p14="http://schemas.microsoft.com/office/powerpoint/2010/main" val="19594915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4bf1bfa734d8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b89dfd061483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250D9106-4421-4276-9589-DECC62DD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Verzerrungen, Stereotype und fehlender Kontext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21252-62A7-4F0A-8342-90A988A5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 und Formulierung können Perspektiven ausblenden oder Stereotype verstärken.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38B3F-91EC-416C-A870-8F85C83F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ED7F00-E2D1-4C77-A32E-1ED188F3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BFFD3-0F7C-4164-BEED-E29054A6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Fragen Sie: Wer fehlt? Welche Annahme steckt darin? Wen könnte die Ausgabe benachteiligen?</a:t>
            </a:r>
          </a:p>
        </p:txBody>
      </p:sp>
    </p:spTree>
    <p:extLst>
      <p:ext uri="{BB962C8B-B14F-4D97-AF65-F5344CB8AC3E}">
        <p14:creationId xmlns:p14="http://schemas.microsoft.com/office/powerpoint/2010/main" val="14100306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c1061a3dc419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b5a0d0be04d64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E0EC9C80-3F86-49B2-A20E-E5A8100A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Rechte an Eingaben und Ausgaben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F9575-808A-4DA3-B501-E9B97D09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Verfügbar bedeutet nicht automatisch frei nutzbar.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737C63-0A23-4A5A-9BF8-DA39C552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Vorher prüfen: Darf ich es eingeben? Nachher prüfen: Darf und soll ich es verwenden?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1AF8C-47FB-43B7-877B-C6899C9B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CC771-3E15-435E-BC31-00EFC859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Rechte vor Eingabe und Weitergabe mitdenken.</a:t>
            </a:r>
          </a:p>
        </p:txBody>
      </p:sp>
    </p:spTree>
    <p:extLst>
      <p:ext uri="{BB962C8B-B14F-4D97-AF65-F5344CB8AC3E}">
        <p14:creationId xmlns:p14="http://schemas.microsoft.com/office/powerpoint/2010/main" val="8260229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ee1e9d6df454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68f03582b48b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08B933E4-8E1D-4519-826D-986181C4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Miniübung zur Einordnung von drei Aufgaben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CE8D3-35E9-4DDE-AFA4-4B334267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82F99-DEC8-4A04-A0EB-B8DE5241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1483B-0C19-49FF-9338-2C454882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Aufgabe, Daten, Wirkung und Freigabeweg bestimmen die Einordnung.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88432D-F7E4-42C9-8C5C-C92D725A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Einordnen: geeignet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nur mit Kontrolle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nicht im Basistraining — und Entscheidung begründen</a:t>
            </a:r>
          </a:p>
        </p:txBody>
      </p:sp>
    </p:spTree>
    <p:extLst>
      <p:ext uri="{BB962C8B-B14F-4D97-AF65-F5344CB8AC3E}">
        <p14:creationId xmlns:p14="http://schemas.microsoft.com/office/powerpoint/2010/main" val="9141821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2dd53d04d4c4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753b3ce9e4e0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F2C1140D-B70F-4F82-B487-B64C6BC5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Klare Prompts schaffen bessere Arbeitsgrundlagen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E5BCF-0447-46A6-B522-84047430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Klare Ziele, Materialgrenzen und Prüfkriterien reduzieren Missverständnisse.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18ED0-3C8D-4B11-82FF-C4BAFC64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36440-558B-45B1-A5C4-FBEBDEBD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376B9-BE3F-4A26-8A80-13D4AE61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Klarer Auftrag → passenderer Entwurf → leichter prüfbares Ergebnis</a:t>
            </a:r>
          </a:p>
        </p:txBody>
      </p:sp>
    </p:spTree>
    <p:extLst>
      <p:ext uri="{BB962C8B-B14F-4D97-AF65-F5344CB8AC3E}">
        <p14:creationId xmlns:p14="http://schemas.microsoft.com/office/powerpoint/2010/main" val="108158887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7715c1ea4a411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9e3963d48469a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9">
            <a:extLst xmlns:a="http://schemas.openxmlformats.org/drawingml/2006/main">
              <a:ext uri="{FF2B5EF4-FFF2-40B4-BE49-F238E27FC236}">
                <a16:creationId xmlns:a16="http://schemas.microsoft.com/office/drawing/2014/main" id="{480A3A65-EDE8-4A9A-ABDE-85AD7DB4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Vorher-Nachher-Beispiel eines Prompts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6D2E5-F966-478C-A664-B40DC90B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vollständiger Arbeitsauftrag macht Ausgabe und Prüfung nachvollziehbarer.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0252D-345E-455F-B006-CA581F91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212BF0-ABF7-4D9F-A5C8-FC9AAC0A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5FB98-BCF3-4FB3-92ED-66AA628D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3244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Vorher: „Mach eine E-Mail.“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78EC1B-0203-41A5-A788-63BAF365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71164-50E4-4251-B3B6-B292EF8C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B6229-7282-441F-97F3-06E7D3C5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00400"/>
            <a:ext cx="53244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Nachher: Ziel, Zielgruppe, freigegebenes Material, Ton, Format und Prüfpunkte</a:t>
            </a:r>
          </a:p>
        </p:txBody>
      </p:sp>
    </p:spTree>
    <p:extLst>
      <p:ext uri="{BB962C8B-B14F-4D97-AF65-F5344CB8AC3E}">
        <p14:creationId xmlns:p14="http://schemas.microsoft.com/office/powerpoint/2010/main" val="202705615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9a5923b8e4a2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3b754a3ea241b4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0">
            <a:extLst xmlns:a="http://schemas.openxmlformats.org/drawingml/2006/main">
              <a:ext uri="{FF2B5EF4-FFF2-40B4-BE49-F238E27FC236}">
                <a16:creationId xmlns:a16="http://schemas.microsoft.com/office/drawing/2014/main" id="{10FD71E1-42FC-4C0D-8F9C-379D11F8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Die sechs Bausteine der MyHiwi-Promptvorlage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56EA-FCCB-4722-973D-BE1D6E5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prüfbarer Prompt verbindet Aufgabe, Kontext, Material, Anforderungen, Format und Prüfkriterien.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2CD96-D139-4057-B547-BF3C1991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C66FF-4709-4DCF-A410-89929D6C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E11FA-B217-4573-BA57-B4E13985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Aufgabe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417005-D0A1-4D06-8FD8-B03A2404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3F411-9CCE-4371-8211-89216906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83E6F-39BD-408B-B22A-86C85C51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9D5A1-6008-4DA8-848E-01A1E591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65C00-0AE5-4E5C-A37A-B7910841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3015FE-AD50-4702-95C6-41A66317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Material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8D72A-2912-428A-BEF2-F4BD2390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35DE3B-1F1E-40FA-983F-51B4A2AB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6D2F2D-968D-4F8A-B0EA-447CB720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Anforderungen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297638-7B9E-4FCA-BB11-8966CAD9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6B8E87-73F4-45F5-8BAD-882A4E85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35E43E-562B-4F52-A6A8-AD6DABFA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Ausgabeformat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5B6BEB-AA5F-4005-92A6-64993FC3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DFA515-B623-4A0E-AE4D-52D309CF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0AE9EE-FD56-43D9-9BCB-2AE859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Prüfkriterien</a:t>
            </a:r>
          </a:p>
        </p:txBody>
      </p:sp>
    </p:spTree>
    <p:extLst>
      <p:ext uri="{BB962C8B-B14F-4D97-AF65-F5344CB8AC3E}">
        <p14:creationId xmlns:p14="http://schemas.microsoft.com/office/powerpoint/2010/main" val="96667827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083f7fbdbf404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ddade07574b09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1">
            <a:extLst xmlns:a="http://schemas.openxmlformats.org/drawingml/2006/main">
              <a:ext uri="{FF2B5EF4-FFF2-40B4-BE49-F238E27FC236}">
                <a16:creationId xmlns:a16="http://schemas.microsoft.com/office/drawing/2014/main" id="{3DD29FE8-5E27-462A-8692-22FAE0EA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Basisübung: schlechten Prompt verbessern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9FFCD-ACF6-4B3B-9BAB-B8C0D7ED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B81F0-F2D1-453F-B778-4B25B49B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67C101-B8C2-4182-B028-3F650C2E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Fehlende Angaben werden sichtbar gemacht und gezielt ergänzt.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A3845-B2AE-40E8-AFBA-56FC9E20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Verbessern Sie den schwachen Startprompt aus Kurzfall A. Nutzen Sie alle sechs Bausteine.</a:t>
            </a:r>
          </a:p>
        </p:txBody>
      </p:sp>
    </p:spTree>
    <p:extLst>
      <p:ext uri="{BB962C8B-B14F-4D97-AF65-F5344CB8AC3E}">
        <p14:creationId xmlns:p14="http://schemas.microsoft.com/office/powerpoint/2010/main" val="1094861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cfb3d854e432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affe6cb55542d3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2">
            <a:extLst xmlns:a="http://schemas.openxmlformats.org/drawingml/2006/main">
              <a:ext uri="{FF2B5EF4-FFF2-40B4-BE49-F238E27FC236}">
                <a16:creationId xmlns:a16="http://schemas.microsoft.com/office/drawing/2014/main" id="{4970FAC2-E5AE-45D6-9DFF-74302786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Ausgabe kritisieren und gezielt überarbeiten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EF5BA-7204-43DC-98BA-4DF1C21C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2F02E-63FB-4DE7-9056-7912B5D3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70740-755F-4025-9C97-C36DA3C3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Eine KI-Kritik ist ein zusätzlicher Hinweis, nicht die Freigabe.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C04843-D994-4E7C-923B-0A15890A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Entwurf erzeugen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selbst prüfen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Kritik anfordern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gezielt überarbeiten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erneut prüfen</a:t>
            </a:r>
          </a:p>
        </p:txBody>
      </p:sp>
    </p:spTree>
    <p:extLst>
      <p:ext uri="{BB962C8B-B14F-4D97-AF65-F5344CB8AC3E}">
        <p14:creationId xmlns:p14="http://schemas.microsoft.com/office/powerpoint/2010/main" val="256829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F4F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0E403-3ECF-4621-8DC5-51AACD75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MYHIWI · AI-STARTKLAR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321582-66D9-4818-938D-689DD39D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048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8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Pause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30417C-C1C2-4526-BDB6-08359548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857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Danach: Daten einordnen, verantwortlich handeln, praktisch anwenden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60691-CD71-4668-906E-E104785D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244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Wiedereinstieg: ____ Uhr</a:t>
            </a:r>
          </a:p>
        </p:txBody>
      </p:sp>
      <p:sp>
        <p:nvSpPr>
          <p:cNvPr id="5" name="footer-rule-23">
            <a:extLst xmlns:a="http://schemas.openxmlformats.org/drawingml/2006/main">
              <a:ext uri="{FF2B5EF4-FFF2-40B4-BE49-F238E27FC236}">
                <a16:creationId xmlns:a16="http://schemas.microsoft.com/office/drawing/2014/main" id="{FCBBF5AF-75D2-4233-8D6B-D18A8D83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1808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60551-C944-4884-9457-E4B21A1B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MyHiwi AI-Startklar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337EB-300A-41BC-9073-081B3FA8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419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v1.0 · Stand 22.07.2026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7AEAF7-7C5D-401F-AB26-3141AAEC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335095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e8cf11ff14ae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d2266f011b436d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4">
            <a:extLst xmlns:a="http://schemas.openxmlformats.org/drawingml/2006/main">
              <a:ext uri="{FF2B5EF4-FFF2-40B4-BE49-F238E27FC236}">
                <a16:creationId xmlns:a16="http://schemas.microsoft.com/office/drawing/2014/main" id="{AFA47DF7-8564-400E-8A3E-637A92C2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Verantwortung bleibt beim Menschen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00060-3A5B-422C-ABB1-02602353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Menschen prüfen, entscheiden und geben frei.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357701-BF70-4E73-A3E5-A1BAADE7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KI unterstützt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Menschen prüfen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Verantwortliche entscheiden und geben frei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FA400-84E3-422A-B973-DC4852AE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15A6A4-9ACB-4352-948C-DE51A092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KI unterstützt – Menschen prüfen, entscheiden und geben frei.</a:t>
            </a:r>
          </a:p>
        </p:txBody>
      </p:sp>
    </p:spTree>
    <p:extLst>
      <p:ext uri="{BB962C8B-B14F-4D97-AF65-F5344CB8AC3E}">
        <p14:creationId xmlns:p14="http://schemas.microsoft.com/office/powerpoint/2010/main" val="30694967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f68bc420a418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c0bc8168641b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5">
            <a:extLst xmlns:a="http://schemas.openxmlformats.org/drawingml/2006/main">
              <a:ext uri="{FF2B5EF4-FFF2-40B4-BE49-F238E27FC236}">
                <a16:creationId xmlns:a16="http://schemas.microsoft.com/office/drawing/2014/main" id="{D24EDE47-7291-4868-B604-CEEA9764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Nur freigegebene Werkzeuge und Konten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207DE8-0F22-4BDB-ACC3-22005551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Ein privater oder kostenloser Zugang ist nicht automatisch für Unternehmensdaten geeignet.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B2AEE-33EC-408D-814D-F1B2DE5C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Vor Nutzung klären: Werkzeug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Unternehmenskonto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Zweck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Einstellungen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interne Freigabe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A16E8-81A1-491E-94E4-E78BC8AD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FCCBCB-C3B8-47E9-AC01-8A3DBD83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Betriebliche Freigabe von persönlichem Zugang trennen.</a:t>
            </a:r>
          </a:p>
        </p:txBody>
      </p:sp>
    </p:spTree>
    <p:extLst>
      <p:ext uri="{BB962C8B-B14F-4D97-AF65-F5344CB8AC3E}">
        <p14:creationId xmlns:p14="http://schemas.microsoft.com/office/powerpoint/2010/main" val="104926634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8afb45f2fb4cb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9369792df40fe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6">
            <a:extLst xmlns:a="http://schemas.openxmlformats.org/drawingml/2006/main">
              <a:ext uri="{FF2B5EF4-FFF2-40B4-BE49-F238E27FC236}">
                <a16:creationId xmlns:a16="http://schemas.microsoft.com/office/drawing/2014/main" id="{56F0146B-CF10-4903-AF9E-FC0903B9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Die Datenampel im Überblick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77AAA-382F-43D0-89A5-F0C6334B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Grün nutzen, Gelb vorher klären, Rot im Basistraining niemals eingeben.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BB324-3A58-46A2-8B21-520C1553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DA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GRÜN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01985-6661-4AC8-80D0-4D16FBE5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nutzen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81878-5E36-49D7-B285-763FAAC5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im freigegebenen Werkzeug grundsätzlich nutzbar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05BDB3-63D2-494C-9827-74D670F3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4BF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GELB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49BAA9-B5D9-45CD-9590-AE1A7E13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stoppen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B05AA-2365-4036-AFBB-03F38F91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vorher intern prüfen und freigeben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23F940-A3C6-4CFB-A0E9-72EFF912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D1D1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E61FE-2EFB-4CF6-A267-9CA6B7DD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nicht eingeben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5CC054-48A5-4F88-808B-3186E100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im Basistraining niemals eingeben</a:t>
            </a:r>
          </a:p>
        </p:txBody>
      </p:sp>
    </p:spTree>
    <p:extLst>
      <p:ext uri="{BB962C8B-B14F-4D97-AF65-F5344CB8AC3E}">
        <p14:creationId xmlns:p14="http://schemas.microsoft.com/office/powerpoint/2010/main" val="168301198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5444e44a1487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525c0a4cd34588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7">
            <a:extLst xmlns:a="http://schemas.openxmlformats.org/drawingml/2006/main">
              <a:ext uri="{FF2B5EF4-FFF2-40B4-BE49-F238E27FC236}">
                <a16:creationId xmlns:a16="http://schemas.microsoft.com/office/drawing/2014/main" id="{1AD82B43-F259-4398-88A2-0FC0B138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Grün: geeignete Beispieldaten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D7266-A056-4E90-B54C-9280EAE7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Synthetische, veröffentlichte, ausdrücklich freigegebene oder robust anonymisierte Inhalte können grün sein.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B351C-FEC3-4DF9-9795-196C1004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032D3-BBB0-4CA4-9978-684A52A3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8C548-3078-416C-B3C7-F4CA4B85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Grün: synthetisch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675EB3-7521-4AA2-9707-866B4CB2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78B39-A714-4F3F-9B41-43EBF1A4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358DB-39E1-4D23-BCF1-B757D3E6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004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rechtmäßig veröffentlicht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4C5AA-66F5-4794-8F15-FB72864F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51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01944-6D38-4B66-9B32-69DB93C4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70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477F1-4879-482F-8B67-C932A6F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13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ausdrücklich freigegeben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4059B1-2BEA-4E82-B02F-34103E1A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751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9B3978-E78A-4808-887D-9C4ED10C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370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10BA5F-AF08-4E22-B37D-EB96EB79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513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robust anonymisiert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7C22D0-841D-41D1-8D23-EA017321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6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061120-81B6-49EC-8C8A-DC9C2094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80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87051F-65F0-42BB-AEF5-1AF7D389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23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ohne Personen- oder Geheimnisbezug</a:t>
            </a:r>
          </a:p>
        </p:txBody>
      </p:sp>
    </p:spTree>
    <p:extLst>
      <p:ext uri="{BB962C8B-B14F-4D97-AF65-F5344CB8AC3E}">
        <p14:creationId xmlns:p14="http://schemas.microsoft.com/office/powerpoint/2010/main" val="19484649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a71a6b7df41b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e894402134f9d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8">
            <a:extLst xmlns:a="http://schemas.openxmlformats.org/drawingml/2006/main">
              <a:ext uri="{FF2B5EF4-FFF2-40B4-BE49-F238E27FC236}">
                <a16:creationId xmlns:a16="http://schemas.microsoft.com/office/drawing/2014/main" id="{D64D4A09-DE62-48C1-A68B-D0457ED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Gelb: erst intern prüfen und freigeben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77C36-E6CC-4107-A4E5-B50A194B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Gelb bedeutet stoppen, Zuständigkeit und zulässige Umgebung klären.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4AA53-370E-4A3A-9F07-F35E863F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50554-7572-4105-AB90-8DAFDC84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8138C-4BD2-4E9F-B8FE-5FF8C535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Gelb: interne oder pseudonymisierte Inhalte, fremde Werke, unklare Vertraulichkeit → zuerst intern klären</a:t>
            </a:r>
          </a:p>
        </p:txBody>
      </p:sp>
    </p:spTree>
    <p:extLst>
      <p:ext uri="{BB962C8B-B14F-4D97-AF65-F5344CB8AC3E}">
        <p14:creationId xmlns:p14="http://schemas.microsoft.com/office/powerpoint/2010/main" val="130560448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cdb156620494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c682526bc240c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9">
            <a:extLst xmlns:a="http://schemas.openxmlformats.org/drawingml/2006/main">
              <a:ext uri="{FF2B5EF4-FFF2-40B4-BE49-F238E27FC236}">
                <a16:creationId xmlns:a16="http://schemas.microsoft.com/office/drawing/2014/main" id="{195F1587-CB57-4B33-9FB0-A647309D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Rot: im Basistraining niemals eingeben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B51A0-FE70-4B0A-8A04-B1FC55AE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Sicherheitsdaten, Geheimnisse und sensible Personeninformationen bleiben aus Live-Übungen heraus.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3BFA6-6852-444F-AB97-ECAEA337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Rot: Passwörter &amp; Schlüssel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Geschäftsgeheimnisse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nicht öffentliche Finanzdaten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Beschäftigten-, Kunden-, Patienten- &amp; Gesundheitsdaten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sicherheitskritische Informationen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52B8A-1CD4-434A-8377-366C0891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32BCE-D795-4135-B3D3-D3CCC795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Harte Stoppsignale erkennen.</a:t>
            </a:r>
          </a:p>
        </p:txBody>
      </p:sp>
    </p:spTree>
    <p:extLst>
      <p:ext uri="{BB962C8B-B14F-4D97-AF65-F5344CB8AC3E}">
        <p14:creationId xmlns:p14="http://schemas.microsoft.com/office/powerpoint/2010/main" val="198350183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5b89ccea94a4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52a77737b04f17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0">
            <a:extLst xmlns:a="http://schemas.openxmlformats.org/drawingml/2006/main">
              <a:ext uri="{FF2B5EF4-FFF2-40B4-BE49-F238E27FC236}">
                <a16:creationId xmlns:a16="http://schemas.microsoft.com/office/drawing/2014/main" id="{D13F4D42-0680-4B47-A1EE-EE6E7D99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Folgenreiche Anwendungsfälle früh stoppen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CFCAB-E60D-4CE4-A022-71C94204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Entscheidungen über Menschen und sicherheitskritische Freigaben gehören nicht in die Basisübung.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196FC-55D3-4275-94F4-45D6EE31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Stoppen bei: Beschäftigtenbewertung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Gesundheit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Kredit &amp; Scoring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Zugang zu Leistungen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sicherheitskritischer Freigabe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erheblicher Personenwirkung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D2422-E249-4285-89EB-18F0C1BC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ADAA2-0F0C-45BC-B4D7-6B9DF258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Fälle mit erheblichen Auswirkungen früh stoppen.</a:t>
            </a:r>
          </a:p>
        </p:txBody>
      </p:sp>
    </p:spTree>
    <p:extLst>
      <p:ext uri="{BB962C8B-B14F-4D97-AF65-F5344CB8AC3E}">
        <p14:creationId xmlns:p14="http://schemas.microsoft.com/office/powerpoint/2010/main" val="129509614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0de714ff394da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d6ec8bf334215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1">
            <a:extLst xmlns:a="http://schemas.openxmlformats.org/drawingml/2006/main">
              <a:ext uri="{FF2B5EF4-FFF2-40B4-BE49-F238E27FC236}">
                <a16:creationId xmlns:a16="http://schemas.microsoft.com/office/drawing/2014/main" id="{CAE2C65E-A401-48AC-8325-DA5EFE61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Menschliche Kontrolle und Freigabewege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42E09-95A4-4A6A-930A-38CC2BF1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Jede relevante Ausgabe braucht eine benannte prüfende und freigebende Rolle.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8FD46-C406-446F-8109-D3DE10FD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Wer erstellt? Wer prüft fachlich? Wer gibt frei? Wohin wird Unsicherheit eskaliert?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71EB3-5698-4316-A415-44FB3ACB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7BB7C-7501-4577-8617-AA26CEFE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Zuständigkeit vom Entwurf bis zur Verwendung festlegen.</a:t>
            </a:r>
          </a:p>
        </p:txBody>
      </p:sp>
    </p:spTree>
    <p:extLst>
      <p:ext uri="{BB962C8B-B14F-4D97-AF65-F5344CB8AC3E}">
        <p14:creationId xmlns:p14="http://schemas.microsoft.com/office/powerpoint/2010/main" val="6595018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9b38867f64f7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03cde3fb44eb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2">
            <a:extLst xmlns:a="http://schemas.openxmlformats.org/drawingml/2006/main">
              <a:ext uri="{FF2B5EF4-FFF2-40B4-BE49-F238E27FC236}">
                <a16:creationId xmlns:a16="http://schemas.microsoft.com/office/drawing/2014/main" id="{E9DAEDDC-DDF6-4583-A7E5-2DB30953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Fünf betriebliche Grundregeln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1F965-AB86-498D-A2E5-2A0FCA34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Werkzeugfreigabe, Datenampel, Prüfung, menschliche Verantwortung und Eskalation gehören zusammen.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19A9F7-5A94-4B1C-AAEF-D5F76075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BDFFC-D912-4FBC-ACE1-7346649A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717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Nur freigegebene Werkzeuge und Unternehmenskonten nutzen.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21FC9-6DD5-4EB6-B9A4-3ACDC973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242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53E11-4292-4042-8E13-2A95EBAE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44321-82D2-46CC-BCB2-B7B51B73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194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Vor jeder Eingabe die Datenampel anwenden; rote Daten im Basisgebrauch nicht eingeben.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0C9E0-EF8D-4A7D-BA09-D1A1DA03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A250E3-0731-4B83-B377-09106CD4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CD5519-4262-4AC5-88A9-15F3CBAE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KI-Ausgaben vor Verwendung auf Fakten, Quellen, Rechte, Ton und Wirkung prüfen.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D0128-142F-4ABA-A336-85507091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96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FDF8C-6817-4F8B-8DFB-388650FB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4E1D8-99B2-4A44-A0C2-D048AF74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Verantwortung und folgenreiche Entscheidungen bleiben beim Menschen.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51C413-3F69-4083-8C65-990249A8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673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EF6D74-DA15-4B56-AC29-62239C39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191FDF-22D6-4AB0-9DB4-DD81781E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625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Unsichere, sensible oder ungewöhnliche Fälle stoppen und intern eskalieren.</a:t>
            </a:r>
          </a:p>
        </p:txBody>
      </p:sp>
    </p:spTree>
    <p:extLst>
      <p:ext uri="{BB962C8B-B14F-4D97-AF65-F5344CB8AC3E}">
        <p14:creationId xmlns:p14="http://schemas.microsoft.com/office/powerpoint/2010/main" val="139127122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823ee275fc4bf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28dc5ac2b4fd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3">
            <a:extLst xmlns:a="http://schemas.openxmlformats.org/drawingml/2006/main">
              <a:ext uri="{FF2B5EF4-FFF2-40B4-BE49-F238E27FC236}">
                <a16:creationId xmlns:a16="http://schemas.microsoft.com/office/drawing/2014/main" id="{6C4B1A82-3510-421A-8B9F-5A6B9FA6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Unternehmensbezogener Praxisfall und Ziel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996C7-6029-48E5-BD54-31AF71F5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2B1D6-761A-4B98-9F99-508D7185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7775C-D6EE-44E6-9158-2AF93DB3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Die Übung beginnt mit Ziel, Datenrahmen und gewünschtem Arbeitsergebnis.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76231-810B-45FA-AF2F-253E9157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Praxisfall: [synthetischer Fall]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Ziel: [Arbeitsergebnis]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Freigabeweg: [Rolle]</a:t>
            </a:r>
          </a:p>
        </p:txBody>
      </p:sp>
    </p:spTree>
    <p:extLst>
      <p:ext uri="{BB962C8B-B14F-4D97-AF65-F5344CB8AC3E}">
        <p14:creationId xmlns:p14="http://schemas.microsoft.com/office/powerpoint/2010/main" val="179196794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8eb116374412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c2b034b04847a2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4">
            <a:extLst xmlns:a="http://schemas.openxmlformats.org/drawingml/2006/main">
              <a:ext uri="{FF2B5EF4-FFF2-40B4-BE49-F238E27FC236}">
                <a16:creationId xmlns:a16="http://schemas.microsoft.com/office/drawing/2014/main" id="{DC1427EB-4E42-4806-B187-C679D0E0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Schritt 1: Aufgabe und gewünschtes Ergebnis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82843-7310-4E27-AABB-66181BB9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CAC150-BA5E-4A15-9737-B06F80BD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9E460-79E9-40B5-A1A5-7C8FF0FC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Erst das benötigte Ergebnis klären, dann das Werkzeug beauftragen.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1CE98-27D4-4E31-AAFB-7D7B3CF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Was soll entstehen? Für wen? Wofür? Was wäre ein brauchbares Ergebnis?</a:t>
            </a:r>
          </a:p>
        </p:txBody>
      </p:sp>
    </p:spTree>
    <p:extLst>
      <p:ext uri="{BB962C8B-B14F-4D97-AF65-F5344CB8AC3E}">
        <p14:creationId xmlns:p14="http://schemas.microsoft.com/office/powerpoint/2010/main" val="127194328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3417b96854e2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291bec100f4ee9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5">
            <a:extLst xmlns:a="http://schemas.openxmlformats.org/drawingml/2006/main">
              <a:ext uri="{FF2B5EF4-FFF2-40B4-BE49-F238E27FC236}">
                <a16:creationId xmlns:a16="http://schemas.microsoft.com/office/drawing/2014/main" id="{45968EA8-38DE-40D1-9345-D1CD9474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Schritt 2: Daten einordnen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527CD-06F8-42B4-9E85-2E6CF755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2C936-B74A-4A32-A056-40C5FF44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1F296D-E9A5-4990-A906-7CAE45D9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Nur freigegebenes grünes oder synthetisch ersetztes Material wird verwendet.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456F7-A83A-4223-A1B7-D2A4EB22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Material prüfen: Grün nutzen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Gelb ersetzen und intern klären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Rot stoppen</a:t>
            </a:r>
          </a:p>
        </p:txBody>
      </p:sp>
    </p:spTree>
    <p:extLst>
      <p:ext uri="{BB962C8B-B14F-4D97-AF65-F5344CB8AC3E}">
        <p14:creationId xmlns:p14="http://schemas.microsoft.com/office/powerpoint/2010/main" val="192660636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527ef045540c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024dd5e784fa4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6">
            <a:extLst xmlns:a="http://schemas.openxmlformats.org/drawingml/2006/main">
              <a:ext uri="{FF2B5EF4-FFF2-40B4-BE49-F238E27FC236}">
                <a16:creationId xmlns:a16="http://schemas.microsoft.com/office/drawing/2014/main" id="{B3452180-90A7-4784-9EC3-CD533B05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Schritt 3: Prompt formulieren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57A64-D124-4F6D-B646-F9641A9A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975733-E30C-49B5-8CBA-BF7AB7C8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76175-C2CA-401B-8E93-7870DD93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Materialgrenze und Prüfkriterien gehören ausdrücklich in den Prompt.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D1238-7F0B-462D-8F40-2B18E38D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Aufgabe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Kontext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freigegebenes Material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Anforderungen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Ausgabeformat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Prüfkriterien</a:t>
            </a:r>
          </a:p>
        </p:txBody>
      </p:sp>
    </p:spTree>
    <p:extLst>
      <p:ext uri="{BB962C8B-B14F-4D97-AF65-F5344CB8AC3E}">
        <p14:creationId xmlns:p14="http://schemas.microsoft.com/office/powerpoint/2010/main" val="147185910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147da9b324d3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a721f16cd3426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7">
            <a:extLst xmlns:a="http://schemas.openxmlformats.org/drawingml/2006/main">
              <a:ext uri="{FF2B5EF4-FFF2-40B4-BE49-F238E27FC236}">
                <a16:creationId xmlns:a16="http://schemas.microsoft.com/office/drawing/2014/main" id="{E5F00797-7F8E-4620-8A3C-2398AABA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Schritt 4: Beispielausgabe analysieren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B1B62-2BCD-43C3-B13E-EACD53EF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1EC66-121F-4F80-918B-23E71BCC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07D7B-8B72-466F-A0EF-41EF7BB3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Zuerst Beobachtungen und Risiken markieren, dann überarbeiten.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A7E1A-F61A-4DC5-A422-BF54B9D6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Markieren: brauchbar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unklar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unbelegt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falsch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unpassend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fehlend</a:t>
            </a:r>
          </a:p>
        </p:txBody>
      </p:sp>
    </p:spTree>
    <p:extLst>
      <p:ext uri="{BB962C8B-B14F-4D97-AF65-F5344CB8AC3E}">
        <p14:creationId xmlns:p14="http://schemas.microsoft.com/office/powerpoint/2010/main" val="25826269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6ab8e44f5409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2b139f5eb490a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8">
            <a:extLst xmlns:a="http://schemas.openxmlformats.org/drawingml/2006/main">
              <a:ext uri="{FF2B5EF4-FFF2-40B4-BE49-F238E27FC236}">
                <a16:creationId xmlns:a16="http://schemas.microsoft.com/office/drawing/2014/main" id="{37E1D3A2-173A-4894-B2A7-10EBDC14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Siebenstufige Prüfroutine und Verbesserung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96923-9E5A-44DA-870E-46CB2877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Fakten, Quellen, Vollständigkeit, Verzerrung, Rechte und Daten, Ton und Wirkung sowie Verantwortung werden einzeln geprüft.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843A89-400C-40E1-B655-CBA0CF5F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14625"/>
            <a:ext cx="0" cy="2914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F4F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97FB8-FCDF-48EC-B1B1-DF6FAD96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283F8-58AA-4740-B30C-934CE55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09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Fakten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19CF2-E9E2-46BE-8FF1-7F13ED8F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22EBD-1AF6-405E-9192-C66196ED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71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Quellen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5A479-CE3C-435D-87D0-7A3147D8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BD851-1D39-425F-9BC5-CED623E9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33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Vollständigkeit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74C92-65E6-40A9-916A-F0C7BB1A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90A93-E18F-465E-A467-40919BBF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95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Verzerrung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D1E0A-7888-4BB5-9BC6-ECA8A209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4596D-A6EF-4437-B709-48AB2258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09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Rechte &amp; Daten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075983-3314-495A-B9F9-ACF0D029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33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211991-434C-4BD1-B91C-DFE23F0D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71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Ton &amp; Wirkung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0A71B8-41D7-44B1-B03F-B2CD2D05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1FCE8F-3ABB-4637-9568-DD3E4175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33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Verantwortung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ACB3BF-3CCE-40F1-8D4D-8203409E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067300"/>
            <a:ext cx="5257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verwenden · verbessern · verwerfen · eskalieren</a:t>
            </a:r>
          </a:p>
        </p:txBody>
      </p:sp>
    </p:spTree>
    <p:extLst>
      <p:ext uri="{BB962C8B-B14F-4D97-AF65-F5344CB8AC3E}">
        <p14:creationId xmlns:p14="http://schemas.microsoft.com/office/powerpoint/2010/main" val="108496516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99244ee9c47d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ffbfa5ea14613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9">
            <a:extLst xmlns:a="http://schemas.openxmlformats.org/drawingml/2006/main">
              <a:ext uri="{FF2B5EF4-FFF2-40B4-BE49-F238E27FC236}">
                <a16:creationId xmlns:a16="http://schemas.microsoft.com/office/drawing/2014/main" id="{F3D10BF0-8E7B-4FC7-803F-9ED7CA37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Zehnteiliger Lern- und Transfercheck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DA4E6F-BE65-421F-B36C-0A3BB308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CCD8F-FF81-4A35-9D2B-B7968B86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A5B6B-B04C-49AA-A300-B1CFA8F3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Der Check unterstützt Lernen und Transfer, nicht die Bewertung einzelner Beschäftigter.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201BF4-DB9E-4018-98D8-31FC40B2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Zehn Fragen: Funktionsweise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Prompt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Risiken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Datenampel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Verantwortung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Prüfung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Eskalation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Toolzugang</a:t>
            </a:r>
          </a:p>
        </p:txBody>
      </p:sp>
    </p:spTree>
    <p:extLst>
      <p:ext uri="{BB962C8B-B14F-4D97-AF65-F5344CB8AC3E}">
        <p14:creationId xmlns:p14="http://schemas.microsoft.com/office/powerpoint/2010/main" val="105340975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91b624cf443e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f174a6e9e4d0b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40">
            <a:extLst xmlns:a="http://schemas.openxmlformats.org/drawingml/2006/main">
              <a:ext uri="{FF2B5EF4-FFF2-40B4-BE49-F238E27FC236}">
                <a16:creationId xmlns:a16="http://schemas.microsoft.com/office/drawing/2014/main" id="{2C0BC96C-C864-46B4-8D39-68BAA6AF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Ansprechpartner und nächste Schritte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DFEB2-1DB0-4E28-8B0F-FC0360C6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71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Der nächste Schritt ist klein, freigegeben und prüfbar.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55DB3-0C20-454E-B9A9-D919CB15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Nächster sicherer Anwendungsfall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255E9-823C-479F-BEFE-EE3F6152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F8794-585B-4F04-BB93-923F344F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3337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Fachliche Prüfung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CB3C5-7388-4824-B2A0-EBE3453F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5285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47063-F008-4C1E-90AD-43A6DF76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Toolfreigabe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B4D43A-777F-44C4-B647-5C2A75AD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58533-44BD-41C4-8895-A4EF04CA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1480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Datenschutz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365E15-4727-4E2B-9E30-BF57ABE5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53390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D818C-BC81-4EB3-BB6E-A22D08E1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Informationssicherheit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63FA0-6784-41FF-B28E-05857438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B022B-EC90-4F0E-8B00-65BFF373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958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Eskalationsstelle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EB762C-64A3-411E-A1DB-77F23D82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31495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</p:spTree>
    <p:extLst>
      <p:ext uri="{BB962C8B-B14F-4D97-AF65-F5344CB8AC3E}">
        <p14:creationId xmlns:p14="http://schemas.microsoft.com/office/powerpoint/2010/main" val="5704872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MyHiwi</dc:creator>
  <lastModifiedBy>MyHiwi</lastModifiedBy>
  <dc:title>MyHiwi AI-Startklar – Trainerfolien – Version 1.0</dc:title>
  <dc:subject>KI-Grundlagenschulung für Unternehmen</dc:subject>
  <dc:description>Trainerfolien · Version 1.0 · Stand 22. Juli 2026</dc:description>
  <keywords>MyHiwi; AI-Startklar; KI-Schulung; Version 1.0; Stand 22. Juli 2026</keywords>
  <dcterms:created xsi:type="dcterms:W3CDTF">2026-07-22T00:00:00Z</dcterms:created>
  <dcterms:modified xsi:type="dcterms:W3CDTF">2026-07-22T00:00:00Z</dcterms:modified>
</coreProperties>
</file>