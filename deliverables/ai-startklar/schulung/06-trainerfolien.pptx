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  <Override PartName="/ppt/slides/slide27.xml" ContentType="application/vnd.openxmlformats-officedocument.presentationml.slide+xml"/>
  <Override PartName="/ppt/notesSlides/notesSlide27.xml" ContentType="application/vnd.openxmlformats-officedocument.presentationml.notesSlide+xml"/>
  <Override PartName="/ppt/slides/slide28.xml" ContentType="application/vnd.openxmlformats-officedocument.presentationml.slide+xml"/>
  <Override PartName="/ppt/notesSlides/notesSlide28.xml" ContentType="application/vnd.openxmlformats-officedocument.presentationml.notesSlide+xml"/>
  <Override PartName="/ppt/slides/slide29.xml" ContentType="application/vnd.openxmlformats-officedocument.presentationml.slide+xml"/>
  <Override PartName="/ppt/notesSlides/notesSlide29.xml" ContentType="application/vnd.openxmlformats-officedocument.presentationml.notesSlide+xml"/>
  <Override PartName="/ppt/slides/slide30.xml" ContentType="application/vnd.openxmlformats-officedocument.presentationml.slide+xml"/>
  <Override PartName="/ppt/notesSlides/notesSlide30.xml" ContentType="application/vnd.openxmlformats-officedocument.presentationml.notesSlide+xml"/>
  <Override PartName="/ppt/slides/slide31.xml" ContentType="application/vnd.openxmlformats-officedocument.presentationml.slide+xml"/>
  <Override PartName="/ppt/notesSlides/notesSlide31.xml" ContentType="application/vnd.openxmlformats-officedocument.presentationml.notesSlide+xml"/>
  <Override PartName="/ppt/slides/slide32.xml" ContentType="application/vnd.openxmlformats-officedocument.presentationml.slide+xml"/>
  <Override PartName="/ppt/notesSlides/notesSlide32.xml" ContentType="application/vnd.openxmlformats-officedocument.presentationml.notesSlide+xml"/>
  <Override PartName="/ppt/slides/slide33.xml" ContentType="application/vnd.openxmlformats-officedocument.presentationml.slide+xml"/>
  <Override PartName="/ppt/notesSlides/notesSlide33.xml" ContentType="application/vnd.openxmlformats-officedocument.presentationml.notesSlide+xml"/>
  <Override PartName="/ppt/slides/slide34.xml" ContentType="application/vnd.openxmlformats-officedocument.presentationml.slide+xml"/>
  <Override PartName="/ppt/notesSlides/notesSlide34.xml" ContentType="application/vnd.openxmlformats-officedocument.presentationml.notesSlide+xml"/>
  <Override PartName="/ppt/slides/slide35.xml" ContentType="application/vnd.openxmlformats-officedocument.presentationml.slide+xml"/>
  <Override PartName="/ppt/notesSlides/notesSlide35.xml" ContentType="application/vnd.openxmlformats-officedocument.presentationml.notesSlide+xml"/>
  <Override PartName="/ppt/slides/slide36.xml" ContentType="application/vnd.openxmlformats-officedocument.presentationml.slide+xml"/>
  <Override PartName="/ppt/notesSlides/notesSlide36.xml" ContentType="application/vnd.openxmlformats-officedocument.presentationml.notesSlide+xml"/>
  <Override PartName="/ppt/slides/slide37.xml" ContentType="application/vnd.openxmlformats-officedocument.presentationml.slide+xml"/>
  <Override PartName="/ppt/notesSlides/notesSlide37.xml" ContentType="application/vnd.openxmlformats-officedocument.presentationml.notesSlide+xml"/>
  <Override PartName="/ppt/slides/slide38.xml" ContentType="application/vnd.openxmlformats-officedocument.presentationml.slide+xml"/>
  <Override PartName="/ppt/notesSlides/notesSlide38.xml" ContentType="application/vnd.openxmlformats-officedocument.presentationml.notesSlide+xml"/>
  <Override PartName="/ppt/slides/slide39.xml" ContentType="application/vnd.openxmlformats-officedocument.presentationml.slide+xml"/>
  <Override PartName="/ppt/notesSlides/notesSlide39.xml" ContentType="application/vnd.openxmlformats-officedocument.presentationml.notesSlide+xml"/>
  <Override PartName="/ppt/slides/slide40.xml" ContentType="application/vnd.openxmlformats-officedocument.presentationml.slide+xml"/>
  <Override PartName="/ppt/notesSlides/notesSlide4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3aa395f66630469c" /><Relationship Type="http://schemas.openxmlformats.org/officeDocument/2006/relationships/extended-properties" Target="/docProps/app.xml" Id="R1f38c0e9ee014a1e" /><Relationship Type="http://schemas.openxmlformats.org/officeDocument/2006/relationships/officeDocument" Target="/ppt/presentation.xml" Id="R8f401cdf2451438a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c36aad4dd86a4c8f"/>
  </p:sldMasterIdLst>
  <p:notesMasterIdLst>
    <p:notesMasterId xmlns:r="http://schemas.openxmlformats.org/officeDocument/2006/relationships" r:id="R1282fd808b804274"/>
  </p:notesMasterIdLst>
  <p:sldIdLst>
    <p:sldId xmlns:r="http://schemas.openxmlformats.org/officeDocument/2006/relationships" id="256" r:id="R3e33458ebee24f52"/>
    <p:sldId xmlns:r="http://schemas.openxmlformats.org/officeDocument/2006/relationships" id="257" r:id="Rfce4595ac8414d37"/>
    <p:sldId xmlns:r="http://schemas.openxmlformats.org/officeDocument/2006/relationships" id="258" r:id="R49f9948e63274bde"/>
    <p:sldId xmlns:r="http://schemas.openxmlformats.org/officeDocument/2006/relationships" id="259" r:id="Rbf90a442711b4b10"/>
    <p:sldId xmlns:r="http://schemas.openxmlformats.org/officeDocument/2006/relationships" id="260" r:id="R8037e0d347214d9b"/>
    <p:sldId xmlns:r="http://schemas.openxmlformats.org/officeDocument/2006/relationships" id="261" r:id="R0f4c76ce51fc4d2e"/>
    <p:sldId xmlns:r="http://schemas.openxmlformats.org/officeDocument/2006/relationships" id="262" r:id="Rfdf421823f67485a"/>
    <p:sldId xmlns:r="http://schemas.openxmlformats.org/officeDocument/2006/relationships" id="263" r:id="R7e440cced3764ff6"/>
    <p:sldId xmlns:r="http://schemas.openxmlformats.org/officeDocument/2006/relationships" id="264" r:id="R97139654f60647e9"/>
    <p:sldId xmlns:r="http://schemas.openxmlformats.org/officeDocument/2006/relationships" id="265" r:id="Rdec03b93b079427d"/>
    <p:sldId xmlns:r="http://schemas.openxmlformats.org/officeDocument/2006/relationships" id="266" r:id="R5d7990e3646f491a"/>
    <p:sldId xmlns:r="http://schemas.openxmlformats.org/officeDocument/2006/relationships" id="267" r:id="R9df3ec959ae8411c"/>
    <p:sldId xmlns:r="http://schemas.openxmlformats.org/officeDocument/2006/relationships" id="268" r:id="R414f64200b874bf3"/>
    <p:sldId xmlns:r="http://schemas.openxmlformats.org/officeDocument/2006/relationships" id="269" r:id="R3cf8c344e6894241"/>
    <p:sldId xmlns:r="http://schemas.openxmlformats.org/officeDocument/2006/relationships" id="270" r:id="R37fab2b5f5014856"/>
    <p:sldId xmlns:r="http://schemas.openxmlformats.org/officeDocument/2006/relationships" id="271" r:id="R27c522987f0e4589"/>
    <p:sldId xmlns:r="http://schemas.openxmlformats.org/officeDocument/2006/relationships" id="272" r:id="R4eb3131ab3c0459b"/>
    <p:sldId xmlns:r="http://schemas.openxmlformats.org/officeDocument/2006/relationships" id="273" r:id="R77d93b5453a44d5e"/>
    <p:sldId xmlns:r="http://schemas.openxmlformats.org/officeDocument/2006/relationships" id="274" r:id="Rfbba88a354e642c7"/>
    <p:sldId xmlns:r="http://schemas.openxmlformats.org/officeDocument/2006/relationships" id="275" r:id="R464a24b5bff4413e"/>
    <p:sldId xmlns:r="http://schemas.openxmlformats.org/officeDocument/2006/relationships" id="276" r:id="Rc21a8d4bca9945bc"/>
    <p:sldId xmlns:r="http://schemas.openxmlformats.org/officeDocument/2006/relationships" id="277" r:id="R17b56da990954c85"/>
    <p:sldId xmlns:r="http://schemas.openxmlformats.org/officeDocument/2006/relationships" id="278" r:id="Rfbab58b9015c46f6"/>
    <p:sldId xmlns:r="http://schemas.openxmlformats.org/officeDocument/2006/relationships" id="279" r:id="Rd80336f0152b41b6"/>
    <p:sldId xmlns:r="http://schemas.openxmlformats.org/officeDocument/2006/relationships" id="280" r:id="R71928714cedc464d"/>
    <p:sldId xmlns:r="http://schemas.openxmlformats.org/officeDocument/2006/relationships" id="281" r:id="Rded75d053d024973"/>
    <p:sldId xmlns:r="http://schemas.openxmlformats.org/officeDocument/2006/relationships" id="282" r:id="R7d459da06b034bde"/>
    <p:sldId xmlns:r="http://schemas.openxmlformats.org/officeDocument/2006/relationships" id="283" r:id="R50badb23b9a94447"/>
    <p:sldId xmlns:r="http://schemas.openxmlformats.org/officeDocument/2006/relationships" id="284" r:id="Rca603d89d2254cc5"/>
    <p:sldId xmlns:r="http://schemas.openxmlformats.org/officeDocument/2006/relationships" id="285" r:id="Rd38f8c37e31d4b90"/>
    <p:sldId xmlns:r="http://schemas.openxmlformats.org/officeDocument/2006/relationships" id="286" r:id="R827f487937874ffb"/>
    <p:sldId xmlns:r="http://schemas.openxmlformats.org/officeDocument/2006/relationships" id="287" r:id="R259a5813116146e7"/>
    <p:sldId xmlns:r="http://schemas.openxmlformats.org/officeDocument/2006/relationships" id="288" r:id="R5734d0a3fd8f4858"/>
    <p:sldId xmlns:r="http://schemas.openxmlformats.org/officeDocument/2006/relationships" id="289" r:id="Re174c81ecb754fbf"/>
    <p:sldId xmlns:r="http://schemas.openxmlformats.org/officeDocument/2006/relationships" id="290" r:id="Rf0faf2c29cd249f9"/>
    <p:sldId xmlns:r="http://schemas.openxmlformats.org/officeDocument/2006/relationships" id="291" r:id="R009cf35e8ec54df4"/>
    <p:sldId xmlns:r="http://schemas.openxmlformats.org/officeDocument/2006/relationships" id="292" r:id="R7279b7f1a22143c1"/>
    <p:sldId xmlns:r="http://schemas.openxmlformats.org/officeDocument/2006/relationships" id="293" r:id="R78e330797fd44795"/>
    <p:sldId xmlns:r="http://schemas.openxmlformats.org/officeDocument/2006/relationships" id="294" r:id="R1322006d2c324a2a"/>
    <p:sldId xmlns:r="http://schemas.openxmlformats.org/officeDocument/2006/relationships" id="295" r:id="R9b25912dbcde4735"/>
  </p:sldIdLst>
  <p:sldSz cx="12192000" cy="6858000"/>
  <p:notesSz cx="6858000" cy="9144000"/>
  <p:defaultTextStyle>
    <a:defPPr xmlns:a="http://schemas.openxmlformats.org/drawingml/2006/main">
      <a:defRPr lang="en-US"/>
    </a:defPPr>
    <a:lvl1pPr xmlns:a="http://schemas.openxmlformats.org/drawingml/2006/main" marL="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1pPr>
    <a:lvl2pPr xmlns:a="http://schemas.openxmlformats.org/drawingml/2006/main" marL="457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2pPr>
    <a:lvl3pPr xmlns:a="http://schemas.openxmlformats.org/drawingml/2006/main" marL="914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3pPr>
    <a:lvl4pPr xmlns:a="http://schemas.openxmlformats.org/drawingml/2006/main" marL="1371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4pPr>
    <a:lvl5pPr xmlns:a="http://schemas.openxmlformats.org/drawingml/2006/main" marL="18288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5pPr>
    <a:lvl6pPr xmlns:a="http://schemas.openxmlformats.org/drawingml/2006/main" marL="22860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6pPr>
    <a:lvl7pPr xmlns:a="http://schemas.openxmlformats.org/drawingml/2006/main" marL="27432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7pPr>
    <a:lvl8pPr xmlns:a="http://schemas.openxmlformats.org/drawingml/2006/main" marL="32004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8pPr>
    <a:lvl9pPr xmlns:a="http://schemas.openxmlformats.org/drawingml/2006/main" marL="3657600" indent="0" algn="l" defTabSz="914400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dd4babdddc8f4ccd" /><Relationship Type="http://schemas.openxmlformats.org/officeDocument/2006/relationships/slideMaster" Target="/ppt/slideMasters/slideMaster1.xml" Id="Rc36aad4dd86a4c8f" /><Relationship Type="http://schemas.openxmlformats.org/officeDocument/2006/relationships/notesMaster" Target="/ppt/notesMasters/notesMaster1.xml" Id="R1282fd808b804274" /><Relationship Type="http://schemas.openxmlformats.org/officeDocument/2006/relationships/presProps" Target="/ppt/presProps.xml" Id="Reb1cf81e323644e0" /><Relationship Type="http://schemas.openxmlformats.org/officeDocument/2006/relationships/tableStyles" Target="/ppt/tableStyles.xml" Id="R5b7c2aa3ba484a7e" /><Relationship Type="http://schemas.openxmlformats.org/officeDocument/2006/relationships/slide" Target="/ppt/slides/slide1.xml" Id="R3e33458ebee24f52" /><Relationship Type="http://schemas.openxmlformats.org/officeDocument/2006/relationships/slide" Target="/ppt/slides/slide2.xml" Id="Rfce4595ac8414d37" /><Relationship Type="http://schemas.openxmlformats.org/officeDocument/2006/relationships/slide" Target="/ppt/slides/slide3.xml" Id="R49f9948e63274bde" /><Relationship Type="http://schemas.openxmlformats.org/officeDocument/2006/relationships/slide" Target="/ppt/slides/slide4.xml" Id="Rbf90a442711b4b10" /><Relationship Type="http://schemas.openxmlformats.org/officeDocument/2006/relationships/slide" Target="/ppt/slides/slide5.xml" Id="R8037e0d347214d9b" /><Relationship Type="http://schemas.openxmlformats.org/officeDocument/2006/relationships/slide" Target="/ppt/slides/slide6.xml" Id="R0f4c76ce51fc4d2e" /><Relationship Type="http://schemas.openxmlformats.org/officeDocument/2006/relationships/slide" Target="/ppt/slides/slide7.xml" Id="Rfdf421823f67485a" /><Relationship Type="http://schemas.openxmlformats.org/officeDocument/2006/relationships/slide" Target="/ppt/slides/slide8.xml" Id="R7e440cced3764ff6" /><Relationship Type="http://schemas.openxmlformats.org/officeDocument/2006/relationships/slide" Target="/ppt/slides/slide9.xml" Id="R97139654f60647e9" /><Relationship Type="http://schemas.openxmlformats.org/officeDocument/2006/relationships/slide" Target="/ppt/slides/slide10.xml" Id="Rdec03b93b079427d" /><Relationship Type="http://schemas.openxmlformats.org/officeDocument/2006/relationships/slide" Target="/ppt/slides/slide11.xml" Id="R5d7990e3646f491a" /><Relationship Type="http://schemas.openxmlformats.org/officeDocument/2006/relationships/slide" Target="/ppt/slides/slide12.xml" Id="R9df3ec959ae8411c" /><Relationship Type="http://schemas.openxmlformats.org/officeDocument/2006/relationships/slide" Target="/ppt/slides/slide13.xml" Id="R414f64200b874bf3" /><Relationship Type="http://schemas.openxmlformats.org/officeDocument/2006/relationships/slide" Target="/ppt/slides/slide14.xml" Id="R3cf8c344e6894241" /><Relationship Type="http://schemas.openxmlformats.org/officeDocument/2006/relationships/slide" Target="/ppt/slides/slide15.xml" Id="R37fab2b5f5014856" /><Relationship Type="http://schemas.openxmlformats.org/officeDocument/2006/relationships/slide" Target="/ppt/slides/slide16.xml" Id="R27c522987f0e4589" /><Relationship Type="http://schemas.openxmlformats.org/officeDocument/2006/relationships/slide" Target="/ppt/slides/slide17.xml" Id="R4eb3131ab3c0459b" /><Relationship Type="http://schemas.openxmlformats.org/officeDocument/2006/relationships/slide" Target="/ppt/slides/slide18.xml" Id="R77d93b5453a44d5e" /><Relationship Type="http://schemas.openxmlformats.org/officeDocument/2006/relationships/slide" Target="/ppt/slides/slide19.xml" Id="Rfbba88a354e642c7" /><Relationship Type="http://schemas.openxmlformats.org/officeDocument/2006/relationships/slide" Target="/ppt/slides/slide20.xml" Id="R464a24b5bff4413e" /><Relationship Type="http://schemas.openxmlformats.org/officeDocument/2006/relationships/slide" Target="/ppt/slides/slide21.xml" Id="Rc21a8d4bca9945bc" /><Relationship Type="http://schemas.openxmlformats.org/officeDocument/2006/relationships/slide" Target="/ppt/slides/slide22.xml" Id="R17b56da990954c85" /><Relationship Type="http://schemas.openxmlformats.org/officeDocument/2006/relationships/slide" Target="/ppt/slides/slide23.xml" Id="Rfbab58b9015c46f6" /><Relationship Type="http://schemas.openxmlformats.org/officeDocument/2006/relationships/slide" Target="/ppt/slides/slide24.xml" Id="Rd80336f0152b41b6" /><Relationship Type="http://schemas.openxmlformats.org/officeDocument/2006/relationships/slide" Target="/ppt/slides/slide25.xml" Id="R71928714cedc464d" /><Relationship Type="http://schemas.openxmlformats.org/officeDocument/2006/relationships/slide" Target="/ppt/slides/slide26.xml" Id="Rded75d053d024973" /><Relationship Type="http://schemas.openxmlformats.org/officeDocument/2006/relationships/slide" Target="/ppt/slides/slide27.xml" Id="R7d459da06b034bde" /><Relationship Type="http://schemas.openxmlformats.org/officeDocument/2006/relationships/slide" Target="/ppt/slides/slide28.xml" Id="R50badb23b9a94447" /><Relationship Type="http://schemas.openxmlformats.org/officeDocument/2006/relationships/slide" Target="/ppt/slides/slide29.xml" Id="Rca603d89d2254cc5" /><Relationship Type="http://schemas.openxmlformats.org/officeDocument/2006/relationships/slide" Target="/ppt/slides/slide30.xml" Id="Rd38f8c37e31d4b90" /><Relationship Type="http://schemas.openxmlformats.org/officeDocument/2006/relationships/slide" Target="/ppt/slides/slide31.xml" Id="R827f487937874ffb" /><Relationship Type="http://schemas.openxmlformats.org/officeDocument/2006/relationships/slide" Target="/ppt/slides/slide32.xml" Id="R259a5813116146e7" /><Relationship Type="http://schemas.openxmlformats.org/officeDocument/2006/relationships/slide" Target="/ppt/slides/slide33.xml" Id="R5734d0a3fd8f4858" /><Relationship Type="http://schemas.openxmlformats.org/officeDocument/2006/relationships/slide" Target="/ppt/slides/slide34.xml" Id="Re174c81ecb754fbf" /><Relationship Type="http://schemas.openxmlformats.org/officeDocument/2006/relationships/slide" Target="/ppt/slides/slide35.xml" Id="Rf0faf2c29cd249f9" /><Relationship Type="http://schemas.openxmlformats.org/officeDocument/2006/relationships/slide" Target="/ppt/slides/slide36.xml" Id="R009cf35e8ec54df4" /><Relationship Type="http://schemas.openxmlformats.org/officeDocument/2006/relationships/slide" Target="/ppt/slides/slide37.xml" Id="R7279b7f1a22143c1" /><Relationship Type="http://schemas.openxmlformats.org/officeDocument/2006/relationships/slide" Target="/ppt/slides/slide38.xml" Id="R78e330797fd44795" /><Relationship Type="http://schemas.openxmlformats.org/officeDocument/2006/relationships/slide" Target="/ppt/slides/slide39.xml" Id="R1322006d2c324a2a" /><Relationship Type="http://schemas.openxmlformats.org/officeDocument/2006/relationships/slide" Target="/ppt/slides/slide40.xml" Id="R9b25912dbcde4735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8c26a2b43747427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75cc687f156b44f8" /><Relationship Type="http://schemas.openxmlformats.org/officeDocument/2006/relationships/notesMaster" Target="/ppt/notesMasters/notesMaster1.xml" Id="R70ad54d443ba488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732957c5daa1425e" /><Relationship Type="http://schemas.openxmlformats.org/officeDocument/2006/relationships/notesMaster" Target="/ppt/notesMasters/notesMaster1.xml" Id="Rd2ef394320e14e71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4891c2fb83a340aa" /><Relationship Type="http://schemas.openxmlformats.org/officeDocument/2006/relationships/notesMaster" Target="/ppt/notesMasters/notesMaster1.xml" Id="R8b0d2710c2cb49e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60e62116b5534433" /><Relationship Type="http://schemas.openxmlformats.org/officeDocument/2006/relationships/notesMaster" Target="/ppt/notesMasters/notesMaster1.xml" Id="R69a0dd81e1ef41d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2056d90e6c64d93" /><Relationship Type="http://schemas.openxmlformats.org/officeDocument/2006/relationships/notesMaster" Target="/ppt/notesMasters/notesMaster1.xml" Id="Rec1dc91ccc9f4905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3e7d6ac8ad442a0" /><Relationship Type="http://schemas.openxmlformats.org/officeDocument/2006/relationships/notesMaster" Target="/ppt/notesMasters/notesMaster1.xml" Id="R7f5a2ad7827e4608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88828e730394f5b" /><Relationship Type="http://schemas.openxmlformats.org/officeDocument/2006/relationships/notesMaster" Target="/ppt/notesMasters/notesMaster1.xml" Id="Ra7c51b9c80ef4b8e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63a17cbe90344f34" /><Relationship Type="http://schemas.openxmlformats.org/officeDocument/2006/relationships/notesMaster" Target="/ppt/notesMasters/notesMaster1.xml" Id="R8f1214201b64425b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fe68e6bca6cb41d4" /><Relationship Type="http://schemas.openxmlformats.org/officeDocument/2006/relationships/notesMaster" Target="/ppt/notesMasters/notesMaster1.xml" Id="Rde6b9340364a4ef5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2b76263c0a1b4a32" /><Relationship Type="http://schemas.openxmlformats.org/officeDocument/2006/relationships/notesMaster" Target="/ppt/notesMasters/notesMaster1.xml" Id="R003b46be8fbd4216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3539c030e6984849" /><Relationship Type="http://schemas.openxmlformats.org/officeDocument/2006/relationships/notesMaster" Target="/ppt/notesMasters/notesMaster1.xml" Id="Re05b09d1ed9b4bbb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f565275e52334271" /><Relationship Type="http://schemas.openxmlformats.org/officeDocument/2006/relationships/notesMaster" Target="/ppt/notesMasters/notesMaster1.xml" Id="Rd0ff9b47c36a4e7d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eb346c01a164127" /><Relationship Type="http://schemas.openxmlformats.org/officeDocument/2006/relationships/notesMaster" Target="/ppt/notesMasters/notesMaster1.xml" Id="R9196d25205d04ca4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0e2b0b1668074205" /><Relationship Type="http://schemas.openxmlformats.org/officeDocument/2006/relationships/notesMaster" Target="/ppt/notesMasters/notesMaster1.xml" Id="R58850c00d96e414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a865b12733e24bc4" /><Relationship Type="http://schemas.openxmlformats.org/officeDocument/2006/relationships/notesMaster" Target="/ppt/notesMasters/notesMaster1.xml" Id="R5ac9c92ff8974fcc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6698d9b2f66046bb" /><Relationship Type="http://schemas.openxmlformats.org/officeDocument/2006/relationships/notesMaster" Target="/ppt/notesMasters/notesMaster1.xml" Id="Rc0e0897b7d104da1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4e3d07c0315465c" /><Relationship Type="http://schemas.openxmlformats.org/officeDocument/2006/relationships/notesMaster" Target="/ppt/notesMasters/notesMaster1.xml" Id="Rc8a7947cad824c0a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96acc50256543be" /><Relationship Type="http://schemas.openxmlformats.org/officeDocument/2006/relationships/notesMaster" Target="/ppt/notesMasters/notesMaster1.xml" Id="Rd3d1d6fc8a4b4d4b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c07cf885c9114664" /><Relationship Type="http://schemas.openxmlformats.org/officeDocument/2006/relationships/notesMaster" Target="/ppt/notesMasters/notesMaster1.xml" Id="Rdbdb31d4adc04f6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e20f7f735b60415a" /><Relationship Type="http://schemas.openxmlformats.org/officeDocument/2006/relationships/notesMaster" Target="/ppt/notesMasters/notesMaster1.xml" Id="R3e040cfcc8504a5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60cb54843fdb4b4c" /><Relationship Type="http://schemas.openxmlformats.org/officeDocument/2006/relationships/notesMaster" Target="/ppt/notesMasters/notesMaster1.xml" Id="Rb0738c5996bf4dd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1ef4468f89d4486b" /><Relationship Type="http://schemas.openxmlformats.org/officeDocument/2006/relationships/notesMaster" Target="/ppt/notesMasters/notesMaster1.xml" Id="R3a3d940428544663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1a807eb54b974b38" /><Relationship Type="http://schemas.openxmlformats.org/officeDocument/2006/relationships/notesMaster" Target="/ppt/notesMasters/notesMaster1.xml" Id="R7692c2276a7241e2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c76b98eeed0f41d8" /><Relationship Type="http://schemas.openxmlformats.org/officeDocument/2006/relationships/notesMaster" Target="/ppt/notesMasters/notesMaster1.xml" Id="R9374118e29c441a6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657a43f8b52a42d5" /><Relationship Type="http://schemas.openxmlformats.org/officeDocument/2006/relationships/notesMaster" Target="/ppt/notesMasters/notesMaster1.xml" Id="R7c0f606c1fb64ae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0f6f22af24db439f" /><Relationship Type="http://schemas.openxmlformats.org/officeDocument/2006/relationships/notesMaster" Target="/ppt/notesMasters/notesMaster1.xml" Id="Rfabca687691540e8" /></Relationships>
</file>

<file path=ppt/notesSlides/_rels/notesSlide27.xml.rels>&#65279;<?xml version="1.0" encoding="utf-8"?><Relationships xmlns="http://schemas.openxmlformats.org/package/2006/relationships"><Relationship Type="http://schemas.openxmlformats.org/officeDocument/2006/relationships/slide" Target="/ppt/slides/slide27.xml" Id="Rb07bf8ac84814fa9" /><Relationship Type="http://schemas.openxmlformats.org/officeDocument/2006/relationships/notesMaster" Target="/ppt/notesMasters/notesMaster1.xml" Id="R4d7aad11bb194043" /></Relationships>
</file>

<file path=ppt/notesSlides/_rels/notesSlide28.xml.rels>&#65279;<?xml version="1.0" encoding="utf-8"?><Relationships xmlns="http://schemas.openxmlformats.org/package/2006/relationships"><Relationship Type="http://schemas.openxmlformats.org/officeDocument/2006/relationships/slide" Target="/ppt/slides/slide28.xml" Id="R4a81507be1d94d20" /><Relationship Type="http://schemas.openxmlformats.org/officeDocument/2006/relationships/notesMaster" Target="/ppt/notesMasters/notesMaster1.xml" Id="Re8b18870fe1740e0" /></Relationships>
</file>

<file path=ppt/notesSlides/_rels/notesSlide29.xml.rels>&#65279;<?xml version="1.0" encoding="utf-8"?><Relationships xmlns="http://schemas.openxmlformats.org/package/2006/relationships"><Relationship Type="http://schemas.openxmlformats.org/officeDocument/2006/relationships/slide" Target="/ppt/slides/slide29.xml" Id="Ree5a6e25aa7640ed" /><Relationship Type="http://schemas.openxmlformats.org/officeDocument/2006/relationships/notesMaster" Target="/ppt/notesMasters/notesMaster1.xml" Id="Rcf5ebcc4178f4311" /></Relationships>
</file>

<file path=ppt/notesSlides/_rels/notesSlide30.xml.rels>&#65279;<?xml version="1.0" encoding="utf-8"?><Relationships xmlns="http://schemas.openxmlformats.org/package/2006/relationships"><Relationship Type="http://schemas.openxmlformats.org/officeDocument/2006/relationships/slide" Target="/ppt/slides/slide30.xml" Id="R974b8b5fc68c4ac3" /><Relationship Type="http://schemas.openxmlformats.org/officeDocument/2006/relationships/notesMaster" Target="/ppt/notesMasters/notesMaster1.xml" Id="R902e65f86d8c4236" /></Relationships>
</file>

<file path=ppt/notesSlides/_rels/notesSlide31.xml.rels>&#65279;<?xml version="1.0" encoding="utf-8"?><Relationships xmlns="http://schemas.openxmlformats.org/package/2006/relationships"><Relationship Type="http://schemas.openxmlformats.org/officeDocument/2006/relationships/slide" Target="/ppt/slides/slide31.xml" Id="Rae4713307fd8448c" /><Relationship Type="http://schemas.openxmlformats.org/officeDocument/2006/relationships/notesMaster" Target="/ppt/notesMasters/notesMaster1.xml" Id="R8a7f31d5d4964812" /></Relationships>
</file>

<file path=ppt/notesSlides/_rels/notesSlide32.xml.rels>&#65279;<?xml version="1.0" encoding="utf-8"?><Relationships xmlns="http://schemas.openxmlformats.org/package/2006/relationships"><Relationship Type="http://schemas.openxmlformats.org/officeDocument/2006/relationships/slide" Target="/ppt/slides/slide32.xml" Id="R699e72690d734946" /><Relationship Type="http://schemas.openxmlformats.org/officeDocument/2006/relationships/notesMaster" Target="/ppt/notesMasters/notesMaster1.xml" Id="R6fde63747993484e" /></Relationships>
</file>

<file path=ppt/notesSlides/_rels/notesSlide33.xml.rels>&#65279;<?xml version="1.0" encoding="utf-8"?><Relationships xmlns="http://schemas.openxmlformats.org/package/2006/relationships"><Relationship Type="http://schemas.openxmlformats.org/officeDocument/2006/relationships/slide" Target="/ppt/slides/slide33.xml" Id="R920f853660cc4b85" /><Relationship Type="http://schemas.openxmlformats.org/officeDocument/2006/relationships/notesMaster" Target="/ppt/notesMasters/notesMaster1.xml" Id="R527a786876e047c6" /></Relationships>
</file>

<file path=ppt/notesSlides/_rels/notesSlide34.xml.rels>&#65279;<?xml version="1.0" encoding="utf-8"?><Relationships xmlns="http://schemas.openxmlformats.org/package/2006/relationships"><Relationship Type="http://schemas.openxmlformats.org/officeDocument/2006/relationships/slide" Target="/ppt/slides/slide34.xml" Id="Rd50bc2f77d4d4cbc" /><Relationship Type="http://schemas.openxmlformats.org/officeDocument/2006/relationships/notesMaster" Target="/ppt/notesMasters/notesMaster1.xml" Id="Rfd69bd21275c4ddc" /></Relationships>
</file>

<file path=ppt/notesSlides/_rels/notesSlide35.xml.rels>&#65279;<?xml version="1.0" encoding="utf-8"?><Relationships xmlns="http://schemas.openxmlformats.org/package/2006/relationships"><Relationship Type="http://schemas.openxmlformats.org/officeDocument/2006/relationships/slide" Target="/ppt/slides/slide35.xml" Id="R8d787f2a3e4e4e8e" /><Relationship Type="http://schemas.openxmlformats.org/officeDocument/2006/relationships/notesMaster" Target="/ppt/notesMasters/notesMaster1.xml" Id="Rce77c67d63b745ec" /></Relationships>
</file>

<file path=ppt/notesSlides/_rels/notesSlide36.xml.rels>&#65279;<?xml version="1.0" encoding="utf-8"?><Relationships xmlns="http://schemas.openxmlformats.org/package/2006/relationships"><Relationship Type="http://schemas.openxmlformats.org/officeDocument/2006/relationships/slide" Target="/ppt/slides/slide36.xml" Id="R59f5314ddf4c40c6" /><Relationship Type="http://schemas.openxmlformats.org/officeDocument/2006/relationships/notesMaster" Target="/ppt/notesMasters/notesMaster1.xml" Id="Rb5c9788b54ec46c0" /></Relationships>
</file>

<file path=ppt/notesSlides/_rels/notesSlide37.xml.rels>&#65279;<?xml version="1.0" encoding="utf-8"?><Relationships xmlns="http://schemas.openxmlformats.org/package/2006/relationships"><Relationship Type="http://schemas.openxmlformats.org/officeDocument/2006/relationships/slide" Target="/ppt/slides/slide37.xml" Id="R38621abe4ea944ac" /><Relationship Type="http://schemas.openxmlformats.org/officeDocument/2006/relationships/notesMaster" Target="/ppt/notesMasters/notesMaster1.xml" Id="R67f98799d58449af" /></Relationships>
</file>

<file path=ppt/notesSlides/_rels/notesSlide38.xml.rels>&#65279;<?xml version="1.0" encoding="utf-8"?><Relationships xmlns="http://schemas.openxmlformats.org/package/2006/relationships"><Relationship Type="http://schemas.openxmlformats.org/officeDocument/2006/relationships/slide" Target="/ppt/slides/slide38.xml" Id="R1c6e4ef566054ee7" /><Relationship Type="http://schemas.openxmlformats.org/officeDocument/2006/relationships/notesMaster" Target="/ppt/notesMasters/notesMaster1.xml" Id="R62410c7aa3084966" /></Relationships>
</file>

<file path=ppt/notesSlides/_rels/notesSlide39.xml.rels>&#65279;<?xml version="1.0" encoding="utf-8"?><Relationships xmlns="http://schemas.openxmlformats.org/package/2006/relationships"><Relationship Type="http://schemas.openxmlformats.org/officeDocument/2006/relationships/slide" Target="/ppt/slides/slide39.xml" Id="R22f033e5a1e04108" /><Relationship Type="http://schemas.openxmlformats.org/officeDocument/2006/relationships/notesMaster" Target="/ppt/notesMasters/notesMaster1.xml" Id="Ra577acf5f25f4e8b" /></Relationships>
</file>

<file path=ppt/notesSlides/_rels/notesSlide40.xml.rels>&#65279;<?xml version="1.0" encoding="utf-8"?><Relationships xmlns="http://schemas.openxmlformats.org/package/2006/relationships"><Relationship Type="http://schemas.openxmlformats.org/officeDocument/2006/relationships/slide" Target="/ppt/slides/slide40.xml" Id="R799b4f32c8024576" /><Relationship Type="http://schemas.openxmlformats.org/officeDocument/2006/relationships/notesMaster" Target="/ppt/notesMasters/notesMaster1.xml" Id="R28b549238b0f40db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Titel, Kunde, Datum und Trainer</a:t>
            </a:r>
          </a:p>
          <a:p xmlns:a="http://schemas.openxmlformats.org/drawingml/2006/main">
            <a:r>
              <a:t>Ziel: Veranstaltung und Verantwortliche eindeutig einordnen.</a:t>
            </a:r>
          </a:p>
          <a:p xmlns:a="http://schemas.openxmlformats.org/drawingml/2006/main">
            <a:r>
              <a:t>Kernaussage: Heute beginnt ein gemeinsamer, verantwortungsvoller Einstieg in generative KI.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Begrüßen Sie die Gruppe, nennen Sie Ihre Rolle und erklären Sie, dass das Training anwendbare Grundlagen vermittelt, aber keine Rechts-, Datenschutz-, Sicherheits- oder Toolfreigabe ersetzt.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Ruhige Titelfläche mit MyHiwi-Wortmarke und drei verbundenen Symbolen für Nutzen, Prüfung und Verantwortung.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Ergebnisversprechen der drei Stunden</a:t>
            </a:r>
          </a:p>
          <a:p xmlns:a="http://schemas.openxmlformats.org/drawingml/2006/main">
            <a:r>
              <a:t>Ziel: Ein klares und realistisches Lernziel setzen.</a:t>
            </a:r>
          </a:p>
          <a:p xmlns:a="http://schemas.openxmlformats.org/drawingml/2006/main">
            <a:r>
              <a:t>Kernaussage: Die Teilnehmenden lernen entscheiden, formulieren, einordnen, prüfen und eskalieren.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Sagen Sie ausdrücklich, dass Teilnahme kein bestimmtes individuelles Kompetenzniveau garantiert und kein Compliance-Nachweis 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Fünf Stationen eines übersichtlichen Wegs.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Agenda und Pausenzeit</a:t>
            </a:r>
          </a:p>
          <a:p xmlns:a="http://schemas.openxmlformats.org/drawingml/2006/main">
            <a:r>
              <a:t>Ziel: Orientierung über Lernphasen und Praxisanteile geben.</a:t>
            </a:r>
          </a:p>
          <a:p xmlns:a="http://schemas.openxmlformats.org/drawingml/2006/main">
            <a:r>
              <a:t>Kernaussage: Erklärung, Anwendung und Reflexion greifen ineinander.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Nennen Sie die vereinbarte Pausen- und Endzeit mündlich und erklären Sie, dass Fragen gesammelt oder direkt eingebunden werden.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Horizontale Lernreise mit acht Stationen und einer hervorgehobenen Pause.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Sicherer Arbeitsrahmen: keine sensiblen Live-Daten</a:t>
            </a:r>
          </a:p>
          <a:p xmlns:a="http://schemas.openxmlformats.org/drawingml/2006/main">
            <a:r>
              <a:t>Ziel: Vor der ersten Interaktion eine klare Datengrenze setzen.</a:t>
            </a:r>
          </a:p>
          <a:p xmlns:a="http://schemas.openxmlformats.org/drawingml/2006/main">
            <a:r>
              <a:t>Kernaussage: Geübt wird nur mit synthetischen oder robust anonymisierten Inhalten.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Rote Daten werden niemals live eingegeben. Gelbe Daten werden standardmäßig durch synthetische Inhalte ersetzt. Bei Unsicherheit wird gestoppt und die intern zuständige Stelle gefragt.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Geschützter Übungsraum mit Beispielkarten statt realer Dokumente.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Kurze Handzeichen-Abfrage zur bisherigen Nutzung</a:t>
            </a:r>
          </a:p>
          <a:p xmlns:a="http://schemas.openxmlformats.org/drawingml/2006/main">
            <a:r>
              <a:t>Ziel: Vorwissen sichtbar machen, ohne einzelne Personen zu bewerten.</a:t>
            </a:r>
          </a:p>
          <a:p xmlns:a="http://schemas.openxmlformats.org/drawingml/2006/main">
            <a:r>
              <a:t>Kernaussage: Unterschiedliche Erfahrung ist normal und wird im Training aufgefangen.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Fragen Sie nach Aufgabenarten, nicht nach vertraulichen Inhalten oder privaten Kontodetails. Betonen Sie, dass die Abfrage keine Leistungsbewertung ist.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Drei einfache Handzeichen-Symbole für nie, gelegentlich und regelmäßig.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Was mit „KI“ in dieser Schulung gemeint ist</a:t>
            </a:r>
          </a:p>
          <a:p xmlns:a="http://schemas.openxmlformats.org/drawingml/2006/main">
            <a:r>
              <a:t>Ziel: Den Gegenstand auf generative KI im Arbeitsalltag eingrenzen.</a:t>
            </a:r>
          </a:p>
          <a:p xmlns:a="http://schemas.openxmlformats.org/drawingml/2006/main">
            <a:r>
              <a:t>Kernaussage: Im Fokus stehen Werkzeuge, die aus Eingaben neue Texte, Bilder oder Strukturen erzeugen.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Grenzen Sie das Training von Entwicklung eigener KI-Systeme und automatisierten Hochrisikoentscheidungen ab.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Eingabe-Pfeil zu drei Ausgabekarten: Text, Bild, Struktur.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Generative KI, Suchmaschine und klassische Software</a:t>
            </a:r>
          </a:p>
          <a:p xmlns:a="http://schemas.openxmlformats.org/drawingml/2006/main">
            <a:r>
              <a:t>Ziel: Drei Werkzeugarten anhand ihres Verhaltens unterscheiden.</a:t>
            </a:r>
          </a:p>
          <a:p xmlns:a="http://schemas.openxmlformats.org/drawingml/2006/main">
            <a:r>
              <a:t>Kernaussage: Suchen, nach festen Regeln berechnen und neue Inhalte erzeugen sind verschiedene Funktionen.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Weisen Sie darauf hin, dass Anwendungen Funktionen kombinieren können; entscheidend ist, was im konkreten Nutzungsschritt passiert.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Drei Spalten mit Lupe, Zahnrad und Funken-Symbol.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Vereinfachtes Funktionsmodell eines Sprachmodells</a:t>
            </a:r>
          </a:p>
          <a:p xmlns:a="http://schemas.openxmlformats.org/drawingml/2006/main">
            <a:r>
              <a:t>Ziel: Plausible Ausgabe statt automatisch wahrer Antwort verständlich machen.</a:t>
            </a:r>
          </a:p>
          <a:p xmlns:a="http://schemas.openxmlformats.org/drawingml/2006/main">
            <a:r>
              <a:t>Kernaussage: Ein Sprachmodell erzeugt wahrscheinliche Fortsetzungen aus Eingabe und Kontext.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Verwenden Sie das Bild des leistungsfähigen Formulierungs- und Strukturierungsassistenten, nicht das einer automatisch aktuellen Faktendatenbank oder eines verantwortlichen Entscheiders.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Eingabe und Kontext fließen in ein Modell, daraus entsteht eine Ausgabe mit Prüfsymbol.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Modell, Anwendung, Kontotyp und Einstellungen unterscheiden</a:t>
            </a:r>
          </a:p>
          <a:p xmlns:a="http://schemas.openxmlformats.org/drawingml/2006/main">
            <a:r>
              <a:t>Ziel: Verwechslungen zwischen Technik und betrieblichem Zugang vermeiden.</a:t>
            </a:r>
          </a:p>
          <a:p xmlns:a="http://schemas.openxmlformats.org/drawingml/2006/main">
            <a:r>
              <a:t>Kernaussage: Dasselbe Modell kann je nach Anwendung, Konto und Einstellung anders eingebunden sein.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Ein bekannter Modellname sagt allein nichts über Unternehmensfreigabe, Vertrag, Datenverwendung, Speicherort oder Zugriffe aus.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Vier aufeinanderliegende Karten: Modell, Anwendung, Konto, Einstellungen.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Sechs typische Aufgabenarten im Arbeitsalltag</a:t>
            </a:r>
          </a:p>
          <a:p xmlns:a="http://schemas.openxmlformats.org/drawingml/2006/main">
            <a:r>
              <a:t>Ziel: Realistische Einstiegsanwendungen identifizieren.</a:t>
            </a:r>
          </a:p>
          <a:p xmlns:a="http://schemas.openxmlformats.org/drawingml/2006/main">
            <a:r>
              <a:t>Kernaussage: Generative KI unterstützt besonders beim Variieren, Strukturieren, Zusammenfassen, Entwerfen, Extrahieren und Vorbereiten.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Jede Aufgabe benötigt einen zulässigen Datenrahmen und eine fachliche Prüfung des Ergebnisses.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Sechs gleichwertige Aufgabenkarten.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Geeignete, kontrollbedürftige und ungeeignete Aufgaben</a:t>
            </a:r>
          </a:p>
          <a:p xmlns:a="http://schemas.openxmlformats.org/drawingml/2006/main">
            <a:r>
              <a:t>Ziel: Aufgaben anhand von Daten, Wirkung und Fehlerfolgen unterscheiden.</a:t>
            </a:r>
          </a:p>
          <a:p xmlns:a="http://schemas.openxmlformats.org/drawingml/2006/main">
            <a:r>
              <a:t>Kernaussage: Je sensibler die Daten und je größer die Wirkung, desto weniger eignet sich ein Fall für den Basisgebrauch.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Die Einstufung ist eine Lernhilfe. Konkrete interne Freigaben kommen von den zuständigen Personen des Unternehmens.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Drei Bahnen: geeignet, nur mit Kontrolle, nicht im Basistraining.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Überblick über typische Grenzen und Risiken</a:t>
            </a:r>
          </a:p>
          <a:p xmlns:a="http://schemas.openxmlformats.org/drawingml/2006/main">
            <a:r>
              <a:t>Ziel: Ein gemeinsames Risikovokabular schaffen.</a:t>
            </a:r>
          </a:p>
          <a:p xmlns:a="http://schemas.openxmlformats.org/drawingml/2006/main">
            <a:r>
              <a:t>Kernaussage: Gute Sprache kann Fakten-, Kontext-, Rechte- und Datenprobleme verdecken.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Ergänzen Sie bei vernetzten Systemen Prompt Injection und schädliche Inhalte als zusätzliche Risiken, ohne technische Spezialprüfung zu versprechen.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Warnrad mit vier Segmenten: Inhalt, Aktualität, Fairness, Daten &amp; Rechte.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Demonstration einer überzeugenden falschen Antwort</a:t>
            </a:r>
          </a:p>
          <a:p xmlns:a="http://schemas.openxmlformats.org/drawingml/2006/main">
            <a:r>
              <a:t>Ziel: Sprachliche Sicherheit von inhaltlicher Richtigkeit trennen.</a:t>
            </a:r>
          </a:p>
          <a:p xmlns:a="http://schemas.openxmlformats.org/drawingml/2006/main">
            <a:r>
              <a:t>Kernaussage: Eine flüssige Antwort kann erfundene Details enthalten.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Nutzen Sie ausschließlich ein vorbereitetes synthetisches Beispiel. Zeigen Sie zuerst die plausible Antwort und danach die überprüfbaren Fehler.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Glaubwürdig gestaltete Antwortkarte mit markierten erfundenen Stellen.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Aktualität, Quellen und erfundene Belege</a:t>
            </a:r>
          </a:p>
          <a:p xmlns:a="http://schemas.openxmlformats.org/drawingml/2006/main">
            <a:r>
              <a:t>Ziel: Quellenangaben als Prüfauftrag verstehen.</a:t>
            </a:r>
          </a:p>
          <a:p xmlns:a="http://schemas.openxmlformats.org/drawingml/2006/main">
            <a:r>
              <a:t>Kernaussage: Eine genannte Quelle ist noch kein belastbarer Beleg.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Lassen Sie Zahlen, Termine und Zitate stets mit belastbaren Originalquellen abgleichen; die KI-Ausgabe selbst ist kein Nachweis.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Quellenkarte mit Prüfschritten Existenz, Aussage, Datum und Kontext.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Verzerrungen, Stereotype und fehlender Kontext</a:t>
            </a:r>
          </a:p>
          <a:p xmlns:a="http://schemas.openxmlformats.org/drawingml/2006/main">
            <a:r>
              <a:t>Ziel: Einseitige oder diskriminierende Muster erkennen.</a:t>
            </a:r>
          </a:p>
          <a:p xmlns:a="http://schemas.openxmlformats.org/drawingml/2006/main">
            <a:r>
              <a:t>Kernaussage: Daten und Formulierung können Perspektiven ausblenden oder Stereotype verstärken.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Verwenden Sie ein neutrales synthetisches Beispiel. Betonen Sie, dass personenbezogene oder folgenreiche Bewertungen nicht als Praxisfall trainiert werden.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Zwei unvollständige Perspektiven, die erst gemeinsam ein vollständigeres Bild ergeben.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Rechte an Eingaben und Ausgaben</a:t>
            </a:r>
          </a:p>
          <a:p xmlns:a="http://schemas.openxmlformats.org/drawingml/2006/main">
            <a:r>
              <a:t>Ziel: Rechte und Nutzungsbefugnisse vor Eingabe und Weitergabe mitdenken.</a:t>
            </a:r>
          </a:p>
          <a:p xmlns:a="http://schemas.openxmlformats.org/drawingml/2006/main">
            <a:r>
              <a:t>Kernaussage: Verfügbar bedeutet nicht automatisch frei nutzbar.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Nennen Sie eigene, lizenzierte und fremde Inhalte als unterschiedliche Fälle. Verweisen Sie bei Unsicherheit an die zuständige interne Stelle; geben Sie keine rechtliche Einzelfallbewertung.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Zwei Prüftore vor Eingabe und Veröffentlichung.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Miniübung zur Einordnung von drei Aufgaben</a:t>
            </a:r>
          </a:p>
          <a:p xmlns:a="http://schemas.openxmlformats.org/drawingml/2006/main">
            <a:r>
              <a:t>Ziel: Geeignetheit anhand konkreter Merkmale entscheiden.</a:t>
            </a:r>
          </a:p>
          <a:p xmlns:a="http://schemas.openxmlformats.org/drawingml/2006/main">
            <a:r>
              <a:t>Kernaussage: Aufgabe, Daten, Wirkung und Freigabeweg bestimmen die Einordnung.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Nutzen Sie eine erfundene Agenda, einen externen Textentwurf und eine Beschäftigtenbewertung. Fragen Sie jeweils nach Daten, Fehlerwirkung und verantwortlicher Freigabe.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Drei synthetische Fallkarten mit drei Ablagefeldern.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Warum klare Prompts bessere Arbeitsgrundlagen schaffen</a:t>
            </a:r>
          </a:p>
          <a:p xmlns:a="http://schemas.openxmlformats.org/drawingml/2006/main">
            <a:r>
              <a:t>Ziel: Prompting als präzise Arbeitsauftragsklärung verstehen.</a:t>
            </a:r>
          </a:p>
          <a:p xmlns:a="http://schemas.openxmlformats.org/drawingml/2006/main">
            <a:r>
              <a:t>Kernaussage: Klare Ziele, Materialgrenzen und Prüfkriterien reduzieren Missverständnisse.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Gute Prompts garantieren keine richtige Ausgabe. Sie verbessern die Arbeitsgrundlage, ersetzen aber keine Prüfung.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Unscharfer Auftrag wird zu einer geordneten Aufgabenkarte.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Vorher-Nachher-Beispiel eines Prompts</a:t>
            </a:r>
          </a:p>
          <a:p xmlns:a="http://schemas.openxmlformats.org/drawingml/2006/main">
            <a:r>
              <a:t>Ziel: Die Wirkung präziser Anforderungen sichtbar machen.</a:t>
            </a:r>
          </a:p>
          <a:p xmlns:a="http://schemas.openxmlformats.org/drawingml/2006/main">
            <a:r>
              <a:t>Kernaussage: Ein vollständiger Arbeitsauftrag macht Ausgabe und Prüfung nachvollziehbarer.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Vergleichen Sie die synthetischen Ausgaben nicht nur stilistisch, sondern auch auf unbelegte Ergänzungen und offene Prüfpunkte.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Zwei Karten: „Mach eine E-Mail“ und strukturierter Auftrag.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Die sechs Bausteine der MyHiwi-Promptvorlage</a:t>
            </a:r>
          </a:p>
          <a:p xmlns:a="http://schemas.openxmlformats.org/drawingml/2006/main">
            <a:r>
              <a:t>Ziel: Das verbindliche Promptgerüst verankern.</a:t>
            </a:r>
          </a:p>
          <a:p xmlns:a="http://schemas.openxmlformats.org/drawingml/2006/main">
            <a:r>
              <a:t>Kernaussage: Ein prüfbarer Prompt verbindet Aufgabe, Kontext, Material, Anforderungen, Format und Prüfkriterien.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Betonen Sie bei „Material“ ausdrücklich: ausschließlich freigegebene Informationen. Unsicherheiten sollen markiert und Prüfpunkte genannt werden.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Sechs nummerierte Bausteine in einem stabilen Rahmen.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Basisübung: schlechten Prompt verbessern</a:t>
            </a:r>
          </a:p>
          <a:p xmlns:a="http://schemas.openxmlformats.org/drawingml/2006/main">
            <a:r>
              <a:t>Ziel: Die sechs Bausteine praktisch anwenden.</a:t>
            </a:r>
          </a:p>
          <a:p xmlns:a="http://schemas.openxmlformats.org/drawingml/2006/main">
            <a:r>
              <a:t>Kernaussage: Fehlende Angaben werden sichtbar gemacht und gezielt ergänzt.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Geben Sie nur den synthetischen Kundenfall aus dem Material frei. Lassen Sie Paare fehlende Informationen benennen, bevor sie formulieren.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Arbeitsblatt mit sechs leeren Feldern neben einem schwachen Beispielprompt.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Fortgeschritten: Ausgabe kritisieren und überarbeiten</a:t>
            </a:r>
          </a:p>
          <a:p xmlns:a="http://schemas.openxmlformats.org/drawingml/2006/main">
            <a:r>
              <a:t>Ziel: Iteration mit eigenständiger menschlicher Bewertung verbinden.</a:t>
            </a:r>
          </a:p>
          <a:p xmlns:a="http://schemas.openxmlformats.org/drawingml/2006/main">
            <a:r>
              <a:t>Kernaussage: Eine KI-Kritik ist ein zusätzlicher Hinweis, nicht die Freigabe.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Lassen Sie das Modell Unsicherheiten und fehlende Belege markieren. Die Teilnehmenden entscheiden selbst, welche Kritik zutrifft.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Kreislauf aus Entwurf, eigener Prüfung, Kritikauftrag und Überarbeitung.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Pause und Wiedereinstiegszeit</a:t>
            </a:r>
          </a:p>
          <a:p xmlns:a="http://schemas.openxmlformats.org/drawingml/2006/main">
            <a:r>
              <a:t>Ziel: Einen klaren Übergang zum Sicherheits- und Praxisblock schaffen.</a:t>
            </a:r>
          </a:p>
          <a:p xmlns:a="http://schemas.openxmlformats.org/drawingml/2006/main">
            <a:r>
              <a:t>Kernaussage: Nach der Pause folgen Datenampel, Verantwortung und Praxis.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Nennen Sie die konkrete Wiedereinstiegszeit mündlich und lassen Sie die Folie während der Pause sichtbar.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Ruhige Pausenkarte mit drei Symbolen für Ampel, Mensch und Werkstatt.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Verantwortung bleibt beim Menschen</a:t>
            </a:r>
          </a:p>
          <a:p xmlns:a="http://schemas.openxmlformats.org/drawingml/2006/main">
            <a:r>
              <a:t>Ziel: KI als Unterstützung statt verantwortlichen Entscheider einordnen.</a:t>
            </a:r>
          </a:p>
          <a:p xmlns:a="http://schemas.openxmlformats.org/drawingml/2006/main">
            <a:r>
              <a:t>Kernaussage: Menschen prüfen, entscheiden und geben frei.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Je größer die mögliche Wirkung eines Fehlers, desto stärker muss die menschliche Prüfung sein – bis hin zum vollständigen Verzicht auf KI.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Mensch am Freigabepunkt zwischen KI-Entwurf und Nutzung.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Quellen zur Orientierung (Stand 22.07.2026):</a:t>
            </a:r>
          </a:p>
          <a:p xmlns:a="http://schemas.openxmlformats.org/drawingml/2006/main">
            <a:r>
              <a:t>- https://eur-lex.europa.eu/eli/reg/2024/1689/</a:t>
            </a:r>
          </a:p>
          <a:p xmlns:a="http://schemas.openxmlformats.org/drawingml/2006/main">
            <a:r>
              <a:t>- https://digital-strategy.ec.europa.eu/en/faqs/ai-literacy-questions-answers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Nur freigegebene Werkzeuge und Konten</a:t>
            </a:r>
          </a:p>
          <a:p xmlns:a="http://schemas.openxmlformats.org/drawingml/2006/main">
            <a:r>
              <a:t>Ziel: Betriebliche Freigabe von persönlicher Verfügbarkeit trennen.</a:t>
            </a:r>
          </a:p>
          <a:p xmlns:a="http://schemas.openxmlformats.org/drawingml/2006/main">
            <a:r>
              <a:t>Kernaussage: Ein privater oder kostenloser Zugang ist nicht automatisch für Unternehmensdaten geeignet.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MyHiwi prüft oder genehmigt keinen konkreten Anbieter. Die benannte interne Stelle entscheidet über Werkzeug, Konto und zulässige Nutzung.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Persönliches Konto und freigegebenes Unternehmenskonto mit unterschiedlichem Status.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Quellen zur Orientierung (Stand 22.07.2026):</a:t>
            </a:r>
          </a:p>
          <a:p xmlns:a="http://schemas.openxmlformats.org/drawingml/2006/main">
            <a:r>
              <a:t>- https://eur-lex.europa.eu/eli/reg/2024/1689/</a:t>
            </a:r>
          </a:p>
          <a:p xmlns:a="http://schemas.openxmlformats.org/drawingml/2006/main">
            <a:r>
              <a:t>- https://digital-strategy.ec.europa.eu/en/faqs/ai-literacy-questions-answers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Die Datenampel im Überblick</a:t>
            </a:r>
          </a:p>
          <a:p xmlns:a="http://schemas.openxmlformats.org/drawingml/2006/main">
            <a:r>
              <a:t>Ziel: Vor jeder Eingabe eine einfache Stop-and-check-Routine etablieren.</a:t>
            </a:r>
          </a:p>
          <a:p xmlns:a="http://schemas.openxmlformats.org/drawingml/2006/main">
            <a:r>
              <a:t>Kernaussage: Grün nutzen, Gelb vorher klären, Rot im Basistraining niemals eingeben.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Die Datenampel ist eine Lern- und Entscheidungshilfe und ersetzt keine Tool-, Vertrags- oder Datenschutzprüfung.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Drei große Ampelfelder mit klaren Verben.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Grün: geeignete Beispieldaten</a:t>
            </a:r>
          </a:p>
          <a:p xmlns:a="http://schemas.openxmlformats.org/drawingml/2006/main">
            <a:r>
              <a:t>Ziel: Sichere Übungs- und Einstiegsmaterialien erkennen.</a:t>
            </a:r>
          </a:p>
          <a:p xmlns:a="http://schemas.openxmlformats.org/drawingml/2006/main">
            <a:r>
              <a:t>Kernaussage: Synthetische, veröffentlichte, ausdrücklich freigegebene oder robust anonymisierte Inhalte können grün sein.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Auch grüne Inhalte dürfen nur in genehmigten Werkzeugen und für legitime Zwecke genutzt werden.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Grüne Karten mit erfundener Notiz, öffentlicher Seite und anonymisiertem Beispiel.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Gelb: erst intern prüfen und freigeben</a:t>
            </a:r>
          </a:p>
          <a:p xmlns:a="http://schemas.openxmlformats.org/drawingml/2006/main">
            <a:r>
              <a:t>Ziel: „Vorsichtig eingeben“ durch einen echten Klärungsschritt ersetzen.</a:t>
            </a:r>
          </a:p>
          <a:p xmlns:a="http://schemas.openxmlformats.org/drawingml/2006/main">
            <a:r>
              <a:t>Kernaussage: Gelb bedeutet stoppen, Zuständigkeit und zulässige Umgebung klären.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Im Training werden gelbe Daten standardmäßig synthetisch ersetzt. Es reicht nicht, sie nur zu kürzen oder „vorsichtig“ einzugeben.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Gelbe Schranke vor einem internen Freigabepunkt.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Rot: im Basistraining niemals eingeben</a:t>
            </a:r>
          </a:p>
          <a:p xmlns:a="http://schemas.openxmlformats.org/drawingml/2006/main">
            <a:r>
              <a:t>Ziel: Harte Stoppsignale erkennen.</a:t>
            </a:r>
          </a:p>
          <a:p xmlns:a="http://schemas.openxmlformats.org/drawingml/2006/main">
            <a:r>
              <a:t>Kernaussage: Sicherheitsdaten, Geheimnisse und sensible Personeninformationen bleiben aus Live-Übungen heraus.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Ein spezialisiertes, geprüftes System kann andere Bedingungen haben; diese Prüfung und Freigabe ist nicht Teil des Basistrainings.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Rotes Stoppschild vor kategorisierten Datenkarten.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Besonders folgenreiche Anwendungsfälle erkennen</a:t>
            </a:r>
          </a:p>
          <a:p xmlns:a="http://schemas.openxmlformats.org/drawingml/2006/main">
            <a:r>
              <a:t>Ziel: Fälle mit erheblichen Auswirkungen früh stoppen.</a:t>
            </a:r>
          </a:p>
          <a:p xmlns:a="http://schemas.openxmlformats.org/drawingml/2006/main">
            <a:r>
              <a:t>Kernaussage: Entscheidungen über Menschen und sicherheitskritische Freigaben gehören nicht in die Basisübung.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Solche Fälle dürfen als Risikobeispiele vorkommen, werden aber nicht praktisch freigegeben. Fach-, Rechts-, Datenschutz- oder Sicherheitsstellen müssen übernehmen.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Stopppunkt vor Personal, Gesundheit, Finanzen und Sicherheit.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Quellen zur Orientierung (Stand 22.07.2026):</a:t>
            </a:r>
          </a:p>
          <a:p xmlns:a="http://schemas.openxmlformats.org/drawingml/2006/main">
            <a:r>
              <a:t>- https://eur-lex.europa.eu/eli/reg/2024/1689/</a:t>
            </a:r>
          </a:p>
          <a:p xmlns:a="http://schemas.openxmlformats.org/drawingml/2006/main">
            <a:r>
              <a:t>- https://digital-strategy.ec.europa.eu/en/faqs/ai-literacy-questions-answers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Menschliche Kontrolle und Freigabewege</a:t>
            </a:r>
          </a:p>
          <a:p xmlns:a="http://schemas.openxmlformats.org/drawingml/2006/main">
            <a:r>
              <a:t>Ziel: Zuständigkeit vom Entwurf bis zur Verwendung festlegen.</a:t>
            </a:r>
          </a:p>
          <a:p xmlns:a="http://schemas.openxmlformats.org/drawingml/2006/main">
            <a:r>
              <a:t>Kernaussage: Jede relevante Ausgabe braucht eine benannte prüfende und freigebende Rolle.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Verwenden Sie die tatsächlichen Rollen des Kunden nur, wenn sie im Vorgespräch bestätigt wurden; sonst bleiben Platzhalter stehen.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Rollenfluss von Ersteller über Fachprüfung zur Freigabe und Eskalation.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Fünf betriebliche Grundregeln</a:t>
            </a:r>
          </a:p>
          <a:p xmlns:a="http://schemas.openxmlformats.org/drawingml/2006/main">
            <a:r>
              <a:t>Ziel: Gemeinsame Mindestregeln handlungsnah zusammenfassen.</a:t>
            </a:r>
          </a:p>
          <a:p xmlns:a="http://schemas.openxmlformats.org/drawingml/2006/main">
            <a:r>
              <a:t>Kernaussage: Werkzeugfreigabe, Datenampel, Prüfung, menschliche Verantwortung und Eskalation gehören zusammen.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Kundenspezifische Werkzeuge und Ansprechpartner werden vom Unternehmen ergänzt, nicht von MyHiwi eigenständig festgelegt.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Fünf nummerierte Regelkarten.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Quellen zur Orientierung (Stand 22.07.2026):</a:t>
            </a:r>
          </a:p>
          <a:p xmlns:a="http://schemas.openxmlformats.org/drawingml/2006/main">
            <a:r>
              <a:t>- https://eur-lex.europa.eu/eli/reg/2024/1689/</a:t>
            </a:r>
          </a:p>
          <a:p xmlns:a="http://schemas.openxmlformats.org/drawingml/2006/main">
            <a:r>
              <a:t>- https://digital-strategy.ec.europa.eu/en/faqs/ai-literacy-questions-answers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Unternehmensbezogener Praxisfall und Ziel</a:t>
            </a:r>
          </a:p>
          <a:p xmlns:a="http://schemas.openxmlformats.org/drawingml/2006/main">
            <a:r>
              <a:t>Ziel: Einen vorbereiteten, sicheren Alltagsfall gemeinsam bearbeiten.</a:t>
            </a:r>
          </a:p>
          <a:p xmlns:a="http://schemas.openxmlformats.org/drawingml/2006/main">
            <a:r>
              <a:t>Kernaussage: Die Übung beginnt mit Ziel, Datenrahmen und gewünschtem Arbeitsergebnis.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Nutzen Sie einen vorab freigegebenen synthetischen Fall. Prüfen Sie vor Beginn erneut, dass keine realen roten oder gelben Kundendaten eingefügt wurden.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Synthetische Fallkarte mit Branche, Rolle, Ausgangslage und Ziel.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Schritt 1: Aufgabe und gewünschtes Ergebnis</a:t>
            </a:r>
          </a:p>
          <a:p xmlns:a="http://schemas.openxmlformats.org/drawingml/2006/main">
            <a:r>
              <a:t>Ziel: Problem, Zielgruppe und Nutzungszweck präzisieren.</a:t>
            </a:r>
          </a:p>
          <a:p xmlns:a="http://schemas.openxmlformats.org/drawingml/2006/main">
            <a:r>
              <a:t>Kernaussage: Erst das benötigte Ergebnis klären, dann das Werkzeug beauftragen.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Lassen Sie die Gruppe messbare Qualitätsmerkmale formulieren, ohne ein perfektes KI-Ergebnis vorauszusetzen.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Aufgabenkarte mit Feldern für Ergebnis, Zielgruppe und Zweck.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Schritt 2: Daten einordnen</a:t>
            </a:r>
          </a:p>
          <a:p xmlns:a="http://schemas.openxmlformats.org/drawingml/2006/main">
            <a:r>
              <a:t>Ziel: Material vor jeder Eingabe mit der Ampel bewerten.</a:t>
            </a:r>
          </a:p>
          <a:p xmlns:a="http://schemas.openxmlformats.org/drawingml/2006/main">
            <a:r>
              <a:t>Kernaussage: Nur freigegebenes grünes oder synthetisch ersetztes Material wird verwendet.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Fragen Sie nach Rückführbarkeit, Vertraulichkeit, Rechten und Werkzeugfreigabe. Im Zweifel wird nicht eingegeben.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Fallmaterial wird sichtbar durch die Ampel sortiert.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Schritt 3: Prompt formulieren</a:t>
            </a:r>
          </a:p>
          <a:p xmlns:a="http://schemas.openxmlformats.org/drawingml/2006/main">
            <a:r>
              <a:t>Ziel: Den Praxisauftrag mit allen sechs Bausteinen formulieren.</a:t>
            </a:r>
          </a:p>
          <a:p xmlns:a="http://schemas.openxmlformats.org/drawingml/2006/main">
            <a:r>
              <a:t>Kernaussage: Materialgrenze und Prüfkriterien gehören ausdrücklich in den Prompt.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Nutzen Sie die MyHiwi-Vorlage und lassen Sie Unsicherheiten sowie vor Verwendung zu prüfende Punkte ausdrücklich kennzeichnen.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Ausgefüllte sechs Bausteine fließen in einen Prompt.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Schritt 4: Beispielausgabe analysieren</a:t>
            </a:r>
          </a:p>
          <a:p xmlns:a="http://schemas.openxmlformats.org/drawingml/2006/main">
            <a:r>
              <a:t>Ziel: Ausgabe gemeinsam lesen, bevor sie verbessert oder genutzt wird.</a:t>
            </a:r>
          </a:p>
          <a:p xmlns:a="http://schemas.openxmlformats.org/drawingml/2006/main">
            <a:r>
              <a:t>Kernaussage: Zuerst Beobachtungen und Risiken markieren, dann überarbeiten.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Bei fehlendem Tool zeigen Sie die vorbereitete Offline-Ausgabe. Lassen Sie nie reale Kundendaten nachtragen, um das Beispiel „realistischer“ zu machen.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Synthetische Ausgabe mit Markierungen für gut, unklar und falsch.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Siebenstufige Prüfroutine und Verbesserung</a:t>
            </a:r>
          </a:p>
          <a:p xmlns:a="http://schemas.openxmlformats.org/drawingml/2006/main">
            <a:r>
              <a:t>Ziel: Eine reproduzierbare Prüfung vor Verwendung anwenden.</a:t>
            </a:r>
          </a:p>
          <a:p xmlns:a="http://schemas.openxmlformats.org/drawingml/2006/main">
            <a:r>
              <a:t>Kernaussage: Fakten, Quellen, Vollständigkeit, Verzerrung, Rechte und Daten, Ton und Wirkung sowie Verantwortung werden einzeln geprüft.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Die Routine endet mit einer menschlichen Entscheidung: verwenden, verbessern, verwerfen oder eskalieren.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Sieben Prüfschritte als vertikale Checkliste mit Freigabepunkt.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Zehnteiliger Lern- und Transfercheck</a:t>
            </a:r>
          </a:p>
          <a:p xmlns:a="http://schemas.openxmlformats.org/drawingml/2006/main">
            <a:r>
              <a:t>Ziel: Verständnis prüfen und offene Punkte unmittelbar klären.</a:t>
            </a:r>
          </a:p>
          <a:p xmlns:a="http://schemas.openxmlformats.org/drawingml/2006/main">
            <a:r>
              <a:t>Kernaussage: Der Check unterstützt Lernen und Transfer, nicht die Bewertung einzelner Beschäftigter.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Besprechen Sie falsche Antworten direkt. Sieben richtige Antworten sind intern ein Hinweis auf Basisverständnis, aber kein formaler Kompetenznachweis.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Zehn nummerierte Fragekarten mit Reflexionssymbol.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Thema: Ansprechpartner, nächste Schritte und Abschluss</a:t>
            </a:r>
          </a:p>
          <a:p xmlns:a="http://schemas.openxmlformats.org/drawingml/2006/main">
            <a:r>
              <a:t>Ziel: Verantwortliche und einen sicheren nächsten Anwendungsschritt festhalten.</a:t>
            </a:r>
          </a:p>
          <a:p xmlns:a="http://schemas.openxmlformats.org/drawingml/2006/main">
            <a:r>
              <a:t>Kernaussage: Der Transfer beginnt mit einem kleinen freigegebenen Fall und einem klaren Prüfweg.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Sprechhinweis: Schließen Sie mit einem persönlichen nächsten Fall pro Person, den fünf Regeln, dem Hinweis auf Unterlagen und der Management-Nachbesprechung. Die Teilnahmebestätigung dokumentiert Teilnahme, nicht Zertifizierung oder Compliance.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Moderation: Nutzen Sie die vorgesehene Bildidee als Gesprächsführung: Drei Felder zum Ausfüllen: nächster Fall, Prüfer, Eskalationsstelle.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c8242cc1d92f4f5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b7bc6579f521480a" /><Relationship Type="http://schemas.openxmlformats.org/officeDocument/2006/relationships/slideLayout" Target="/ppt/slideLayouts/slideLayout1.xml" Id="Raf97c611bfe64fac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af97c611bfe64fac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c0a0567e2a94585" /><Relationship Type="http://schemas.openxmlformats.org/officeDocument/2006/relationships/notesSlide" Target="/ppt/notesSlides/notesSlide1.xml" Id="R7503bce6dd644ec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70d3e5dba964f34" /><Relationship Type="http://schemas.openxmlformats.org/officeDocument/2006/relationships/image" Target="/ppt/media/image.png" Id="R41b04d27818c4c7f" /><Relationship Type="http://schemas.openxmlformats.org/officeDocument/2006/relationships/image" Target="/ppt/media/image2.png" Id="R1db88c456e404da6" /><Relationship Type="http://schemas.openxmlformats.org/officeDocument/2006/relationships/notesSlide" Target="/ppt/notesSlides/notesSlide2.xml" Id="Rc363997b36a94935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3fffe7909e94fa7" /><Relationship Type="http://schemas.openxmlformats.org/officeDocument/2006/relationships/image" Target="/ppt/media/image3.png" Id="R2ddf7c1477e245c7" /><Relationship Type="http://schemas.openxmlformats.org/officeDocument/2006/relationships/image" Target="/ppt/media/image4.png" Id="R8f42cd3b7d874be7" /><Relationship Type="http://schemas.openxmlformats.org/officeDocument/2006/relationships/notesSlide" Target="/ppt/notesSlides/notesSlide3.xml" Id="R8b4d6a1d8c284b85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9d2770a374e471d" /><Relationship Type="http://schemas.openxmlformats.org/officeDocument/2006/relationships/image" Target="/ppt/media/image5.png" Id="R3edd1542ef054474" /><Relationship Type="http://schemas.openxmlformats.org/officeDocument/2006/relationships/image" Target="/ppt/media/image6.png" Id="R08aef1d2743344a1" /><Relationship Type="http://schemas.openxmlformats.org/officeDocument/2006/relationships/notesSlide" Target="/ppt/notesSlides/notesSlide4.xml" Id="Rca8815bb695c449a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37ee6884170453f" /><Relationship Type="http://schemas.openxmlformats.org/officeDocument/2006/relationships/image" Target="/ppt/media/image7.png" Id="R2f0aa8e39126404c" /><Relationship Type="http://schemas.openxmlformats.org/officeDocument/2006/relationships/image" Target="/ppt/media/image8.png" Id="Rdff598ee077845fa" /><Relationship Type="http://schemas.openxmlformats.org/officeDocument/2006/relationships/notesSlide" Target="/ppt/notesSlides/notesSlide5.xml" Id="Ra4542058d36c426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999a2f4c5a462f" /><Relationship Type="http://schemas.openxmlformats.org/officeDocument/2006/relationships/image" Target="/ppt/media/image9.png" Id="Rad6a59ae16c54997" /><Relationship Type="http://schemas.openxmlformats.org/officeDocument/2006/relationships/image" Target="/ppt/media/image10.png" Id="R20d33bcafa574fea" /><Relationship Type="http://schemas.openxmlformats.org/officeDocument/2006/relationships/notesSlide" Target="/ppt/notesSlides/notesSlide6.xml" Id="R4f9eecb8da0a4610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962b3a5d994c6f" /><Relationship Type="http://schemas.openxmlformats.org/officeDocument/2006/relationships/image" Target="/ppt/media/image11.png" Id="R613b655e366d4fb8" /><Relationship Type="http://schemas.openxmlformats.org/officeDocument/2006/relationships/image" Target="/ppt/media/image12.png" Id="Rbf995e79ce824b85" /><Relationship Type="http://schemas.openxmlformats.org/officeDocument/2006/relationships/notesSlide" Target="/ppt/notesSlides/notesSlide7.xml" Id="R3e7753a147a240a2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b117feb9c304862" /><Relationship Type="http://schemas.openxmlformats.org/officeDocument/2006/relationships/image" Target="/ppt/media/image13.png" Id="R59bd3ff4693447f0" /><Relationship Type="http://schemas.openxmlformats.org/officeDocument/2006/relationships/image" Target="/ppt/media/image14.png" Id="Re7af129c9ce1423e" /><Relationship Type="http://schemas.openxmlformats.org/officeDocument/2006/relationships/notesSlide" Target="/ppt/notesSlides/notesSlide8.xml" Id="R7257b821fc1a470d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82d32a5c514057" /><Relationship Type="http://schemas.openxmlformats.org/officeDocument/2006/relationships/image" Target="/ppt/media/image15.png" Id="R444e9a1960014ec1" /><Relationship Type="http://schemas.openxmlformats.org/officeDocument/2006/relationships/image" Target="/ppt/media/image16.png" Id="R0e49eb58f234406f" /><Relationship Type="http://schemas.openxmlformats.org/officeDocument/2006/relationships/notesSlide" Target="/ppt/notesSlides/notesSlide9.xml" Id="R77b1de678db2402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9edf0fc0b00451c" /><Relationship Type="http://schemas.openxmlformats.org/officeDocument/2006/relationships/image" Target="/ppt/media/image17.png" Id="R7699bc2307b34251" /><Relationship Type="http://schemas.openxmlformats.org/officeDocument/2006/relationships/image" Target="/ppt/media/image18.png" Id="Re331466c89a04c40" /><Relationship Type="http://schemas.openxmlformats.org/officeDocument/2006/relationships/notesSlide" Target="/ppt/notesSlides/notesSlide10.xml" Id="Rceec8a2e7cae498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52b9e8597b894864" /><Relationship Type="http://schemas.openxmlformats.org/officeDocument/2006/relationships/image" Target="/ppt/media/image19.png" Id="R5d28182d213a4d88" /><Relationship Type="http://schemas.openxmlformats.org/officeDocument/2006/relationships/image" Target="/ppt/media/image20.png" Id="R94014b3fc68847fe" /><Relationship Type="http://schemas.openxmlformats.org/officeDocument/2006/relationships/notesSlide" Target="/ppt/notesSlides/notesSlide11.xml" Id="Rf524697588e74ec2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fb53ed9e854455" /><Relationship Type="http://schemas.openxmlformats.org/officeDocument/2006/relationships/image" Target="/ppt/media/image21.png" Id="R6571963bceae4de9" /><Relationship Type="http://schemas.openxmlformats.org/officeDocument/2006/relationships/image" Target="/ppt/media/image22.png" Id="R1405ce2a075e4b06" /><Relationship Type="http://schemas.openxmlformats.org/officeDocument/2006/relationships/notesSlide" Target="/ppt/notesSlides/notesSlide12.xml" Id="Rd9c10db9ca914a4a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ce5fcd604784413" /><Relationship Type="http://schemas.openxmlformats.org/officeDocument/2006/relationships/image" Target="/ppt/media/image23.png" Id="Rdb6d98cf3c7d4df7" /><Relationship Type="http://schemas.openxmlformats.org/officeDocument/2006/relationships/image" Target="/ppt/media/image24.png" Id="R2d2a3cbb24a8429c" /><Relationship Type="http://schemas.openxmlformats.org/officeDocument/2006/relationships/notesSlide" Target="/ppt/notesSlides/notesSlide13.xml" Id="R6cdc8047af2f4886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962797c36b9480f" /><Relationship Type="http://schemas.openxmlformats.org/officeDocument/2006/relationships/image" Target="/ppt/media/image25.png" Id="R158a2c8eecdc40c6" /><Relationship Type="http://schemas.openxmlformats.org/officeDocument/2006/relationships/image" Target="/ppt/media/image26.png" Id="Rb15d06b5078d4905" /><Relationship Type="http://schemas.openxmlformats.org/officeDocument/2006/relationships/notesSlide" Target="/ppt/notesSlides/notesSlide14.xml" Id="R2d6be729d3694173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b5f144aa423487e" /><Relationship Type="http://schemas.openxmlformats.org/officeDocument/2006/relationships/image" Target="/ppt/media/image27.png" Id="R619020d3e6de4c25" /><Relationship Type="http://schemas.openxmlformats.org/officeDocument/2006/relationships/image" Target="/ppt/media/image28.png" Id="Rc7c90036e97b438a" /><Relationship Type="http://schemas.openxmlformats.org/officeDocument/2006/relationships/notesSlide" Target="/ppt/notesSlides/notesSlide15.xml" Id="Rd847a501184f4297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9b6c63746c64c8c" /><Relationship Type="http://schemas.openxmlformats.org/officeDocument/2006/relationships/image" Target="/ppt/media/image29.png" Id="R2c77ad9db6a54a3a" /><Relationship Type="http://schemas.openxmlformats.org/officeDocument/2006/relationships/image" Target="/ppt/media/image30.png" Id="R5b608ec260df41b5" /><Relationship Type="http://schemas.openxmlformats.org/officeDocument/2006/relationships/notesSlide" Target="/ppt/notesSlides/notesSlide16.xml" Id="R208488610c304a2c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0d64ccd49b4933" /><Relationship Type="http://schemas.openxmlformats.org/officeDocument/2006/relationships/image" Target="/ppt/media/image31.png" Id="R87510fde589748df" /><Relationship Type="http://schemas.openxmlformats.org/officeDocument/2006/relationships/image" Target="/ppt/media/image32.png" Id="R63c90408d3d04ba5" /><Relationship Type="http://schemas.openxmlformats.org/officeDocument/2006/relationships/notesSlide" Target="/ppt/notesSlides/notesSlide17.xml" Id="Rb115a3fb77724dd0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3ca162a206e465d" /><Relationship Type="http://schemas.openxmlformats.org/officeDocument/2006/relationships/image" Target="/ppt/media/image33.png" Id="Rb2ce76c09b234699" /><Relationship Type="http://schemas.openxmlformats.org/officeDocument/2006/relationships/image" Target="/ppt/media/image34.png" Id="Rc39328418c34411f" /><Relationship Type="http://schemas.openxmlformats.org/officeDocument/2006/relationships/notesSlide" Target="/ppt/notesSlides/notesSlide18.xml" Id="R5e2a11d76e5546e6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e3fff0abdf4b71" /><Relationship Type="http://schemas.openxmlformats.org/officeDocument/2006/relationships/image" Target="/ppt/media/image35.png" Id="R1d6cfeaeebbb4eb6" /><Relationship Type="http://schemas.openxmlformats.org/officeDocument/2006/relationships/image" Target="/ppt/media/image36.png" Id="R62d81b8025be4970" /><Relationship Type="http://schemas.openxmlformats.org/officeDocument/2006/relationships/notesSlide" Target="/ppt/notesSlides/notesSlide19.xml" Id="R3c3d738986bc4d0a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e37cb58bc14a94" /><Relationship Type="http://schemas.openxmlformats.org/officeDocument/2006/relationships/image" Target="/ppt/media/image37.png" Id="R0e71ba301fa34e94" /><Relationship Type="http://schemas.openxmlformats.org/officeDocument/2006/relationships/image" Target="/ppt/media/image38.png" Id="R188b8eca4ba1473d" /><Relationship Type="http://schemas.openxmlformats.org/officeDocument/2006/relationships/notesSlide" Target="/ppt/notesSlides/notesSlide20.xml" Id="R0a533100e7d14263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2e55471fe524e89" /><Relationship Type="http://schemas.openxmlformats.org/officeDocument/2006/relationships/image" Target="/ppt/media/image39.png" Id="Rf5b825814fb745bb" /><Relationship Type="http://schemas.openxmlformats.org/officeDocument/2006/relationships/image" Target="/ppt/media/image40.png" Id="Re48a5eca360c40e2" /><Relationship Type="http://schemas.openxmlformats.org/officeDocument/2006/relationships/notesSlide" Target="/ppt/notesSlides/notesSlide21.xml" Id="Rccd239d6f620456c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ee6fec0f6814f92" /><Relationship Type="http://schemas.openxmlformats.org/officeDocument/2006/relationships/image" Target="/ppt/media/image41.png" Id="Rdc632cdbdeb34500" /><Relationship Type="http://schemas.openxmlformats.org/officeDocument/2006/relationships/image" Target="/ppt/media/image42.png" Id="R77c59082dbf34ac7" /><Relationship Type="http://schemas.openxmlformats.org/officeDocument/2006/relationships/notesSlide" Target="/ppt/notesSlides/notesSlide22.xml" Id="Rbe170f63a9354bad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10b09cada524cfe" /><Relationship Type="http://schemas.openxmlformats.org/officeDocument/2006/relationships/notesSlide" Target="/ppt/notesSlides/notesSlide23.xml" Id="Ra1018400fd03458a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f55c56099004a05" /><Relationship Type="http://schemas.openxmlformats.org/officeDocument/2006/relationships/image" Target="/ppt/media/image43.png" Id="R6e166425cb274e65" /><Relationship Type="http://schemas.openxmlformats.org/officeDocument/2006/relationships/image" Target="/ppt/media/image44.png" Id="R8c90a57095454b0f" /><Relationship Type="http://schemas.openxmlformats.org/officeDocument/2006/relationships/notesSlide" Target="/ppt/notesSlides/notesSlide24.xml" Id="R619e76c5e78243ad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381b91fb90749ed" /><Relationship Type="http://schemas.openxmlformats.org/officeDocument/2006/relationships/image" Target="/ppt/media/image45.png" Id="R2c938ce4638d4583" /><Relationship Type="http://schemas.openxmlformats.org/officeDocument/2006/relationships/image" Target="/ppt/media/image46.png" Id="R5a838229e3ea4ca1" /><Relationship Type="http://schemas.openxmlformats.org/officeDocument/2006/relationships/notesSlide" Target="/ppt/notesSlides/notesSlide25.xml" Id="R2c5fba6e0f2642b7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860509d69624f17" /><Relationship Type="http://schemas.openxmlformats.org/officeDocument/2006/relationships/image" Target="/ppt/media/image47.png" Id="Raa9550e4c7cd418c" /><Relationship Type="http://schemas.openxmlformats.org/officeDocument/2006/relationships/image" Target="/ppt/media/image48.png" Id="R66e1f7d398334723" /><Relationship Type="http://schemas.openxmlformats.org/officeDocument/2006/relationships/notesSlide" Target="/ppt/notesSlides/notesSlide26.xml" Id="R3c71a05510fe4597" /></Relationships>
</file>

<file path=ppt/slides/_rels/slide2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abc7a2342ef4afd" /><Relationship Type="http://schemas.openxmlformats.org/officeDocument/2006/relationships/image" Target="/ppt/media/image49.png" Id="Rf017de1eb1b14cab" /><Relationship Type="http://schemas.openxmlformats.org/officeDocument/2006/relationships/image" Target="/ppt/media/image50.png" Id="Rbcaea500182d441c" /><Relationship Type="http://schemas.openxmlformats.org/officeDocument/2006/relationships/notesSlide" Target="/ppt/notesSlides/notesSlide27.xml" Id="Re490f8c2b309426d" /></Relationships>
</file>

<file path=ppt/slides/_rels/slide2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6c1c40888dc40c0" /><Relationship Type="http://schemas.openxmlformats.org/officeDocument/2006/relationships/image" Target="/ppt/media/image51.png" Id="Rb12bef2422f2455f" /><Relationship Type="http://schemas.openxmlformats.org/officeDocument/2006/relationships/image" Target="/ppt/media/image52.png" Id="Rd3ace96eecc94fb9" /><Relationship Type="http://schemas.openxmlformats.org/officeDocument/2006/relationships/notesSlide" Target="/ppt/notesSlides/notesSlide28.xml" Id="Rb417c10efeb141e0" /></Relationships>
</file>

<file path=ppt/slides/_rels/slide2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10d81cc1d14de1" /><Relationship Type="http://schemas.openxmlformats.org/officeDocument/2006/relationships/image" Target="/ppt/media/image53.png" Id="R7eb8654aadb046ae" /><Relationship Type="http://schemas.openxmlformats.org/officeDocument/2006/relationships/image" Target="/ppt/media/image54.png" Id="R205b7a6f8047499d" /><Relationship Type="http://schemas.openxmlformats.org/officeDocument/2006/relationships/notesSlide" Target="/ppt/notesSlides/notesSlide29.xml" Id="R62979926f7af429f" /></Relationships>
</file>

<file path=ppt/slides/_rels/slide3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924af3f52024f8d" /><Relationship Type="http://schemas.openxmlformats.org/officeDocument/2006/relationships/image" Target="/ppt/media/image55.png" Id="R5f8adde17de54370" /><Relationship Type="http://schemas.openxmlformats.org/officeDocument/2006/relationships/image" Target="/ppt/media/image56.png" Id="R4e2753e0448041e6" /><Relationship Type="http://schemas.openxmlformats.org/officeDocument/2006/relationships/notesSlide" Target="/ppt/notesSlides/notesSlide30.xml" Id="R1bb0db1445074034" /></Relationships>
</file>

<file path=ppt/slides/_rels/slide3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de0448c45b04176" /><Relationship Type="http://schemas.openxmlformats.org/officeDocument/2006/relationships/image" Target="/ppt/media/image57.png" Id="R0c630884bbe04219" /><Relationship Type="http://schemas.openxmlformats.org/officeDocument/2006/relationships/image" Target="/ppt/media/image58.png" Id="R7c14eebbfef343d4" /><Relationship Type="http://schemas.openxmlformats.org/officeDocument/2006/relationships/notesSlide" Target="/ppt/notesSlides/notesSlide31.xml" Id="R3466336cf1594c5f" /></Relationships>
</file>

<file path=ppt/slides/_rels/slide3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44a8776a0714fcc" /><Relationship Type="http://schemas.openxmlformats.org/officeDocument/2006/relationships/image" Target="/ppt/media/image59.png" Id="R11330bd87b2043ce" /><Relationship Type="http://schemas.openxmlformats.org/officeDocument/2006/relationships/image" Target="/ppt/media/image60.png" Id="R054ab9ff5093485b" /><Relationship Type="http://schemas.openxmlformats.org/officeDocument/2006/relationships/notesSlide" Target="/ppt/notesSlides/notesSlide32.xml" Id="R0f5ac530a3b54375" /></Relationships>
</file>

<file path=ppt/slides/_rels/slide3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dc06c7ba76147e2" /><Relationship Type="http://schemas.openxmlformats.org/officeDocument/2006/relationships/image" Target="/ppt/media/image61.png" Id="R3369322367cf4afa" /><Relationship Type="http://schemas.openxmlformats.org/officeDocument/2006/relationships/image" Target="/ppt/media/image62.png" Id="R2cf4546477f543fb" /><Relationship Type="http://schemas.openxmlformats.org/officeDocument/2006/relationships/notesSlide" Target="/ppt/notesSlides/notesSlide33.xml" Id="R9157c1e0184a47fa" /></Relationships>
</file>

<file path=ppt/slides/_rels/slide3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baef9303477407f" /><Relationship Type="http://schemas.openxmlformats.org/officeDocument/2006/relationships/image" Target="/ppt/media/image63.png" Id="R1ba2b08880cc42f4" /><Relationship Type="http://schemas.openxmlformats.org/officeDocument/2006/relationships/image" Target="/ppt/media/image64.png" Id="R210f2b0e24eb471f" /><Relationship Type="http://schemas.openxmlformats.org/officeDocument/2006/relationships/notesSlide" Target="/ppt/notesSlides/notesSlide34.xml" Id="R81c618d32d0f48fd" /></Relationships>
</file>

<file path=ppt/slides/_rels/slide3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fc31744a87643a9" /><Relationship Type="http://schemas.openxmlformats.org/officeDocument/2006/relationships/image" Target="/ppt/media/image65.png" Id="Rc8bc7be7ab7c4510" /><Relationship Type="http://schemas.openxmlformats.org/officeDocument/2006/relationships/image" Target="/ppt/media/image66.png" Id="Rd3268c2a410f43c2" /><Relationship Type="http://schemas.openxmlformats.org/officeDocument/2006/relationships/notesSlide" Target="/ppt/notesSlides/notesSlide35.xml" Id="R1b5dbd12e81745d3" /></Relationships>
</file>

<file path=ppt/slides/_rels/slide3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e398d6e2269450c" /><Relationship Type="http://schemas.openxmlformats.org/officeDocument/2006/relationships/image" Target="/ppt/media/image67.png" Id="Re5301947fa2646c9" /><Relationship Type="http://schemas.openxmlformats.org/officeDocument/2006/relationships/image" Target="/ppt/media/image68.png" Id="R90b32fe42a9e4e70" /><Relationship Type="http://schemas.openxmlformats.org/officeDocument/2006/relationships/notesSlide" Target="/ppt/notesSlides/notesSlide36.xml" Id="Ra3571d2d7ee14f81" /></Relationships>
</file>

<file path=ppt/slides/_rels/slide3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7bc0b0aa9d4d09" /><Relationship Type="http://schemas.openxmlformats.org/officeDocument/2006/relationships/image" Target="/ppt/media/image69.png" Id="Rea36a8b70e534448" /><Relationship Type="http://schemas.openxmlformats.org/officeDocument/2006/relationships/image" Target="/ppt/media/image70.png" Id="R9ee9de6e3ff2483b" /><Relationship Type="http://schemas.openxmlformats.org/officeDocument/2006/relationships/notesSlide" Target="/ppt/notesSlides/notesSlide37.xml" Id="R982bced57cd54445" /></Relationships>
</file>

<file path=ppt/slides/_rels/slide3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271644dad4841c6" /><Relationship Type="http://schemas.openxmlformats.org/officeDocument/2006/relationships/image" Target="/ppt/media/image71.png" Id="R5a8dd95f06364f7b" /><Relationship Type="http://schemas.openxmlformats.org/officeDocument/2006/relationships/image" Target="/ppt/media/image72.png" Id="R65a19da756af4466" /><Relationship Type="http://schemas.openxmlformats.org/officeDocument/2006/relationships/notesSlide" Target="/ppt/notesSlides/notesSlide38.xml" Id="Rc9a5950477364d1b" /></Relationships>
</file>

<file path=ppt/slides/_rels/slide3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ee44c27e584b0f" /><Relationship Type="http://schemas.openxmlformats.org/officeDocument/2006/relationships/image" Target="/ppt/media/image73.png" Id="R0ceab68d2ac84232" /><Relationship Type="http://schemas.openxmlformats.org/officeDocument/2006/relationships/image" Target="/ppt/media/image74.png" Id="R0f178eba76fe47cf" /><Relationship Type="http://schemas.openxmlformats.org/officeDocument/2006/relationships/notesSlide" Target="/ppt/notesSlides/notesSlide39.xml" Id="Rafab139d72ad4b72" /></Relationships>
</file>

<file path=ppt/slides/_rels/slide4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c04f5a268ee49fa" /><Relationship Type="http://schemas.openxmlformats.org/officeDocument/2006/relationships/image" Target="/ppt/media/image75.png" Id="R1dc2181b541b43db" /><Relationship Type="http://schemas.openxmlformats.org/officeDocument/2006/relationships/image" Target="/ppt/media/image76.png" Id="R5fb59ececdc84880" /><Relationship Type="http://schemas.openxmlformats.org/officeDocument/2006/relationships/notesSlide" Target="/ppt/notesSlides/notesSlide40.xml" Id="R36c6ddd58c0c4aa7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68BCDF3-F174-4917-B46C-76750ECF86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24765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4DBF28-D725-4EEA-B692-7D13CE76F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34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MYHIWI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EA0899-B0BA-42CB-A277-25CF00AD5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485900"/>
            <a:ext cx="8763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1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51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AI-Startklar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54A0B62-D392-441E-820E-73AF786ED2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724150"/>
            <a:ext cx="8001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Die praxisnahe KI-Grundlagenschulung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43774F5-A57C-403F-B708-FB7BE15E10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3848100"/>
            <a:ext cx="10172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9C3B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67140B-71C6-4D25-9440-E06A051EEB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171950"/>
            <a:ext cx="1905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Kunde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B78DE67-BA98-4851-9FEB-BED6D1A6C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495800"/>
            <a:ext cx="3048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[Kunde]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F72526A-2F71-45A4-B549-15BBB6E97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1719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Datum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43665AF-2336-4F4E-A054-8966BCAB01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4495800"/>
            <a:ext cx="2286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[Datum]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4E77A16-82BD-49C2-8BEA-B2C0020055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17195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Trainer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BE0C3F-E337-492A-9FE7-A83CD59EF2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0" y="4495800"/>
            <a:ext cx="3619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[Trainer]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894C62-6A96-428E-815E-012145DEBB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6153150"/>
            <a:ext cx="342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90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90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v1.0 · Stand 22.07.2026</a:t>
            </a:r>
          </a:p>
        </p:txBody>
      </p:sp>
    </p:spTree>
    <p:extLst>
      <p:ext uri="{BB962C8B-B14F-4D97-AF65-F5344CB8AC3E}">
        <p14:creationId xmlns:p14="http://schemas.microsoft.com/office/powerpoint/2010/main" val="347156629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1b04d27818c4c7f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b88c456e404da6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2">
            <a:extLst xmlns:a="http://schemas.openxmlformats.org/drawingml/2006/main">
              <a:ext uri="{FF2B5EF4-FFF2-40B4-BE49-F238E27FC236}">
                <a16:creationId xmlns:a16="http://schemas.microsoft.com/office/drawing/2014/main" id="{6FC4F078-C148-4F72-B221-218D512CC5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Ergebnisversprechen der drei Stunden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D088B5-EA1F-4501-A2D1-800B5D5792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Die Teilnehmenden lernen entscheiden, formulieren, einordnen, prüfen und eskalieren.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D513F43-F4C2-41C0-9507-8965DFC8B3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Nach heute können Sie: passende Aufgaben erkennen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klare Prompts bauen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Daten einordnen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Ausgaben prüfen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Unsicherheit eskalieren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C54AADD-30A3-4BD8-9513-A8C657D1B9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5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590D88-2398-44DC-A950-13FB6DB887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Ein klares und realistisches Lernziel setzen.</a:t>
            </a:r>
          </a:p>
        </p:txBody>
      </p:sp>
    </p:spTree>
    <p:extLst>
      <p:ext uri="{BB962C8B-B14F-4D97-AF65-F5344CB8AC3E}">
        <p14:creationId xmlns:p14="http://schemas.microsoft.com/office/powerpoint/2010/main" val="139777388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df7c1477e245c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3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42cd3b7d874be7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">
            <a:extLst xmlns:a="http://schemas.openxmlformats.org/drawingml/2006/main">
              <a:ext uri="{FF2B5EF4-FFF2-40B4-BE49-F238E27FC236}">
                <a16:creationId xmlns:a16="http://schemas.microsoft.com/office/drawing/2014/main" id="{4EB1F350-A325-4819-9DA1-6E06B57A59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Agenda und Pausenzeit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60EFD8B-1A83-4ACC-9102-65EDC44FC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Erklärung, Anwendung und Reflexion greifen ineinander.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CCF47FE-0A62-4482-B8CB-0B29C30B21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1427B7-2AA0-40F7-B6CC-C3EF588597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72B617C-AE4D-42F4-A7CF-651C214155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5324475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Einstieg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ABD444D-B4A4-4ADB-B3E7-036B45AB86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BDC0876-3EBA-4E07-8AB9-286DC083AD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08610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2EEE729-95C9-4D10-91D0-0482F143C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200400"/>
            <a:ext cx="5324475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Grundlagen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9CE5F7B-0B69-42DF-A28D-47301AF16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662363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1B3F760-599C-4C64-B0A9-216075DB1D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24313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4C0163F-3754-4744-AA81-A2749918C3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38613"/>
            <a:ext cx="5324475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Chancen &amp; Grenzen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39F1F153-9CB3-4413-8E09-AC807071C4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662363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16ACAC1-3257-4582-80A2-4FC36BFED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024313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A2FF461-1C2D-4358-BB59-926B0FCE7B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138613"/>
            <a:ext cx="5324475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Prompts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C6C0F288-CDFE-4676-AB3D-054E8675D0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005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F6F0B0F-F9C7-4F0C-971E-C0786BBAD4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962525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73B8674-E97D-49BF-8C00-E3A970263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076825"/>
            <a:ext cx="5324475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Pause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E7C12DB-7104-4E25-B9ED-01DC3C831D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600575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329E5CF-B693-46C1-A660-1E41338CD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962525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A6839D26-3130-4FEF-9F71-6402E38A49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076825"/>
            <a:ext cx="5324475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sicherer Einsatz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DD4DC6-675F-40DE-9844-28996FB17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38788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07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8706848-6DE2-42D0-86A1-6C3BBA0AEB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0738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076E2B7-F73E-4020-9DA7-A7CE5B19E8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15038"/>
            <a:ext cx="5324475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Praxis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DFB80F30-F44B-4016-AABE-DABE1B8BB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538788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08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B1ADE12-C66C-4001-BCD7-ADD69440FC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900738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E088809D-8808-4F11-9D43-AF0CF0C87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6015038"/>
            <a:ext cx="5324475" cy="290513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Prüfung &amp; Transfer</a:t>
            </a:r>
          </a:p>
        </p:txBody>
      </p:sp>
    </p:spTree>
    <p:extLst>
      <p:ext uri="{BB962C8B-B14F-4D97-AF65-F5344CB8AC3E}">
        <p14:creationId xmlns:p14="http://schemas.microsoft.com/office/powerpoint/2010/main" val="491239104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1F2A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edd1542ef054474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8aef1d2743344a1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4">
            <a:extLst xmlns:a="http://schemas.openxmlformats.org/drawingml/2006/main">
              <a:ext uri="{FF2B5EF4-FFF2-40B4-BE49-F238E27FC236}">
                <a16:creationId xmlns:a16="http://schemas.microsoft.com/office/drawing/2014/main" id="{45CA3B8A-5CB0-4940-BFCA-9685E6C8C7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Sicher arbeiten: keine sensiblen Live-Daten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B25857-59AA-4400-8C2F-28472E342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Geübt wird nur mit synthetischen oder robust anonymisierten Inhalten.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482518-1B8A-4419-AF07-8DEFE0110C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Keine realen sensiblen Daten</a:t>
            </a:r>
          </a:p>
          <a:p xmlns:a="http://schemas.openxmlformats.org/drawingml/2006/main">
            <a:pPr algn="l"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keine Geheimnisse</a:t>
            </a:r>
          </a:p>
          <a:p xmlns:a="http://schemas.openxmlformats.org/drawingml/2006/main">
            <a:pPr algn="l"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keine Zugangsdaten</a:t>
            </a:r>
          </a:p>
          <a:p xmlns:a="http://schemas.openxmlformats.org/drawingml/2006/main">
            <a:pPr algn="l"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nur freigegebene Beispiele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04B46F5-14A2-4DE7-B7C2-F3CF6CD84B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246E4A5-27AA-42B9-A2D5-CA9C609C0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Vor der ersten Interaktion eine klare Datengrenze setzen.</a:t>
            </a:r>
          </a:p>
        </p:txBody>
      </p:sp>
    </p:spTree>
    <p:extLst>
      <p:ext uri="{BB962C8B-B14F-4D97-AF65-F5344CB8AC3E}">
        <p14:creationId xmlns:p14="http://schemas.microsoft.com/office/powerpoint/2010/main" val="966406429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0aa8e39126404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ff598ee077845fa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5">
            <a:extLst xmlns:a="http://schemas.openxmlformats.org/drawingml/2006/main">
              <a:ext uri="{FF2B5EF4-FFF2-40B4-BE49-F238E27FC236}">
                <a16:creationId xmlns:a16="http://schemas.microsoft.com/office/drawing/2014/main" id="{ADAB49F1-2B44-4B91-A9CD-8E40FFF2C5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Wie oft nutzen Sie generative KI?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B0EAC8-DFEF-441E-B5A5-FCC45C5410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14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1080D94-77BE-41AE-A6ED-ED173F58AF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ANWENDEN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EEBE099-C204-4E10-8E6C-1EE97B9C3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838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Unterschiedliche Erfahrung ist normal und wird im Training aufgefangen.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49A1A7-AAF7-486F-A3B7-5DF19D3E2B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14750"/>
            <a:ext cx="93345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Wer nutzt generative KI nie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gelegentlich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mindestens wöchentlich? Wofür?</a:t>
            </a:r>
          </a:p>
        </p:txBody>
      </p:sp>
    </p:spTree>
    <p:extLst>
      <p:ext uri="{BB962C8B-B14F-4D97-AF65-F5344CB8AC3E}">
        <p14:creationId xmlns:p14="http://schemas.microsoft.com/office/powerpoint/2010/main" val="633372114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d6a59ae16c5499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d33bcafa574fea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6">
            <a:extLst xmlns:a="http://schemas.openxmlformats.org/drawingml/2006/main">
              <a:ext uri="{FF2B5EF4-FFF2-40B4-BE49-F238E27FC236}">
                <a16:creationId xmlns:a16="http://schemas.microsoft.com/office/drawing/2014/main" id="{33022A09-7F7C-4CD4-B805-FE59460E6E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Was mit „KI“ in dieser Schulung gemeint ist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E3AB239-CC59-497A-90F5-E56AAED9E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Im Fokus stehen Werkzeuge, die aus Eingaben neue Texte, Bilder oder Strukturen erzeugen.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C94C8A2-8429-4BAE-A576-92580584B4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Fokus: generative KI für Entwürfe, Strukturierung und Unterstützung im Arbeitsalltag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77F101-FB84-4950-A7EC-6F030EE66B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5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ADA9714-F106-40CA-822D-FFD55EE5A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Den Gegenstand auf generative KI im Arbeitsalltag eingrenzen.</a:t>
            </a:r>
          </a:p>
        </p:txBody>
      </p:sp>
    </p:spTree>
    <p:extLst>
      <p:ext uri="{BB962C8B-B14F-4D97-AF65-F5344CB8AC3E}">
        <p14:creationId xmlns:p14="http://schemas.microsoft.com/office/powerpoint/2010/main" val="5498904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3b655e366d4fb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f995e79ce824b85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7">
            <a:extLst xmlns:a="http://schemas.openxmlformats.org/drawingml/2006/main">
              <a:ext uri="{FF2B5EF4-FFF2-40B4-BE49-F238E27FC236}">
                <a16:creationId xmlns:a16="http://schemas.microsoft.com/office/drawing/2014/main" id="{D1CB4C7D-D010-492A-BBDF-E202406C25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Drei Werkzeugarten unterscheiden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9883D18-B90E-468C-ADFC-A5E93A9F0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Suchen, nach festen Regeln berechnen und neue Inhalte erzeugen sind verschiedene Funktionen.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FEFEF94-C3B7-4628-B446-973BC9518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6C122C8-629F-4C0D-BE21-68558256A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344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3FA42C-C8ED-4EB6-86EF-E07C158C07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3441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Suchmaschine: findet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9351669-E672-4CF6-9C72-4FC5376635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63BE73E-2345-4215-B6A2-2D1673BE9D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3086100"/>
            <a:ext cx="344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3137CCB-1DA9-4256-9C0D-EB28CA139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3200400"/>
            <a:ext cx="3441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klassische Software: folgt Regeln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BAFD11B-F568-488F-9057-D5D3D1E7E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E1BE6A0-C39B-4C92-A82B-369D11A60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3086100"/>
            <a:ext cx="344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E907FD-2CAA-452C-AE02-E5C3087A0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3200400"/>
            <a:ext cx="3441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generative KI: erzeugt plausible Inhalte</a:t>
            </a:r>
          </a:p>
        </p:txBody>
      </p:sp>
    </p:spTree>
    <p:extLst>
      <p:ext uri="{BB962C8B-B14F-4D97-AF65-F5344CB8AC3E}">
        <p14:creationId xmlns:p14="http://schemas.microsoft.com/office/powerpoint/2010/main" val="289798828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6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9bd3ff4693447f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7af129c9ce1423e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8">
            <a:extLst xmlns:a="http://schemas.openxmlformats.org/drawingml/2006/main">
              <a:ext uri="{FF2B5EF4-FFF2-40B4-BE49-F238E27FC236}">
                <a16:creationId xmlns:a16="http://schemas.microsoft.com/office/drawing/2014/main" id="{38097DA9-E305-4DD0-8B02-519D42D23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So erzeugt ein Sprachmodell Antworten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559C06-A9E4-4AD9-86E8-B7A984440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Ein Sprachmodell erzeugt wahrscheinliche Fortsetzungen aus Eingabe und Kontext.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99C6B1E-4176-4B82-9A8B-9ADFE55797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3943350"/>
            <a:ext cx="476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4FC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853F2AA-5040-42E3-BB3E-1071A6625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14625" y="36385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F933B6A-206B-4582-B2C6-84D8D1622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943350"/>
            <a:ext cx="476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4FC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A3D276-9BB3-4E37-9234-2620C8CDBE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48375" y="36385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4B05E13-13D6-4548-A0AB-B43E162FD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3943350"/>
            <a:ext cx="47625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4FC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ABD83C2-B514-499C-94E6-2C00F3D8C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3638550"/>
            <a:ext cx="457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→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D357105-B2BC-41A1-8AA0-751E244E2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43250"/>
            <a:ext cx="20955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DE7DA"/>
          </a:solidFill>
          <a:ln xmlns:a="http://schemas.openxmlformats.org/drawingml/2006/main" w="9525">
            <a:solidFill>
              <a:srgbClr val="C9C3B7"/>
            </a:solidFill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Eingabe +</a:t>
            </a:r>
          </a:p>
          <a:p xmlns:a="http://schemas.openxmlformats.org/drawingml/2006/main">
            <a:pPr algn="ctr">
              <a:defRPr sz="24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Kontext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85FD929-3D92-4C03-B193-9192C1B976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81350" y="3143250"/>
            <a:ext cx="28575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DE7DA"/>
          </a:solidFill>
          <a:ln xmlns:a="http://schemas.openxmlformats.org/drawingml/2006/main" w="9525">
            <a:solidFill>
              <a:srgbClr val="C9C3B7"/>
            </a:solidFill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Wahrscheinliche</a:t>
            </a:r>
          </a:p>
          <a:p xmlns:a="http://schemas.openxmlformats.org/drawingml/2006/main">
            <a:pPr algn="ctr">
              <a:defRPr sz="24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Fortsetzung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5A3FCBA-DB3F-4630-832E-C8C4D06099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3143250"/>
            <a:ext cx="190500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EDE7DA"/>
          </a:solidFill>
          <a:ln xmlns:a="http://schemas.openxmlformats.org/drawingml/2006/main" w="9525">
            <a:solidFill>
              <a:srgbClr val="C9C3B7"/>
            </a:solidFill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Ausgabe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136D589-E8D9-4DC2-855E-AD2CC3D8A1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3143250"/>
            <a:ext cx="2381250" cy="1562100"/>
          </a:xfrm>
          <a:prstGeom xmlns:a="http://schemas.openxmlformats.org/drawingml/2006/main" prst="roundRect">
            <a:avLst>
              <a:gd name="adj" fmla="val 4878"/>
            </a:avLst>
          </a:prstGeom>
          <a:solidFill xmlns:a="http://schemas.openxmlformats.org/drawingml/2006/main">
            <a:srgbClr val="1F4FC9"/>
          </a:solidFill>
          <a:ln xmlns:a="http://schemas.openxmlformats.org/drawingml/2006/main" w="9525">
            <a:solidFill>
              <a:srgbClr val="1F4FC9"/>
            </a:solidFill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Menschliche</a:t>
            </a:r>
          </a:p>
          <a:p xmlns:a="http://schemas.openxmlformats.org/drawingml/2006/main">
            <a:pPr algn="ctr">
              <a:defRPr sz="240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240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Prüfung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3BC5371-40E9-489A-B0B7-52AF063CE6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76625" y="514350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Plausibel ist nicht automatisch wahr.</a:t>
            </a:r>
          </a:p>
        </p:txBody>
      </p:sp>
    </p:spTree>
    <p:extLst>
      <p:ext uri="{BB962C8B-B14F-4D97-AF65-F5344CB8AC3E}">
        <p14:creationId xmlns:p14="http://schemas.microsoft.com/office/powerpoint/2010/main" val="111441195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44e9a1960014ec1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49eb58f234406f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9">
            <a:extLst xmlns:a="http://schemas.openxmlformats.org/drawingml/2006/main">
              <a:ext uri="{FF2B5EF4-FFF2-40B4-BE49-F238E27FC236}">
                <a16:creationId xmlns:a16="http://schemas.microsoft.com/office/drawing/2014/main" id="{7CA94D4C-4BAB-4E7A-B49D-EB5CABD294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Modell, Anwendung, Konto und Einstellungen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C15878B-C1CC-4D02-818B-E6DB12FE32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Dasselbe Modell kann je nach Anwendung, Konto und Einstellung anders eingebunden sein.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1DDFEB1-02EF-4B5D-A8A0-5678710C7A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E22E6D7-11CA-4F22-99B9-348843EE3B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B0F960A-4E68-4842-B7C9-D3C636BD0C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Vier Fragen: Welches Modell? Welche Anwendung? Welches Konto? Welche Einstellungen?</a:t>
            </a:r>
          </a:p>
        </p:txBody>
      </p:sp>
    </p:spTree>
    <p:extLst>
      <p:ext uri="{BB962C8B-B14F-4D97-AF65-F5344CB8AC3E}">
        <p14:creationId xmlns:p14="http://schemas.microsoft.com/office/powerpoint/2010/main" val="1390456378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699bc2307b34251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31466c89a04c40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10">
            <a:extLst xmlns:a="http://schemas.openxmlformats.org/drawingml/2006/main">
              <a:ext uri="{FF2B5EF4-FFF2-40B4-BE49-F238E27FC236}">
                <a16:creationId xmlns:a16="http://schemas.microsoft.com/office/drawing/2014/main" id="{3467C8C2-A9A2-441A-9C46-03FEF0E619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Sechs typische Aufgabenarten im Arbeitsalltag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4E0E43A-3051-486B-A195-CC6D9396A0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Generative KI unterstützt besonders beim Variieren, Strukturieren, Zusammenfassen, Entwerfen, Extrahieren und Vorbereiten.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919AD5B-A4D8-4BC6-BA34-23F07B6B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BE18A3A-DCF5-47C9-9B33-67035F6B1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38BD94B-8436-4789-B356-D7EC296096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Ideen entwickeln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C69F615-5890-4DFB-B92D-02FEB31325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BD0614-71CD-4709-84CE-4E60F8EA13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08610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3384912D-1686-455E-A2BD-4A5B656453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20040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Texte strukturieren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47FBA9B-F578-40C4-AB29-E151D8AE4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51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07A73D-196B-4CCD-BE92-AFA00B410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705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244D47B-6925-4EA6-ABD6-6C3EFAC7C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135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freigegebenes Material zusammenfassen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2815F9F-1D85-4225-B822-A9982822D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9751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D4E51B-7CCE-4575-B576-8C44074247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33705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54618C3-324B-4DF4-92E4-B227EB99F4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45135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Entwürfe erstellen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32403DB3-48F8-4700-89E2-D0263424C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60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F697C88-F232-4586-A578-08BF08838F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800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04221FB-9765-441B-831B-9394FF23C7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0230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Informationen extrahieren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8FAA1AA-7FF3-44C9-A92E-097DE3BA7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2260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07F1F97-7D47-4220-9A55-68864DFCF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58800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9B8E827-023A-4A95-B42F-AD5B1A469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570230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Gespräche vorbereiten</a:t>
            </a:r>
          </a:p>
        </p:txBody>
      </p:sp>
    </p:spTree>
    <p:extLst>
      <p:ext uri="{BB962C8B-B14F-4D97-AF65-F5344CB8AC3E}">
        <p14:creationId xmlns:p14="http://schemas.microsoft.com/office/powerpoint/2010/main" val="21914250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d28182d213a4d8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4014b3fc68847fe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11">
            <a:extLst xmlns:a="http://schemas.openxmlformats.org/drawingml/2006/main">
              <a:ext uri="{FF2B5EF4-FFF2-40B4-BE49-F238E27FC236}">
                <a16:creationId xmlns:a16="http://schemas.microsoft.com/office/drawing/2014/main" id="{A92B7090-F5C5-4DB0-8CC7-557D7B9A0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Aufgaben nach Risiko einordnen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2131C4B-4943-42BC-9DCB-DD9A582B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Je sensibler die Daten und je größer die Wirkung, desto weniger eignet sich ein Fall für den Basisgebrauch.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039AA87-E4AB-4014-8A68-3EAE42731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75E2D56-885E-41E8-9386-B9CDA0B53D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344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F87DCF0-0024-4BF1-9DBC-DB33D7F4A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3441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Geeignet: synthetischer Entwurf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CD5E777-493D-4EAF-992C-7DA12D6A4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4D4AC4A-7190-4F2A-A186-460F6A331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3086100"/>
            <a:ext cx="344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9F88B4-C1D9-49AF-88C8-A4EE1879D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75150" y="3200400"/>
            <a:ext cx="3441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Kontrolle nötig: externe Kommunikation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5167F6E-7B1F-4D86-ACD1-2CEB01526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FAAD35-3646-4AFD-8843-384BF83FF8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3086100"/>
            <a:ext cx="34417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304F95A-951A-4A9C-98A4-E4C27A8232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40700" y="3200400"/>
            <a:ext cx="34417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nicht im Basistraining: folgenreiche Personenentscheidung</a:t>
            </a:r>
          </a:p>
        </p:txBody>
      </p:sp>
    </p:spTree>
    <p:extLst>
      <p:ext uri="{BB962C8B-B14F-4D97-AF65-F5344CB8AC3E}">
        <p14:creationId xmlns:p14="http://schemas.microsoft.com/office/powerpoint/2010/main" val="1719710863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1F2A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71963bceae4de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405ce2a075e4b06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12">
            <a:extLst xmlns:a="http://schemas.openxmlformats.org/drawingml/2006/main">
              <a:ext uri="{FF2B5EF4-FFF2-40B4-BE49-F238E27FC236}">
                <a16:creationId xmlns:a16="http://schemas.microsoft.com/office/drawing/2014/main" id="{C8C72BCE-3A7B-4B65-97EA-9E5CB3D9E3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Überblick über typische Grenzen und Risiken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96C434-5C7B-4ABC-971D-94741962C3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Gute Sprache kann Fakten-, Kontext-, Rechte- und Datenprobleme verdecken.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1B1170-7A6B-4E12-B768-1377FC066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Faktenfehler</a:t>
            </a:r>
          </a:p>
          <a:p xmlns:a="http://schemas.openxmlformats.org/drawingml/2006/main">
            <a:pPr algn="l"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veraltete Inhalte</a:t>
            </a:r>
          </a:p>
          <a:p xmlns:a="http://schemas.openxmlformats.org/drawingml/2006/main">
            <a:pPr algn="l"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falsche Quellen</a:t>
            </a:r>
          </a:p>
          <a:p xmlns:a="http://schemas.openxmlformats.org/drawingml/2006/main">
            <a:pPr algn="l"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fehlender Kontext</a:t>
            </a:r>
          </a:p>
          <a:p xmlns:a="http://schemas.openxmlformats.org/drawingml/2006/main">
            <a:pPr algn="l"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Verzerrungen</a:t>
            </a:r>
          </a:p>
          <a:p xmlns:a="http://schemas.openxmlformats.org/drawingml/2006/main">
            <a:pPr algn="l"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Daten- und Rechteprobleme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188676E-AB96-40EA-91CC-B0276D1B58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1F562A-ABC3-49F7-AB26-83093BF9E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Ein gemeinsames Risikovokabular schaffen.</a:t>
            </a:r>
          </a:p>
        </p:txBody>
      </p:sp>
    </p:spTree>
    <p:extLst>
      <p:ext uri="{BB962C8B-B14F-4D97-AF65-F5344CB8AC3E}">
        <p14:creationId xmlns:p14="http://schemas.microsoft.com/office/powerpoint/2010/main" val="118194130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b6d98cf3c7d4df7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d2a3cbb24a8429c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13">
            <a:extLst xmlns:a="http://schemas.openxmlformats.org/drawingml/2006/main">
              <a:ext uri="{FF2B5EF4-FFF2-40B4-BE49-F238E27FC236}">
                <a16:creationId xmlns:a16="http://schemas.microsoft.com/office/drawing/2014/main" id="{5AE7A307-AFCF-4FEA-8EA5-82F6D46D5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Eine überzeugende Antwort kann falsch sein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8BFE44F-C014-4AD7-81D0-34C07F3B20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Eine flüssige Antwort kann erfundene Details enthalten.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59533E-5F34-4770-8711-CD1D418E0D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Klingt sicher. Ist es richtig? Markieren Sie Fakten, Annahmen und offene Punkte.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9419BB-F9ED-4CF7-97CB-CEAEA50CF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5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59D3746-518F-4AB1-8EEA-02F3497DDD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Sprachliche Sicherheit von inhaltlicher Richtigkeit trennen.</a:t>
            </a:r>
          </a:p>
        </p:txBody>
      </p:sp>
    </p:spTree>
    <p:extLst>
      <p:ext uri="{BB962C8B-B14F-4D97-AF65-F5344CB8AC3E}">
        <p14:creationId xmlns:p14="http://schemas.microsoft.com/office/powerpoint/2010/main" val="1284371424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58a2c8eecdc40c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5d06b5078d4905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14">
            <a:extLst xmlns:a="http://schemas.openxmlformats.org/drawingml/2006/main">
              <a:ext uri="{FF2B5EF4-FFF2-40B4-BE49-F238E27FC236}">
                <a16:creationId xmlns:a16="http://schemas.microsoft.com/office/drawing/2014/main" id="{8D900F37-1B83-4B2C-A7BC-F51DEE7DF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Aktualität, Quellen und erfundene Belege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4234411-CE98-4A37-B487-D8B7AA033E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Eine genannte Quelle ist noch kein belastbarer Beleg.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10A9B78-C047-4CC8-AB57-7B003923D0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200635C-C763-4D59-8D0D-84D184A67F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24F985E-1B72-4818-B9EC-3F1F39081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Quelle prüfen: Existiert sie? Belegt sie die Aussage? Ist sie aktuell? Passt der Kontext?</a:t>
            </a:r>
          </a:p>
        </p:txBody>
      </p:sp>
    </p:spTree>
    <p:extLst>
      <p:ext uri="{BB962C8B-B14F-4D97-AF65-F5344CB8AC3E}">
        <p14:creationId xmlns:p14="http://schemas.microsoft.com/office/powerpoint/2010/main" val="1959491547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19020d3e6de4c25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7c90036e97b438a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15">
            <a:extLst xmlns:a="http://schemas.openxmlformats.org/drawingml/2006/main">
              <a:ext uri="{FF2B5EF4-FFF2-40B4-BE49-F238E27FC236}">
                <a16:creationId xmlns:a16="http://schemas.microsoft.com/office/drawing/2014/main" id="{250D9106-4421-4276-9589-DECC62DD3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Verzerrungen, Stereotype und fehlender Kontext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F621252-62A7-4F0A-8342-90A988A5DB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Daten und Formulierung können Perspektiven ausblenden oder Stereotype verstärken.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AF38B3F-91EC-416C-A870-8F85C83F49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ED7F00-E2D1-4C77-A32E-1ED188F36E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DDBFFD3-0F7C-4164-BEED-E29054A6B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Fragen Sie: Wer fehlt? Welche Annahme steckt darin? Wen könnte die Ausgabe benachteiligen?</a:t>
            </a:r>
          </a:p>
        </p:txBody>
      </p:sp>
    </p:spTree>
    <p:extLst>
      <p:ext uri="{BB962C8B-B14F-4D97-AF65-F5344CB8AC3E}">
        <p14:creationId xmlns:p14="http://schemas.microsoft.com/office/powerpoint/2010/main" val="1410030662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1F2A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77ad9db6a54a3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b608ec260df41b5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16">
            <a:extLst xmlns:a="http://schemas.openxmlformats.org/drawingml/2006/main">
              <a:ext uri="{FF2B5EF4-FFF2-40B4-BE49-F238E27FC236}">
                <a16:creationId xmlns:a16="http://schemas.microsoft.com/office/drawing/2014/main" id="{E0EC9C80-3F86-49B2-A20E-E5A8100A1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Rechte an Eingaben und Ausgaben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42F9575-808A-4DA3-B501-E9B97D09F0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Verfügbar bedeutet nicht automatisch frei nutzbar.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8737C63-0A23-4A5A-9BF8-DA39C552F2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Vorher prüfen: Darf ich es eingeben? Nachher prüfen: Darf und soll ich es verwenden?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321AF8C-47FB-43B7-877B-C6899C9B9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CDCC771-3E15-435E-BC31-00EFC859B9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Rechte vor Eingabe und Weitergabe mitdenken.</a:t>
            </a:r>
          </a:p>
        </p:txBody>
      </p:sp>
    </p:spTree>
    <p:extLst>
      <p:ext uri="{BB962C8B-B14F-4D97-AF65-F5344CB8AC3E}">
        <p14:creationId xmlns:p14="http://schemas.microsoft.com/office/powerpoint/2010/main" val="82602299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510fde589748df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3c90408d3d04ba5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17">
            <a:extLst xmlns:a="http://schemas.openxmlformats.org/drawingml/2006/main">
              <a:ext uri="{FF2B5EF4-FFF2-40B4-BE49-F238E27FC236}">
                <a16:creationId xmlns:a16="http://schemas.microsoft.com/office/drawing/2014/main" id="{08B933E4-8E1D-4519-826D-986181C4E6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Miniübung zur Einordnung von drei Aufgaben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60CE8D3-35E9-4DDE-AFA4-4B33426774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14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682F99-DEC8-4A04-A0EB-B8DE5241C8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ANWENDEN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B41483B-0C19-49FF-9338-2C4548825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838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Aufgabe, Daten, Wirkung und Freigabeweg bestimmen die Einordnung.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88432D-F7E4-42C9-8C5C-C92D725A47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14750"/>
            <a:ext cx="93345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Einordnen: geeignet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nur mit Kontrolle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nicht im Basistraining — und Entscheidung begründen</a:t>
            </a:r>
          </a:p>
        </p:txBody>
      </p:sp>
    </p:spTree>
    <p:extLst>
      <p:ext uri="{BB962C8B-B14F-4D97-AF65-F5344CB8AC3E}">
        <p14:creationId xmlns:p14="http://schemas.microsoft.com/office/powerpoint/2010/main" val="914182113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2ce76c09b23469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39328418c34411f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18">
            <a:extLst xmlns:a="http://schemas.openxmlformats.org/drawingml/2006/main">
              <a:ext uri="{FF2B5EF4-FFF2-40B4-BE49-F238E27FC236}">
                <a16:creationId xmlns:a16="http://schemas.microsoft.com/office/drawing/2014/main" id="{F2C1140D-B70F-4F82-B487-B64C6BC5C9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Klare Prompts schaffen bessere Arbeitsgrundlagen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4E5BCF-0447-46A6-B522-8404743084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Klare Ziele, Materialgrenzen und Prüfkriterien reduzieren Missverständnisse.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2D18ED0-3C8D-4B11-82FF-C4BAFC6475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0836440-558B-45B1-A5C4-FBEBDEBD98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18376B9-BE3F-4A26-8A80-13D4AE61AC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Klarer Auftrag → passenderer Entwurf → leichter prüfbares Ergebnis</a:t>
            </a:r>
          </a:p>
        </p:txBody>
      </p:sp>
    </p:spTree>
    <p:extLst>
      <p:ext uri="{BB962C8B-B14F-4D97-AF65-F5344CB8AC3E}">
        <p14:creationId xmlns:p14="http://schemas.microsoft.com/office/powerpoint/2010/main" val="1081588870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6cfeaeebbb4eb6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2d81b8025be4970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19">
            <a:extLst xmlns:a="http://schemas.openxmlformats.org/drawingml/2006/main">
              <a:ext uri="{FF2B5EF4-FFF2-40B4-BE49-F238E27FC236}">
                <a16:creationId xmlns:a16="http://schemas.microsoft.com/office/drawing/2014/main" id="{480A3A65-EDE8-4A9A-ABDE-85AD7DB497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Vorher-Nachher-Beispiel eines Prompts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A16D2E5-F966-478C-A664-B40DC90B0A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Ein vollständiger Arbeitsauftrag macht Ausgabe und Prüfung nachvollziehbarer.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CB0252D-345E-455F-B006-CA581F9158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5212BF0-ABF7-4D9F-A5C8-FC9AAC0AB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475FB98-BCF3-4FB3-92ED-66AA628D3D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53244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Vorher: „Mach eine E-Mail.“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678EC1B-0203-41A5-A788-63BAF3655A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3A71164-50E4-4251-B3B6-B292EF8CAC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08610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59B6229-7282-441F-97F3-06E7D3C5AC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200400"/>
            <a:ext cx="5324475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Nachher: Ziel, Zielgruppe, freigegebenes Material, Ton, Format und Prüfpunkte</a:t>
            </a:r>
          </a:p>
        </p:txBody>
      </p:sp>
    </p:spTree>
    <p:extLst>
      <p:ext uri="{BB962C8B-B14F-4D97-AF65-F5344CB8AC3E}">
        <p14:creationId xmlns:p14="http://schemas.microsoft.com/office/powerpoint/2010/main" val="2027056157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e71ba301fa34e94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88b8eca4ba1473d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20">
            <a:extLst xmlns:a="http://schemas.openxmlformats.org/drawingml/2006/main">
              <a:ext uri="{FF2B5EF4-FFF2-40B4-BE49-F238E27FC236}">
                <a16:creationId xmlns:a16="http://schemas.microsoft.com/office/drawing/2014/main" id="{10FD71E1-42FC-4C0D-8F9C-379D11F8D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Die sechs Bausteine der MyHiwi-Promptvorlage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D6556EA-FCCB-4722-973D-BE1D6E58E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Ein prüfbarer Prompt verbindet Aufgabe, Kontext, Material, Anforderungen, Format und Prüfkriterien.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CB2CD96-D139-4057-B547-BF3C199198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4572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36C66FF-4709-4DCF-A410-89929D6C61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80035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4FC9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3BE11FA-B217-4573-BA57-B4E139855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00990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Aufgabe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1417005-D0A1-4D06-8FD8-B03A2404AE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24150"/>
            <a:ext cx="4572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B43F411-9CCE-4371-8211-89216906EF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280035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4FC9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1583E6F-39BD-408B-B22A-86C85C51EE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300990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Kontext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E59D5A1-6008-4DA8-848E-01A1E5913A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24150"/>
            <a:ext cx="4572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FB65C00-0AE5-4E5C-A37A-B7910841E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80035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4FC9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3015FE-AD50-4702-95C6-41A663172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00990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Material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5B8D72A-2912-428A-BEF2-F4BD2390ED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76700"/>
            <a:ext cx="4572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F35DE3B-1F1E-40FA-983F-51B4A2ABF3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15290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4FC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956D2F2D-968D-4F8A-B0EA-447CB72020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6245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Anforderungen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2297638-7B9E-4FCA-BB11-8966CAD9E3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4076700"/>
            <a:ext cx="4572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F6B8E87-73F4-45F5-8BAD-882A4E85CE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15290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4FC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735E43E-562B-4F52-A6A8-AD6DABFAB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436245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Ausgabeformat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2B5B6BEB-AA5F-4005-92A6-64993FC37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4076700"/>
            <a:ext cx="4572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8DFA515-B623-4A0E-AE4D-52D309CF4A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152900"/>
            <a:ext cx="28575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28575">
            <a:solidFill>
              <a:srgbClr val="1F4FC9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90AE9EE-FD56-43D9-9BCB-2AE859C2A3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4362450"/>
            <a:ext cx="2857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Prüfkriterien</a:t>
            </a:r>
          </a:p>
        </p:txBody>
      </p:sp>
    </p:spTree>
    <p:extLst>
      <p:ext uri="{BB962C8B-B14F-4D97-AF65-F5344CB8AC3E}">
        <p14:creationId xmlns:p14="http://schemas.microsoft.com/office/powerpoint/2010/main" val="966678273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5b825814fb745bb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48a5eca360c40e2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21">
            <a:extLst xmlns:a="http://schemas.openxmlformats.org/drawingml/2006/main">
              <a:ext uri="{FF2B5EF4-FFF2-40B4-BE49-F238E27FC236}">
                <a16:creationId xmlns:a16="http://schemas.microsoft.com/office/drawing/2014/main" id="{3DD29FE8-5E27-462A-8692-22FAE0EA73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Basisübung: schlechten Prompt verbessern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29FFCD-ACF6-4B3B-9BAB-B8C0D7ED29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14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3FB81F0-F2D1-453F-B778-4B25B49BCA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ANWENDEN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667C101-B8C2-4182-B028-3F650C2E32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838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Fehlende Angaben werden sichtbar gemacht und gezielt ergänzt.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D2A3845-B2AE-40E8-AFBA-56FC9E20A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14750"/>
            <a:ext cx="93345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Verbessern Sie: „Schreib eine Antwort an den Kunden.“ Nutzen Sie alle sechs Bausteine.</a:t>
            </a:r>
          </a:p>
        </p:txBody>
      </p:sp>
    </p:spTree>
    <p:extLst>
      <p:ext uri="{BB962C8B-B14F-4D97-AF65-F5344CB8AC3E}">
        <p14:creationId xmlns:p14="http://schemas.microsoft.com/office/powerpoint/2010/main" val="109486171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c632cdbdeb3450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c59082dbf34ac7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22">
            <a:extLst xmlns:a="http://schemas.openxmlformats.org/drawingml/2006/main">
              <a:ext uri="{FF2B5EF4-FFF2-40B4-BE49-F238E27FC236}">
                <a16:creationId xmlns:a16="http://schemas.microsoft.com/office/drawing/2014/main" id="{4970FAC2-E5AE-45D6-9DFF-74302786DE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Ausgabe kritisieren und gezielt überarbeiten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34EF5BA-7204-43DC-98BA-4DF1C21C3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14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F82F02E-63FB-4DE7-9056-7912B5D38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ANWENDEN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2E70740-755F-4025-9C97-C36DA3C397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838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Eine KI-Kritik ist ein zusätzlicher Hinweis, nicht die Freigabe.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95C04843-D994-4E7C-923B-0A15890A58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14750"/>
            <a:ext cx="93345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Entwurf erzeugen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selbst prüfen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Kritik anfordern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gezielt überarbeiten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erneut prüfen</a:t>
            </a:r>
          </a:p>
        </p:txBody>
      </p:sp>
    </p:spTree>
    <p:extLst>
      <p:ext uri="{BB962C8B-B14F-4D97-AF65-F5344CB8AC3E}">
        <p14:creationId xmlns:p14="http://schemas.microsoft.com/office/powerpoint/2010/main" val="2568297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1F4FC9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2C0E403-3ECF-4621-8DC5-51AACD759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40005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MYHIWI · AI-STARTKLAR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7321582-66D9-4818-938D-689DD39D9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90700"/>
            <a:ext cx="7048500" cy="1162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585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defRPr>
            </a:pPr>
            <a:r>
              <a:rPr sz="5850" b="1">
                <a:solidFill>
                  <a:srgbClr val="FFFFFF"/>
                </a:solidFill>
                <a:latin typeface="Arial Narrow"/>
                <a:ea typeface="Arial Narrow"/>
                <a:cs typeface="Arial Narrow"/>
              </a:rPr>
              <a:t>Pause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230417C-C1C2-4526-BDB6-0835954830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352800"/>
            <a:ext cx="85725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6F2EA"/>
                </a:solidFill>
                <a:latin typeface="Arial"/>
                <a:ea typeface="Arial"/>
                <a:cs typeface="Arial"/>
              </a:rPr>
              <a:t>Danach: Daten einordnen, verantwortlich handeln, praktisch anwenden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6C60691-CD71-4668-906E-E104785DAD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5124450"/>
            <a:ext cx="4953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FFFFF"/>
                </a:solidFill>
                <a:latin typeface="Arial"/>
                <a:ea typeface="Arial"/>
                <a:cs typeface="Arial"/>
              </a:rPr>
              <a:t>Wiedereinstieg: ____ Uhr</a:t>
            </a:r>
          </a:p>
        </p:txBody>
      </p:sp>
      <p:sp>
        <p:nvSpPr>
          <p:cNvPr id="5" name="footer-rule-23">
            <a:extLst xmlns:a="http://schemas.openxmlformats.org/drawingml/2006/main">
              <a:ext uri="{FF2B5EF4-FFF2-40B4-BE49-F238E27FC236}">
                <a16:creationId xmlns:a16="http://schemas.microsoft.com/office/drawing/2014/main" id="{FCBBF5AF-75D2-4233-8D6B-D18A8D830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3246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71808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AE60551-C944-4884-9457-E4B21A1B2B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198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D9DDD5"/>
                </a:solidFill>
                <a:latin typeface="Arial"/>
                <a:ea typeface="Arial"/>
                <a:cs typeface="Arial"/>
              </a:rPr>
              <a:t>MyHiwi AI-Startklar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E6337EB-300A-41BC-9073-081B3FA865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67250" y="64198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v1.0 · Stand 22.07.2026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07AEAF7-7C5D-401F-AB26-3141AAEC2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0" y="6400800"/>
            <a:ext cx="9144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1650" b="1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D9DDD5"/>
                </a:solidFill>
                <a:latin typeface="Arial"/>
                <a:ea typeface="Arial"/>
                <a:cs typeface="Arial"/>
              </a:rPr>
              <a:t>23</a:t>
            </a:r>
          </a:p>
        </p:txBody>
      </p:sp>
    </p:spTree>
    <p:extLst>
      <p:ext uri="{BB962C8B-B14F-4D97-AF65-F5344CB8AC3E}">
        <p14:creationId xmlns:p14="http://schemas.microsoft.com/office/powerpoint/2010/main" val="1693350952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1F2A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e166425cb274e65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c90a57095454b0f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24">
            <a:extLst xmlns:a="http://schemas.openxmlformats.org/drawingml/2006/main">
              <a:ext uri="{FF2B5EF4-FFF2-40B4-BE49-F238E27FC236}">
                <a16:creationId xmlns:a16="http://schemas.microsoft.com/office/drawing/2014/main" id="{AFA47DF7-8564-400E-8A3E-637A92C2BB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Verantwortung bleibt beim Menschen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B200060-3A5B-422C-ABB1-02602353FC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Menschen prüfen, entscheiden und geben frei.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A357701-BF70-4E73-A3E5-A1BAADE71F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KI unterstützt</a:t>
            </a:r>
          </a:p>
          <a:p xmlns:a="http://schemas.openxmlformats.org/drawingml/2006/main">
            <a:pPr algn="l"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Menschen prüfen</a:t>
            </a:r>
          </a:p>
          <a:p xmlns:a="http://schemas.openxmlformats.org/drawingml/2006/main">
            <a:pPr algn="l"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Verantwortliche entscheiden und geben frei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0FA400-84E3-422A-B973-DC4852AEF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315A6A4-9ACB-4352-948C-DE51A092A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KI unterstützt – Menschen prüfen, entscheiden und geben frei.</a:t>
            </a:r>
          </a:p>
        </p:txBody>
      </p:sp>
    </p:spTree>
    <p:extLst>
      <p:ext uri="{BB962C8B-B14F-4D97-AF65-F5344CB8AC3E}">
        <p14:creationId xmlns:p14="http://schemas.microsoft.com/office/powerpoint/2010/main" val="306949675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1F2A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938ce4638d4583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838229e3ea4ca1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25">
            <a:extLst xmlns:a="http://schemas.openxmlformats.org/drawingml/2006/main">
              <a:ext uri="{FF2B5EF4-FFF2-40B4-BE49-F238E27FC236}">
                <a16:creationId xmlns:a16="http://schemas.microsoft.com/office/drawing/2014/main" id="{D24EDE47-7291-4868-B604-CEEA976403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Nur freigegebene Werkzeuge und Konten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4207DE8-0F22-4BDB-ACC3-220055513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Ein privater oder kostenloser Zugang ist nicht automatisch für Unternehmensdaten geeignet.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ABB2AEE-33EC-408D-814D-F1B2DE5CF1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Vor Nutzung klären: Werkzeug</a:t>
            </a:r>
          </a:p>
          <a:p xmlns:a="http://schemas.openxmlformats.org/drawingml/2006/main">
            <a:pPr algn="l"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Unternehmenskonto</a:t>
            </a:r>
          </a:p>
          <a:p xmlns:a="http://schemas.openxmlformats.org/drawingml/2006/main">
            <a:pPr algn="l"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Zweck</a:t>
            </a:r>
          </a:p>
          <a:p xmlns:a="http://schemas.openxmlformats.org/drawingml/2006/main">
            <a:pPr algn="l"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Einstellungen</a:t>
            </a:r>
          </a:p>
          <a:p xmlns:a="http://schemas.openxmlformats.org/drawingml/2006/main">
            <a:pPr algn="l"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interne Freigabe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29A16E8-81A1-491E-94E4-E78BC8AD4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0FCCBCB-C3B8-47E9-AC01-8A3DBD8334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Betriebliche Freigabe von persönlichem Zugang trennen.</a:t>
            </a:r>
          </a:p>
        </p:txBody>
      </p:sp>
    </p:spTree>
    <p:extLst>
      <p:ext uri="{BB962C8B-B14F-4D97-AF65-F5344CB8AC3E}">
        <p14:creationId xmlns:p14="http://schemas.microsoft.com/office/powerpoint/2010/main" val="1049266341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aa9550e4c7cd418c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6e1f7d398334723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26">
            <a:extLst xmlns:a="http://schemas.openxmlformats.org/drawingml/2006/main">
              <a:ext uri="{FF2B5EF4-FFF2-40B4-BE49-F238E27FC236}">
                <a16:creationId xmlns:a16="http://schemas.microsoft.com/office/drawing/2014/main" id="{56F0146B-CF10-4903-AF9E-FC0903B94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Die Datenampel im Überblick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4677AAA-382F-43D0-89A5-F0C6334B0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Grün nutzen, Gelb vorher klären, Rot im Basistraining niemals eingeben.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56BB324-3A58-46A2-8B21-520C15532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81300"/>
            <a:ext cx="3333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CE8DA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GRÜN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3D01985-6661-4AC8-80D0-4D16FBE59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4290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nutzen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A381878-5E36-49D7-B285-763FAAC5D2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67200"/>
            <a:ext cx="2990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im freigegebenen Werkzeug grundsätzlich nutzbar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105BDB3-63D2-494C-9827-74D670F339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2781300"/>
            <a:ext cx="3333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FE4BF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GELB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949BAA9-B5D9-45CD-9590-AE1A7E137E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34290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stoppen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D8B05AA-2365-4036-AFBB-03F38F915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267200"/>
            <a:ext cx="2990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vorher intern prüfen und freigeben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523F940-A3C6-4CFB-A0E9-72EFF9127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2781300"/>
            <a:ext cx="333375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9D1D1"/>
          </a:solidFill>
          <a:ln xmlns:a="http://schemas.openxmlformats.org/drawingml/2006/main" w="9525">
            <a:solidFill>
              <a:srgbClr val="B8B0A2"/>
            </a:solidFill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ROT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BFE61FE-2EFB-4CF6-A267-9CA6B7DDA0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77200" y="3429000"/>
            <a:ext cx="33337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nicht eingeben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A5CC054-48A5-4F88-808B-3186E1003B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4267200"/>
            <a:ext cx="299085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t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im Basistraining niemals eingeben</a:t>
            </a:r>
          </a:p>
        </p:txBody>
      </p:sp>
    </p:spTree>
    <p:extLst>
      <p:ext uri="{BB962C8B-B14F-4D97-AF65-F5344CB8AC3E}">
        <p14:creationId xmlns:p14="http://schemas.microsoft.com/office/powerpoint/2010/main" val="1683011983"/>
      </p:ext>
    </p:extLst>
  </p:cSld>
</p:sld>
</file>

<file path=ppt/slides/slide27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017de1eb1b14cab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caea500182d441c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27">
            <a:extLst xmlns:a="http://schemas.openxmlformats.org/drawingml/2006/main">
              <a:ext uri="{FF2B5EF4-FFF2-40B4-BE49-F238E27FC236}">
                <a16:creationId xmlns:a16="http://schemas.microsoft.com/office/drawing/2014/main" id="{1AD82B43-F259-4398-88A2-0FC0B138FB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Grün: geeignete Beispieldaten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FD7266-A056-4E90-B54C-9280EAE71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Synthetische, veröffentlichte, ausdrücklich freigegebene oder robust anonymisierte Inhalte können grün sein.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6FB351C-FEC3-4DF9-9795-196C10049D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2A032D3-BBB0-4CA4-9978-684A52A368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F38C548-3078-416C-B3C7-F4CA4B859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Grün: synthetisch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9675EB3-7521-4AA2-9707-866B4CB2F2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978B39-A714-4F3F-9B41-43EBF1A43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08610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4D358DB-39E1-4D23-BCF1-B757D3E6A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20040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rechtmäßig veröffentlicht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34C4C5AA-66F5-4794-8F15-FB72864FA3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751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1701944-6D38-4B66-9B32-69DB93C45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33705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5B477F1-4879-482F-8B67-C932A6F1D1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45135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ausdrücklich freigegeben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B4059B1-2BEA-4E82-B02F-34103E1A2A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397510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939B3978-E78A-4808-887D-9C4ED10C0C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33705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910BA5F-AF08-4E22-B37D-EB96EB79EA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57925" y="445135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robust anonymisiert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17C22D0-841D-41D1-8D23-EA0173210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260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1061120-81B6-49EC-8C8A-DC9C20941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88000"/>
            <a:ext cx="5324475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B87051F-65F0-42BB-AEF5-1AF7D3890C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702300"/>
            <a:ext cx="5324475" cy="603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ohne Personen- oder Geheimnisbezug</a:t>
            </a:r>
          </a:p>
        </p:txBody>
      </p:sp>
    </p:spTree>
    <p:extLst>
      <p:ext uri="{BB962C8B-B14F-4D97-AF65-F5344CB8AC3E}">
        <p14:creationId xmlns:p14="http://schemas.microsoft.com/office/powerpoint/2010/main" val="1948464996"/>
      </p:ext>
    </p:extLst>
  </p:cSld>
</p:sld>
</file>

<file path=ppt/slides/slide28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12bef2422f2455f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ace96eecc94fb9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28">
            <a:extLst xmlns:a="http://schemas.openxmlformats.org/drawingml/2006/main">
              <a:ext uri="{FF2B5EF4-FFF2-40B4-BE49-F238E27FC236}">
                <a16:creationId xmlns:a16="http://schemas.microsoft.com/office/drawing/2014/main" id="{D64D4A09-DE62-48C1-A68B-D0457ED0BB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Gelb: erst intern prüfen und freigeben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BD77C36-E6CC-4107-A4E5-B50A194B39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Gelb bedeutet stoppen, Zuständigkeit und zulässige Umgebung klären.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8D4AA53-370E-4A3A-9F07-F35E863F2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24150"/>
            <a:ext cx="5143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A50554-7572-4105-AB90-8DAFDC8408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086100"/>
            <a:ext cx="109728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BB8138C-4BD2-4E9F-B8FE-5FF8C535E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00400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7620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1F2A2A"/>
                </a:solidFill>
                <a:latin typeface="Arial"/>
                <a:ea typeface="Arial"/>
                <a:cs typeface="Arial"/>
              </a:rPr>
              <a:t>Gelb: interne oder pseudonymisierte Inhalte, fremde Werke, unklare Vertraulichkeit → zuerst intern klären</a:t>
            </a:r>
          </a:p>
        </p:txBody>
      </p:sp>
    </p:spTree>
    <p:extLst>
      <p:ext uri="{BB962C8B-B14F-4D97-AF65-F5344CB8AC3E}">
        <p14:creationId xmlns:p14="http://schemas.microsoft.com/office/powerpoint/2010/main" val="1305604483"/>
      </p:ext>
    </p:extLst>
  </p:cSld>
</p:sld>
</file>

<file path=ppt/slides/slide29.xml><?xml version="1.0" encoding="utf-8"?>
<p:sld xmlns:p="http://schemas.openxmlformats.org/presentationml/2006/main">
  <p:cSld>
    <p:bg>
      <p:bgPr>
        <a:solidFill xmlns:a="http://schemas.openxmlformats.org/drawingml/2006/main">
          <a:srgbClr val="1F2A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eb8654aadb046a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05b7a6f8047499d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29">
            <a:extLst xmlns:a="http://schemas.openxmlformats.org/drawingml/2006/main">
              <a:ext uri="{FF2B5EF4-FFF2-40B4-BE49-F238E27FC236}">
                <a16:creationId xmlns:a16="http://schemas.microsoft.com/office/drawing/2014/main" id="{195F1587-CB57-4B33-9FB0-A647309DD0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Rot: im Basistraining niemals eingeben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DEB51A0-FE70-4B0A-8A04-B1FC55AE77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Sicherheitsdaten, Geheimnisse und sensible Personeninformationen bleiben aus Live-Übungen heraus.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353BFA6-6852-444F-AB97-ECAEA33788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Rot: Passwörter &amp; Schlüssel</a:t>
            </a:r>
          </a:p>
          <a:p xmlns:a="http://schemas.openxmlformats.org/drawingml/2006/main">
            <a:pPr algn="l"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Geschäftsgeheimnisse</a:t>
            </a:r>
          </a:p>
          <a:p xmlns:a="http://schemas.openxmlformats.org/drawingml/2006/main">
            <a:pPr algn="l"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nicht öffentliche Finanzdaten</a:t>
            </a:r>
          </a:p>
          <a:p xmlns:a="http://schemas.openxmlformats.org/drawingml/2006/main">
            <a:pPr algn="l"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Beschäftigten-, Kunden-, Patienten- &amp; Gesundheitsdaten</a:t>
            </a:r>
          </a:p>
          <a:p xmlns:a="http://schemas.openxmlformats.org/drawingml/2006/main">
            <a:pPr algn="l"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sicherheitskritische Informationen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6752B8A-1CD4-434A-8377-366C08916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9C32BCE-D795-4135-B3D3-D3CCC795B8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Harte Stoppsignale erkennen.</a:t>
            </a:r>
          </a:p>
        </p:txBody>
      </p:sp>
    </p:spTree>
    <p:extLst>
      <p:ext uri="{BB962C8B-B14F-4D97-AF65-F5344CB8AC3E}">
        <p14:creationId xmlns:p14="http://schemas.microsoft.com/office/powerpoint/2010/main" val="1983501830"/>
      </p:ext>
    </p:extLst>
  </p:cSld>
</p:sld>
</file>

<file path=ppt/slides/slide30.xml><?xml version="1.0" encoding="utf-8"?>
<p:sld xmlns:p="http://schemas.openxmlformats.org/presentationml/2006/main">
  <p:cSld>
    <p:bg>
      <p:bgPr>
        <a:solidFill xmlns:a="http://schemas.openxmlformats.org/drawingml/2006/main">
          <a:srgbClr val="1F2A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8adde17de5437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4e2753e0448041e6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0">
            <a:extLst xmlns:a="http://schemas.openxmlformats.org/drawingml/2006/main">
              <a:ext uri="{FF2B5EF4-FFF2-40B4-BE49-F238E27FC236}">
                <a16:creationId xmlns:a16="http://schemas.microsoft.com/office/drawing/2014/main" id="{D13F4D42-0680-4B47-A1EE-EE6E7D99A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Folgenreiche Anwendungsfälle früh stoppen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CCCFCAB-E60D-4CE4-A022-71C9420450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Entscheidungen über Menschen und sicherheitskritische Freigaben gehören nicht in die Basisübung.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22196FC-55D3-4275-94F4-45D6EE3134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Stoppen bei: Beschäftigtenbewertung</a:t>
            </a:r>
          </a:p>
          <a:p xmlns:a="http://schemas.openxmlformats.org/drawingml/2006/main">
            <a:pPr algn="l"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Gesundheit</a:t>
            </a:r>
          </a:p>
          <a:p xmlns:a="http://schemas.openxmlformats.org/drawingml/2006/main">
            <a:pPr algn="l"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Kredit &amp; Scoring</a:t>
            </a:r>
          </a:p>
          <a:p xmlns:a="http://schemas.openxmlformats.org/drawingml/2006/main">
            <a:pPr algn="l"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Zugang zu Leistungen</a:t>
            </a:r>
          </a:p>
          <a:p xmlns:a="http://schemas.openxmlformats.org/drawingml/2006/main">
            <a:pPr algn="l"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sicherheitskritischer Freigabe</a:t>
            </a:r>
          </a:p>
          <a:p xmlns:a="http://schemas.openxmlformats.org/drawingml/2006/main">
            <a:pPr algn="l">
              <a:defRPr sz="1650" b="0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D9DDD5"/>
                </a:solidFill>
                <a:latin typeface="Arial"/>
                <a:ea typeface="Arial"/>
                <a:cs typeface="Arial"/>
              </a:rPr>
              <a:t>erheblicher Personenwirkung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F1D2422-E249-4285-89EB-18F0C1BCC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2ADAA2-0F0C-45BC-B4D7-6B9DF258C4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Fälle mit erheblichen Auswirkungen früh stoppen.</a:t>
            </a:r>
          </a:p>
        </p:txBody>
      </p:sp>
    </p:spTree>
    <p:extLst>
      <p:ext uri="{BB962C8B-B14F-4D97-AF65-F5344CB8AC3E}">
        <p14:creationId xmlns:p14="http://schemas.microsoft.com/office/powerpoint/2010/main" val="1295096140"/>
      </p:ext>
    </p:extLst>
  </p:cSld>
</p:sld>
</file>

<file path=ppt/slides/slide31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630884bbe0421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c14eebbfef343d4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1">
            <a:extLst xmlns:a="http://schemas.openxmlformats.org/drawingml/2006/main">
              <a:ext uri="{FF2B5EF4-FFF2-40B4-BE49-F238E27FC236}">
                <a16:creationId xmlns:a16="http://schemas.microsoft.com/office/drawing/2014/main" id="{CAE2C65E-A401-48AC-8325-DA5EFE61E5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Menschliche Kontrolle und Freigabewege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9842E09-95A4-4A6A-930A-38CC2BF1D2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66900"/>
            <a:ext cx="9858375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Jede relevante Ausgabe braucht eine benannte prüfende und freigebende Rolle.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4C8FD46-C406-446F-8109-D3DE10FDB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000500"/>
            <a:ext cx="5010150" cy="1809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11430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Wer erstellt? Wer prüft fachlich? Wer gibt frei? Wohin wird Unsicherheit eskaliert?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5271EB3-5698-4316-A415-44FB3ACB4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429250" cy="1123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5F7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AE7BB7C-7501-4577-8617-AA26CEFEA8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48150"/>
            <a:ext cx="50482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Zuständigkeit vom Entwurf bis zur Verwendung festlegen.</a:t>
            </a:r>
          </a:p>
        </p:txBody>
      </p:sp>
    </p:spTree>
    <p:extLst>
      <p:ext uri="{BB962C8B-B14F-4D97-AF65-F5344CB8AC3E}">
        <p14:creationId xmlns:p14="http://schemas.microsoft.com/office/powerpoint/2010/main" val="65950185"/>
      </p:ext>
    </p:extLst>
  </p:cSld>
</p:sld>
</file>

<file path=ppt/slides/slide32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330bd87b2043ce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54ab9ff5093485b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2">
            <a:extLst xmlns:a="http://schemas.openxmlformats.org/drawingml/2006/main">
              <a:ext uri="{FF2B5EF4-FFF2-40B4-BE49-F238E27FC236}">
                <a16:creationId xmlns:a16="http://schemas.microsoft.com/office/drawing/2014/main" id="{E9DAEDDC-DDF6-4583-A7E5-2DB3095328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Fünf betriebliche Grundregeln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161F965-AB86-498D-A2E5-2A0FCA344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Werkzeugfreigabe, Datenampel, Prüfung, menschliche Verantwortung und Eskalation gehören zusammen.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719A9F7-5A94-4B1C-AAEF-D5F7607535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533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B6BDFFC-D912-4FBC-ACE1-7346649A9B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571750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Nur freigegebene Werkzeuge und Unternehmenskonten nutzen.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A921FC9-6DD5-4EB6-B9A4-3ACDC9732E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124200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9A53E11-4292-4042-8E13-2A95EBAE3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19450"/>
            <a:ext cx="533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FC44321-82D2-46CC-BCB2-B7B51B73FA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219450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Vor jeder Eingabe die Datenampel anwenden; rote Daten im Basisgebrauch nicht eingeben.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380C9E0-EF8D-4A7D-BA09-D1A1DA0372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771900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FA250E3-0731-4B83-B377-09106CD4E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67150"/>
            <a:ext cx="533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4CD5519-4262-4AC5-88A9-15F3CBAEBF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3867150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KI-Ausgaben vor Verwendung auf Fakten, Quellen, Rechte, Ton und Wirkung prüfen.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65D0128-142F-4ABA-A336-855070914C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419600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B5FDF8C-6817-4F8B-8DFB-388650FB15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14850"/>
            <a:ext cx="533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B74E1D8-99B2-4A44-A0C2-D048AF741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4514850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Verantwortung und folgenreiche Entscheidungen bleiben beim Menschen.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151C413-3F69-4083-8C65-990249A866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067300"/>
            <a:ext cx="9525000" cy="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9525">
            <a:solidFill>
              <a:srgbClr val="C9C3B7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EF6D74-DA15-4B56-AC29-62239C39B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62550"/>
            <a:ext cx="5334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191FDF-22D6-4AB0-9DB4-DD81781EFA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5162550"/>
            <a:ext cx="9525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Unsichere, sensible oder ungewöhnliche Fälle stoppen und intern eskalieren.</a:t>
            </a:r>
          </a:p>
        </p:txBody>
      </p:sp>
    </p:spTree>
    <p:extLst>
      <p:ext uri="{BB962C8B-B14F-4D97-AF65-F5344CB8AC3E}">
        <p14:creationId xmlns:p14="http://schemas.microsoft.com/office/powerpoint/2010/main" val="1391271223"/>
      </p:ext>
    </p:extLst>
  </p:cSld>
</p:sld>
</file>

<file path=ppt/slides/slide33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369322367cf4afa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cf4546477f543fb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3">
            <a:extLst xmlns:a="http://schemas.openxmlformats.org/drawingml/2006/main">
              <a:ext uri="{FF2B5EF4-FFF2-40B4-BE49-F238E27FC236}">
                <a16:creationId xmlns:a16="http://schemas.microsoft.com/office/drawing/2014/main" id="{6C4B1A82-3510-421A-8B9F-5A6B9FA669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Unternehmensbezogener Praxisfall und Ziel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7E996C7-6029-48E5-BD54-31AF71F5C1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14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9B2B1D6-761A-4B98-9F99-508D718507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ANWENDEN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FB7775C-D6EE-44E6-9158-2AF93DB30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838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Die Übung beginnt mit Ziel, Datenrahmen und gewünschtem Arbeitsergebnis.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376231-810B-45FA-AF2F-253E91577B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14750"/>
            <a:ext cx="93345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Praxisfall: [synthetischer Fall]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Ziel: [Arbeitsergebnis]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Freigabeweg: [Rolle]</a:t>
            </a:r>
          </a:p>
        </p:txBody>
      </p:sp>
    </p:spTree>
    <p:extLst>
      <p:ext uri="{BB962C8B-B14F-4D97-AF65-F5344CB8AC3E}">
        <p14:creationId xmlns:p14="http://schemas.microsoft.com/office/powerpoint/2010/main" val="1791967942"/>
      </p:ext>
    </p:extLst>
  </p:cSld>
</p:sld>
</file>

<file path=ppt/slides/slide34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ba2b08880cc42f4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10f2b0e24eb471f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4">
            <a:extLst xmlns:a="http://schemas.openxmlformats.org/drawingml/2006/main">
              <a:ext uri="{FF2B5EF4-FFF2-40B4-BE49-F238E27FC236}">
                <a16:creationId xmlns:a16="http://schemas.microsoft.com/office/drawing/2014/main" id="{DC1427EB-4E42-4806-B187-C679D0E0E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Schritt 1: Aufgabe und gewünschtes Ergebnis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A582843-7310-4E27-AABB-66181BB92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14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3CAC150-BA5E-4A15-9737-B06F80BD6A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ANWENDEN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F29E460-79E9-40B5-A1A5-7C8FF0FC19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838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Erst das benötigte Ergebnis klären, dann das Werkzeug beauftragen.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21CE98-27D4-4E31-AAFB-7D7B3CF87B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14750"/>
            <a:ext cx="93345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Was soll entstehen? Für wen? Wofür? Was wäre ein brauchbares Ergebnis?</a:t>
            </a:r>
          </a:p>
        </p:txBody>
      </p:sp>
    </p:spTree>
    <p:extLst>
      <p:ext uri="{BB962C8B-B14F-4D97-AF65-F5344CB8AC3E}">
        <p14:creationId xmlns:p14="http://schemas.microsoft.com/office/powerpoint/2010/main" val="1271943286"/>
      </p:ext>
    </p:extLst>
  </p:cSld>
</p:sld>
</file>

<file path=ppt/slides/slide35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c8bc7be7ab7c4510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3268c2a410f43c2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5">
            <a:extLst xmlns:a="http://schemas.openxmlformats.org/drawingml/2006/main">
              <a:ext uri="{FF2B5EF4-FFF2-40B4-BE49-F238E27FC236}">
                <a16:creationId xmlns:a16="http://schemas.microsoft.com/office/drawing/2014/main" id="{45968EA8-38DE-40D1-9345-D1CD9474B2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Schritt 2: Daten einordnen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BC527CD-06F8-42B4-9E85-2E6CF75596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14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4B2C936-B74A-4A32-A056-40C5FF447A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ANWENDEN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91F296D-E9A5-4990-A906-7CAE45D9E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838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Nur freigegebenes grünes oder synthetisch ersetztes Material wird verwendet.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F4456F7-A83A-4223-A1B7-D2A4EB22A0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14750"/>
            <a:ext cx="93345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Material prüfen: Grün nutzen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Gelb ersetzen und intern klären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Rot stoppen</a:t>
            </a:r>
          </a:p>
        </p:txBody>
      </p:sp>
    </p:spTree>
    <p:extLst>
      <p:ext uri="{BB962C8B-B14F-4D97-AF65-F5344CB8AC3E}">
        <p14:creationId xmlns:p14="http://schemas.microsoft.com/office/powerpoint/2010/main" val="1926606362"/>
      </p:ext>
    </p:extLst>
  </p:cSld>
</p:sld>
</file>

<file path=ppt/slides/slide36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5301947fa2646c9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0b32fe42a9e4e70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6">
            <a:extLst xmlns:a="http://schemas.openxmlformats.org/drawingml/2006/main">
              <a:ext uri="{FF2B5EF4-FFF2-40B4-BE49-F238E27FC236}">
                <a16:creationId xmlns:a16="http://schemas.microsoft.com/office/drawing/2014/main" id="{B3452180-90A7-4784-9EC3-CD533B0593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Schritt 3: Prompt formulieren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6B57A64-D124-4F6D-B646-F9641A9A97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14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C975733-E30C-49B5-8CBA-BF7AB7C853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ANWENDEN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D976175-C2CA-401B-8E93-7870DD935E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838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Materialgrenze und Prüfkriterien gehören ausdrücklich in den Prompt.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CFD1238-7F0B-462D-8F40-2B18E38DDE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14750"/>
            <a:ext cx="93345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Aufgabe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Kontext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freigegebenes Material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Anforderungen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Ausgabeformat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Prüfkriterien</a:t>
            </a:r>
          </a:p>
        </p:txBody>
      </p:sp>
    </p:spTree>
    <p:extLst>
      <p:ext uri="{BB962C8B-B14F-4D97-AF65-F5344CB8AC3E}">
        <p14:creationId xmlns:p14="http://schemas.microsoft.com/office/powerpoint/2010/main" val="1471859104"/>
      </p:ext>
    </p:extLst>
  </p:cSld>
</p:sld>
</file>

<file path=ppt/slides/slide37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a36a8b70e534448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ee9de6e3ff2483b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7">
            <a:extLst xmlns:a="http://schemas.openxmlformats.org/drawingml/2006/main">
              <a:ext uri="{FF2B5EF4-FFF2-40B4-BE49-F238E27FC236}">
                <a16:creationId xmlns:a16="http://schemas.microsoft.com/office/drawing/2014/main" id="{E5F00797-7F8E-4620-8A3C-2398AABA90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Schritt 4: Beispielausgabe analysieren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61B1B62-2BCD-43C3-B13E-EACD53EF0F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14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3C1EC66-121F-4F80-918B-23E71BCC8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ANWENDEN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4D07D7B-8B72-466F-A0EF-41EF7BB3C21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838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Zuerst Beobachtungen und Risiken markieren, dann überarbeiten.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FBA7E1A-F61A-4DC5-A422-BF54B9D675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14750"/>
            <a:ext cx="93345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Markieren: brauchbar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unklar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unbelegt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falsch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unpassend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fehlend</a:t>
            </a:r>
          </a:p>
        </p:txBody>
      </p:sp>
    </p:spTree>
    <p:extLst>
      <p:ext uri="{BB962C8B-B14F-4D97-AF65-F5344CB8AC3E}">
        <p14:creationId xmlns:p14="http://schemas.microsoft.com/office/powerpoint/2010/main" val="258262698"/>
      </p:ext>
    </p:extLst>
  </p:cSld>
</p:sld>
</file>

<file path=ppt/slides/slide38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a8dd95f06364f7b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5a19da756af4466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8">
            <a:extLst xmlns:a="http://schemas.openxmlformats.org/drawingml/2006/main">
              <a:ext uri="{FF2B5EF4-FFF2-40B4-BE49-F238E27FC236}">
                <a16:creationId xmlns:a16="http://schemas.microsoft.com/office/drawing/2014/main" id="{37E1D3A2-173A-4894-B2A7-10EBDC14C6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Siebenstufige Prüfroutine und Verbesserung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EE96923-9E5A-44DA-870E-46CB2877DA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38300"/>
            <a:ext cx="9715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5A5E55"/>
                </a:solidFill>
                <a:latin typeface="Arial"/>
                <a:ea typeface="Arial"/>
                <a:cs typeface="Arial"/>
              </a:rPr>
              <a:t>Fakten, Quellen, Vollständigkeit, Verzerrung, Rechte und Daten, Ton und Wirkung sowie Verantwortung werden einzeln geprüft.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6843A89-400C-40E1-B655-CBA0CF5F0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" y="2714625"/>
            <a:ext cx="0" cy="2914650"/>
          </a:xfrm>
          <a:prstGeom xmlns:a="http://schemas.openxmlformats.org/drawingml/2006/main" prst="line">
            <a:avLst/>
          </a:prstGeom>
          <a:noFill xmlns:a="http://schemas.openxmlformats.org/drawingml/2006/main"/>
          <a:ln xmlns:a="http://schemas.openxmlformats.org/drawingml/2006/main" w="38100">
            <a:solidFill>
              <a:srgbClr val="1F4FC9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E97FB8-FCDF-48EC-B1B1-DF6FAD9655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5717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1D283F8-58AA-4740-B30C-934CE5548D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260985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Fakten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2B19CF2-E9E2-46BE-8FF1-7F13ED8F1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9222EBD-1AF6-405E-9192-C66196EDDA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337185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Quellen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715A479-CE3C-435D-87D0-7A3147D875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957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B2BD851-1D39-425F-9BC5-CED623E98E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13385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Vollständigkeit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EB74C92-65E6-40A9-916A-F0C7BB1A5C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577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5890A93-E18F-465E-A467-40919BBFFA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89585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Verzerrung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8ED1E0A-7888-4BB5-9BC6-ECA8A209DE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25717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DB4596D-A6EF-4437-B709-48AB2258F2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60985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Rechte &amp; Daten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E075983-3314-495A-B9F9-ACF0D0298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33337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B211991-434C-4BD1-B91C-DFE23F0DC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37185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Ton &amp; Wirkung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0A71B8-41D7-44B1-B03F-B2CD2D05CF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24600" y="4095750"/>
            <a:ext cx="514350" cy="51435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7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D61FCE8F-3ABB-4637-9568-DD3E41759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4133850"/>
            <a:ext cx="4095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1F2A2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F2A2A"/>
                </a:solidFill>
                <a:latin typeface="Arial"/>
                <a:ea typeface="Arial"/>
                <a:cs typeface="Arial"/>
              </a:rPr>
              <a:t>Verantwortung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CACB3BF-3CCE-40F1-8D4D-8203409E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19800" y="5067300"/>
            <a:ext cx="5257800" cy="552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DE5F7"/>
          </a:solidFill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57150" tIns="38100" rIns="57150" bIns="3810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verwenden · verbessern · verwerfen · eskalieren</a:t>
            </a:r>
          </a:p>
        </p:txBody>
      </p:sp>
    </p:spTree>
    <p:extLst>
      <p:ext uri="{BB962C8B-B14F-4D97-AF65-F5344CB8AC3E}">
        <p14:creationId xmlns:p14="http://schemas.microsoft.com/office/powerpoint/2010/main" val="1084965165"/>
      </p:ext>
    </p:extLst>
  </p:cSld>
</p:sld>
</file>

<file path=ppt/slides/slide39.xml><?xml version="1.0" encoding="utf-8"?>
<p:sld xmlns:p="http://schemas.openxmlformats.org/presentationml/2006/main">
  <p:cSld>
    <p:bg>
      <p:bgPr>
        <a:solidFill xmlns:a="http://schemas.openxmlformats.org/drawingml/2006/main">
          <a:srgbClr val="F6F2E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ceab68d2ac84232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f178eba76fe47cf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39">
            <a:extLst xmlns:a="http://schemas.openxmlformats.org/drawingml/2006/main">
              <a:ext uri="{FF2B5EF4-FFF2-40B4-BE49-F238E27FC236}">
                <a16:creationId xmlns:a16="http://schemas.microsoft.com/office/drawing/2014/main" id="{F3D10BF0-8E7B-4FC7-803F-9ED7CA37E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Zehnteiliger Lern- und Transfercheck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8DA4E6F-BE65-421F-B36C-0A3BB3087C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171450" cy="4000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FC9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19CCD8F-FF81-4A35-9D2B-B7968B860B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1866900"/>
            <a:ext cx="2381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1F4FC9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1F4FC9"/>
                </a:solidFill>
                <a:latin typeface="Arial"/>
                <a:ea typeface="Arial"/>
                <a:cs typeface="Arial"/>
              </a:rPr>
              <a:t>ANWENDEN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23A5B6B-B04C-49AA-A300-B1CFA8F3F7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2343150"/>
            <a:ext cx="838200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1F2A2A"/>
                </a:solidFill>
                <a:latin typeface="Arial Narrow"/>
                <a:ea typeface="Arial Narrow"/>
                <a:cs typeface="Arial Narrow"/>
              </a:rPr>
              <a:t>Der Check unterstützt Lernen und Transfer, nicht die Bewertung einzelner Beschäftigter.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201BF4-DB9E-4018-98D8-31FC40B22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66800" y="3714750"/>
            <a:ext cx="9334500" cy="2143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Zehn Fragen: Funktionsweise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Prompt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Risiken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Datenampel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Verantwortung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Prüfung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Eskalation</a:t>
            </a:r>
          </a:p>
          <a:p xmlns:a="http://schemas.openxmlformats.org/drawingml/2006/main">
            <a:pPr algn="l">
              <a:defRPr sz="1650" b="0">
                <a:solidFill>
                  <a:srgbClr val="5A5E55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5A5E55"/>
                </a:solidFill>
                <a:latin typeface="Arial"/>
                <a:ea typeface="Arial"/>
                <a:cs typeface="Arial"/>
              </a:rPr>
              <a:t>Toolzugang</a:t>
            </a:r>
          </a:p>
        </p:txBody>
      </p:sp>
    </p:spTree>
    <p:extLst>
      <p:ext uri="{BB962C8B-B14F-4D97-AF65-F5344CB8AC3E}">
        <p14:creationId xmlns:p14="http://schemas.microsoft.com/office/powerpoint/2010/main" val="1053409754"/>
      </p:ext>
    </p:extLst>
  </p:cSld>
</p:sld>
</file>

<file path=ppt/slides/slide40.xml><?xml version="1.0" encoding="utf-8"?>
<p:sld xmlns:p="http://schemas.openxmlformats.org/presentationml/2006/main">
  <p:cSld>
    <p:bg>
      <p:bgPr>
        <a:solidFill xmlns:a="http://schemas.openxmlformats.org/drawingml/2006/main">
          <a:srgbClr val="1F2A2A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1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c2181b541b43db"/>
          <a:stretch xmlns:a="http://schemas.openxmlformats.org/drawingml/2006/main"/>
        </p:blipFill>
        <p:spPr>
          <a:xfrm xmlns:a="http://schemas.openxmlformats.org/drawingml/2006/main">
            <a:off x="0" y="0"/>
            <a:ext cx="12192000" cy="1524000"/>
          </a:xfrm>
          <a:prstGeom xmlns:a="http://schemas.openxmlformats.org/drawingml/2006/main" prst="rect">
            <a:avLst/>
          </a:prstGeom>
        </p:spPr>
      </p:pic>
      <p:pic>
        <p:nvPicPr>
          <p:cNvPr id="18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fb59ececdc84880"/>
          <a:stretch xmlns:a="http://schemas.openxmlformats.org/drawingml/2006/main"/>
        </p:blipFill>
        <p:spPr>
          <a:xfrm xmlns:a="http://schemas.openxmlformats.org/drawingml/2006/main">
            <a:off x="0" y="6324600"/>
            <a:ext cx="12192000" cy="533400"/>
          </a:xfrm>
          <a:prstGeom xmlns:a="http://schemas.openxmlformats.org/drawingml/2006/main" prst="rect">
            <a:avLst/>
          </a:prstGeom>
        </p:spPr>
      </p:pic>
      <p:sp>
        <p:nvSpPr>
          <p:cNvPr id="3" name="title-40">
            <a:extLst xmlns:a="http://schemas.openxmlformats.org/drawingml/2006/main">
              <a:ext uri="{FF2B5EF4-FFF2-40B4-BE49-F238E27FC236}">
                <a16:creationId xmlns:a16="http://schemas.microsoft.com/office/drawing/2014/main" id="{2C0BC96C-C864-46B4-8D39-68BAA6AF21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28650"/>
            <a:ext cx="109728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6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Ansprechpartner und nächste Schritte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53DFEB2-1DB0-4E28-8B0F-FC0360C684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09750"/>
            <a:ext cx="97155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defRPr>
            </a:pPr>
            <a:r>
              <a:rPr sz="3300" b="1">
                <a:solidFill>
                  <a:srgbClr val="F6F2EA"/>
                </a:solidFill>
                <a:latin typeface="Arial Narrow"/>
                <a:ea typeface="Arial Narrow"/>
                <a:cs typeface="Arial Narrow"/>
              </a:rPr>
              <a:t>Der nächste Schritt ist klein, freigegeben und prüfbar.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F55DB3-0C20-454E-B9A9-D919CB1567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333750"/>
            <a:ext cx="5257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9DDD5"/>
                </a:solidFill>
                <a:latin typeface="Arial"/>
                <a:ea typeface="Arial"/>
                <a:cs typeface="Arial"/>
              </a:rPr>
              <a:t>Nächster sicherer Anwendungsfall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7D255E9-823C-479F-BEFE-EE3F6152E0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752850"/>
            <a:ext cx="5257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6F2EA"/>
                </a:solidFill>
                <a:latin typeface="Arial"/>
                <a:ea typeface="Arial"/>
                <a:cs typeface="Arial"/>
              </a:rPr>
              <a:t>______________________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88F8794-585B-4F04-BB93-923F344F40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333750"/>
            <a:ext cx="5257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9DDD5"/>
                </a:solidFill>
                <a:latin typeface="Arial"/>
                <a:ea typeface="Arial"/>
                <a:cs typeface="Arial"/>
              </a:rPr>
              <a:t>Fachliche Prüfung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71CB3C5-7388-4824-B2A0-EBE3453F41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3752850"/>
            <a:ext cx="5257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6F2EA"/>
                </a:solidFill>
                <a:latin typeface="Arial"/>
                <a:ea typeface="Arial"/>
                <a:cs typeface="Arial"/>
              </a:rPr>
              <a:t>______________________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3847063-F008-4C1E-90AD-43A6DF763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14800"/>
            <a:ext cx="5257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9DDD5"/>
                </a:solidFill>
                <a:latin typeface="Arial"/>
                <a:ea typeface="Arial"/>
                <a:cs typeface="Arial"/>
              </a:rPr>
              <a:t>Toolfreigabe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FB4D43A-777F-44C4-B647-5C2A75ADC5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5257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6F2EA"/>
                </a:solidFill>
                <a:latin typeface="Arial"/>
                <a:ea typeface="Arial"/>
                <a:cs typeface="Arial"/>
              </a:rPr>
              <a:t>______________________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9658533-44BD-41C4-8895-A4EF04CA06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114800"/>
            <a:ext cx="5257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9DDD5"/>
                </a:solidFill>
                <a:latin typeface="Arial"/>
                <a:ea typeface="Arial"/>
                <a:cs typeface="Arial"/>
              </a:rPr>
              <a:t>Datenschutz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7365E15-4727-4E2B-9E30-BF57ABE57C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533900"/>
            <a:ext cx="5257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6F2EA"/>
                </a:solidFill>
                <a:latin typeface="Arial"/>
                <a:ea typeface="Arial"/>
                <a:cs typeface="Arial"/>
              </a:rPr>
              <a:t>______________________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20D818C-BC81-4EB3-BB6E-A22D08E138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895850"/>
            <a:ext cx="5257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9DDD5"/>
                </a:solidFill>
                <a:latin typeface="Arial"/>
                <a:ea typeface="Arial"/>
                <a:cs typeface="Arial"/>
              </a:rPr>
              <a:t>Informationssicherheit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B63FA0-6784-41FF-B28E-0585743877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314950"/>
            <a:ext cx="5257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6F2EA"/>
                </a:solidFill>
                <a:latin typeface="Arial"/>
                <a:ea typeface="Arial"/>
                <a:cs typeface="Arial"/>
              </a:rPr>
              <a:t>______________________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B4B022B-EC90-4F0E-8B00-65BFF37379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4895850"/>
            <a:ext cx="5257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400" b="1">
                <a:solidFill>
                  <a:srgbClr val="D9DDD5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D9DDD5"/>
                </a:solidFill>
                <a:latin typeface="Arial"/>
                <a:ea typeface="Arial"/>
                <a:cs typeface="Arial"/>
              </a:rPr>
              <a:t>Eskalationsstelle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DEB762C-64A3-411E-A1DB-77F23D8223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38850" y="5314950"/>
            <a:ext cx="5257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0">
                <a:solidFill>
                  <a:srgbClr val="F6F2EA"/>
                </a:solidFill>
                <a:latin typeface="Arial"/>
                <a:ea typeface="Arial"/>
                <a:cs typeface="Arial"/>
              </a:defRPr>
            </a:pPr>
            <a:r>
              <a:rPr sz="1650" b="0">
                <a:solidFill>
                  <a:srgbClr val="F6F2EA"/>
                </a:solidFill>
                <a:latin typeface="Arial"/>
                <a:ea typeface="Arial"/>
                <a:cs typeface="Arial"/>
              </a:rPr>
              <a:t>______________________</a:t>
            </a:r>
          </a:p>
        </p:txBody>
      </p:sp>
    </p:spTree>
    <p:extLst>
      <p:ext uri="{BB962C8B-B14F-4D97-AF65-F5344CB8AC3E}">
        <p14:creationId xmlns:p14="http://schemas.microsoft.com/office/powerpoint/2010/main" val="570487223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MyHiwi</dc:creator>
  <lastModifiedBy>MyHiwi</lastModifiedBy>
  <dc:title>MyHiwi AI-Startklar – Trainerfolien – Version 1.0</dc:title>
  <dc:subject>KI-Grundlagenschulung für Unternehmen</dc:subject>
  <dc:description>Trainerfolien · Version 1.0 · Stand 22. Juli 2026</dc:description>
  <keywords>MyHiwi; AI-Startklar; KI-Schulung; Version 1.0; Stand 22. Juli 2026</keywords>
  <dcterms:created xsi:type="dcterms:W3CDTF">2026-07-22T00:00:00Z</dcterms:created>
  <dcterms:modified xsi:type="dcterms:W3CDTF">2026-07-22T00:00:00Z</dcterms:modified>
</coreProperties>
</file>